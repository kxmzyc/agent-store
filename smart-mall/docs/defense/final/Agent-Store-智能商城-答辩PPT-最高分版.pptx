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开场控制在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20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秒：本项目不是单纯做一个商城页面，而是把注册、商品、搜索、交易、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导购、部署和测试串成可演示闭环。今天重点讲三个问题：系统如何完成真实交易、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为什么不是普通聊天框、工程结果如何被验证。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en-US" altLang="ja-JP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鎻愮ず</a:t>
            </a:r>
          </a:p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先向老师交代叙事结构：先讲定位和架构，再讲五大模块，随后集中展示 </a:t>
            </a:r>
            <a:r>
              <a:rPr lang="en-US" altLang="ja-JP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、并发和工程化亮点，最后用真实截图、测试数字、局限和材料闭环收束。每一部分都对应评分项，而不是按技术名词罗列。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en-US" altLang="ja-JP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鎻愮ず</a:t>
            </a:r>
          </a:p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项目周期按企业实训 </a:t>
            </a:r>
            <a:r>
              <a:rPr lang="en-US" altLang="ja-JP"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个工作日设计，目标不是生产级双十一架构，而是完成软件工程全流程。五大核心模块必须能独立演示，四个容器服务必须能一键启动，</a:t>
            </a:r>
            <a:r>
              <a:rPr lang="en-US" altLang="ja-JP">
                <a:latin typeface="Microsoft YaHei" panose="020B0503020204020204" pitchFamily="34" charset="-122"/>
                <a:ea typeface="Microsoft YaHei" panose="020B0503020204020204" pitchFamily="34" charset="-122"/>
              </a:rPr>
              <a:t>MySQL 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是唯一业务数据源。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强调边界：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Vue3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只访问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Agent；Spring Boot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是用户、商品、订单等业务数据的唯一写入口；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独立使用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LangChain，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只通过受限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REST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接口读取或操作业务数据，仅直接维护自己的会话、偏好和知识库表。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技术选型遵循课程要求和项目规模：前端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Vue3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组合式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API，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后端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Spring Boot 3.3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加安全、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JWT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JPA，AI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服务使用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FastAPI、LangChain、SQLAlchemy，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部署使用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 Compose。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没有引入网关、注册中心、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MQ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或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Redis，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避免偏离主链路。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数据库按业务职责拆表，核心关系满足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NF。order_item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的商品名和价格是下单时刻的事实快照，用于保证历史订单不被后续商品改名改价影响，因此是有明确业务语义的合理非规范化。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conversation、preference、knowledge_chunk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归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服务边界。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快速扫过功能全景，不在这里逐项演示。主线是用户认证、商品搜索、购物车下单、订单状态和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助手；收藏、足迹、评价、优惠券、积分、售后和管理后台属于体验增强，说明系统不是只有课程最低要求。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这是第一个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亮点：用户在对话中表达偏好，系统提炼标签写入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user_preference；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新会话读取权重最高的标签注入提示词；首页推荐接口也消费同一偏好，形成从对话到推荐页面的闭环，而不是只在聊天窗口里说记住了。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采用轻量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MySQL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知识块，没有引入向量数据库。运行态共有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88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个知识块，包含商品、评价和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FAQ。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工具在需要时检索这些事实，补充商品评价和规则依据；这属于加分能力，但核心工具调用和记忆不依赖它。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用一条真实烟测讲清楚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Agent：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用户说想搭配户外跑步装备，系统先只追问缺失预算；拿到预算后检索真实商品和知识，生成不超过三件的购买方案；前端通过稳定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ChatUi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合同显示任务步骤、商品卡和操作按钮；真正加购前必须再次确认。最新版烟测覆盖同步接口、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SSE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流式事件、新会话隔离和确认加购。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这页一定诚实：我们建立了性能诊断能力，包括页面内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HUD、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动效开关和真实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Chrome CDP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脚本，但尚未形成完整真实设备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FPS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矩阵，因此不展示无法复现的性能数字。亮点是工程方法和可诊断性，不是编造一个漂亮指标。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并发安全是订单模块核心。扣库存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SQL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同时检查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stock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version，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并在同一条原子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UPDATE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中扣库存、增加销量和版本号；订单、订单项、购物车清理都在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@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Transactional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中。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100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个请求抢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80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件商品，结果是成功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80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、失败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，库存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、销量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80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、版本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80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左侧是登录态商品中心，右侧是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查询真实订单的界面。这里强调截图里的商品和订单都来自后端接口；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不接收前端随意传入的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userId，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而是先用用户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JWT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调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profile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校验身份，再用内部服务密钥访问受限订单接口。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en-US" altLang="ja-JP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鎻愮ず</a:t>
            </a:r>
          </a:p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购物车到订单中心体现交易闭环：数量调整、勾选结算、优惠计算、模拟支付、取消、发货、确认收货和再次购买都可操作。取消订单和售后审核涉及库存回补，当前实现使用原子更新并有集成测试覆盖。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管理端不是单独的静态页面，而是和同一业务后端联动：数据看板、商品管理、订单发货、售后审核、用户反馈和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Excel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导出都在一个工作台。普通用户访问管理员接口返回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403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今天重新执行的结果：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Maven 20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个测试全部通过，前端生产构建通过，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端到端烟测通过；并发结果和知识库统计来自运行态数据，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四个服务均在运行。前端构建仍提示大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chunk，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这一项放到局限页诚实说明。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部署时由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Compose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编排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MySQL、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后端、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Nginx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前端，容器通过服务名互相发现。关键密钥全部从环境变量注入。排障入口也明确：先看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 compose ps，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再看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backend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agent-service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日志，订单成功失败和工具调用都有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INFO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记录。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az-Cyrl-AZ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ず</a:t>
            </a:r>
          </a:p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高分答辩不回避局限：主链路和核心验收已经完成，但前端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chunk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仍需拆分，搜索当前主实现是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LIKE，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真实设备性能矩阵尚未补齐，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Git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分支和 </a:t>
            </a:r>
            <a:r>
              <a:rPr 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PR </a:t>
            </a:r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证据偏弱。说明这些边界能够体现我们知道教学简化和生产化差距在哪里。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en-US" altLang="ja-JP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鎻愮ず</a:t>
            </a:r>
          </a:p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没有虚构团队成员姓名，而是按工作包展示可核查交付。用户模块看安全测试，商品模块看接口和页面，订单模块看事务与并发，</a:t>
            </a:r>
            <a:r>
              <a:rPr lang="en-US" altLang="ja-JP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模块看工具和烟测，文档模块看完整材料。</a:t>
            </a:r>
            <a:r>
              <a:rPr lang="en-US" altLang="ja-JP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辅助开发有记录，但最终判断标准始终是源码审计、测试、日志和现场演示。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璁茶</a:t>
            </a:r>
            <a:r>
              <a:rPr lang="en-US" altLang="ja-JP">
                <a:latin typeface="Microsoft YaHei" panose="020B0503020204020204" pitchFamily="34" charset="-122"/>
                <a:ea typeface="Microsoft YaHei" panose="020B0503020204020204" pitchFamily="34" charset="-122"/>
              </a:rPr>
              <a:t>В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鎻愮ず</a:t>
            </a:r>
          </a:p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收尾一句：我们交付的不是一组孤立页面，而是一条可运行、可解释、可验证的智能商城闭环。建议现场演示顺序是登录、搜索商品、加购下单、</a:t>
            </a:r>
            <a:r>
              <a:rPr lang="en-US" altLang="ja-JP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查询订单、</a:t>
            </a:r>
            <a:r>
              <a:rPr lang="en-US" altLang="ja-JP"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生成购买方案并确认加购、后台查看订单和日志。随后进入提问。</a:t>
            </a:r>
            <a:endParaRPr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A461F3D-F280-42E6-B834-DFCE8B68BBC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609600" cy="609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2317C4-F66B-425F-89F5-2086E1849AC9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6E8221-0411-40DB-863D-6CA77F8D0923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A9B4D8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A9B4D8"/>
                </a:solidFill>
                <a:latin typeface="Consolas"/>
                <a:ea typeface="Consolas"/>
                <a:cs typeface="Consolas"/>
              </a:rPr>
              <a:t>SMART MALL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14970E-A12C-4E96-BD3B-E02359E8A109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8191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4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Agent Store </a:t>
            </a:r>
            <a:r>
              <a:rPr lang="zh-CN" altLang="en-US" sz="4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智能商城</a:t>
            </a:r>
            <a:endParaRPr sz="4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8BC503-7376-4C40-94D9-C0E35BF88139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704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DBE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0">
                <a:solidFill>
                  <a:srgbClr val="D7DBE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淘宝核心链路 </a:t>
            </a:r>
            <a:r>
              <a:rPr lang="en-US" altLang="zh-CN" b="0">
                <a:solidFill>
                  <a:srgbClr val="D7DBE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+ AI </a:t>
            </a:r>
            <a:r>
              <a:rPr lang="zh-CN" altLang="en-US" b="0">
                <a:solidFill>
                  <a:srgbClr val="D7DBE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导购助手：从真实交易到可执行智能体的微型闭环。</a:t>
            </a:r>
            <a:endParaRPr b="0">
              <a:solidFill>
                <a:srgbClr val="D7DBE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88CC624-FD2E-4708-86BB-21BED3DD78C2}"/>
              </a:ext>
            </a:extLst>
          </p:cNvPr>
          <p:cNvSpPr>
            <a:spLocks noGrp="1"/>
          </p:cNvSpPr>
          <p:nvPr/>
        </p:nvSpPr>
        <p:spPr>
          <a:xfrm>
            <a:off x="7734300" y="1504950"/>
            <a:ext cx="3371850" cy="3238500"/>
          </a:xfrm>
          <a:prstGeom prst="roundRect">
            <a:avLst>
              <a:gd name="adj" fmla="val 588"/>
            </a:avLst>
          </a:prstGeom>
          <a:solidFill>
            <a:srgbClr val="171A21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9C277A7-195F-4E2F-9569-7344CC40652D}"/>
              </a:ext>
            </a:extLst>
          </p:cNvPr>
          <p:cNvSpPr>
            <a:spLocks noGrp="1"/>
          </p:cNvSpPr>
          <p:nvPr/>
        </p:nvSpPr>
        <p:spPr>
          <a:xfrm>
            <a:off x="8058150" y="1885950"/>
            <a:ext cx="2724150" cy="1123950"/>
          </a:xfrm>
          <a:prstGeom prst="roundRect">
            <a:avLst>
              <a:gd name="adj" fmla="val 1695"/>
            </a:avLst>
          </a:prstGeom>
          <a:solidFill>
            <a:srgbClr val="F7F8FC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F03C40-923A-4B5E-AD32-DEDF36014B35}"/>
              </a:ext>
            </a:extLst>
          </p:cNvPr>
          <p:cNvSpPr>
            <a:spLocks noGrp="1"/>
          </p:cNvSpPr>
          <p:nvPr/>
        </p:nvSpPr>
        <p:spPr>
          <a:xfrm>
            <a:off x="8267700" y="2076450"/>
            <a:ext cx="2305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后端测试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1FC2E0-0E25-4231-AFE2-A3169618B851}"/>
              </a:ext>
            </a:extLst>
          </p:cNvPr>
          <p:cNvSpPr>
            <a:spLocks noGrp="1"/>
          </p:cNvSpPr>
          <p:nvPr/>
        </p:nvSpPr>
        <p:spPr>
          <a:xfrm>
            <a:off x="8267700" y="2343150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1D84C2-0316-428F-A19D-7C91C3212B4C}"/>
              </a:ext>
            </a:extLst>
          </p:cNvPr>
          <p:cNvSpPr>
            <a:spLocks noGrp="1"/>
          </p:cNvSpPr>
          <p:nvPr/>
        </p:nvSpPr>
        <p:spPr>
          <a:xfrm>
            <a:off x="8267700" y="2724150"/>
            <a:ext cx="2305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JUnit / 集成测试全通过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1850A73-747C-493C-ACD4-FE8F876AE3E9}"/>
              </a:ext>
            </a:extLst>
          </p:cNvPr>
          <p:cNvSpPr>
            <a:spLocks noGrp="1"/>
          </p:cNvSpPr>
          <p:nvPr/>
        </p:nvSpPr>
        <p:spPr>
          <a:xfrm>
            <a:off x="8058150" y="3219450"/>
            <a:ext cx="2724150" cy="1123950"/>
          </a:xfrm>
          <a:prstGeom prst="roundRect">
            <a:avLst>
              <a:gd name="adj" fmla="val 1695"/>
            </a:avLst>
          </a:prstGeom>
          <a:solidFill>
            <a:srgbClr val="F7F8F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524A47-4D82-4B73-A4C9-123F886A40B9}"/>
              </a:ext>
            </a:extLst>
          </p:cNvPr>
          <p:cNvSpPr>
            <a:spLocks noGrp="1"/>
          </p:cNvSpPr>
          <p:nvPr/>
        </p:nvSpPr>
        <p:spPr>
          <a:xfrm>
            <a:off x="8267700" y="3409950"/>
            <a:ext cx="2305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知识库块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CCC6F9-C700-4CBE-83D3-4BD0A53CB49C}"/>
              </a:ext>
            </a:extLst>
          </p:cNvPr>
          <p:cNvSpPr>
            <a:spLocks noGrp="1"/>
          </p:cNvSpPr>
          <p:nvPr/>
        </p:nvSpPr>
        <p:spPr>
          <a:xfrm>
            <a:off x="8267700" y="3676650"/>
            <a:ext cx="2305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88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9D995D-A619-46F1-BAE4-96D1478BF4E2}"/>
              </a:ext>
            </a:extLst>
          </p:cNvPr>
          <p:cNvSpPr>
            <a:spLocks noGrp="1"/>
          </p:cNvSpPr>
          <p:nvPr/>
        </p:nvSpPr>
        <p:spPr>
          <a:xfrm>
            <a:off x="8267700" y="4057650"/>
            <a:ext cx="2305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 60 / review 16 / faq 12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ED0989-41CE-4DAC-8AAC-9DF3F932C454}"/>
              </a:ext>
            </a:extLst>
          </p:cNvPr>
          <p:cNvSpPr>
            <a:spLocks noGrp="1"/>
          </p:cNvSpPr>
          <p:nvPr/>
        </p:nvSpPr>
        <p:spPr>
          <a:xfrm>
            <a:off x="723900" y="60960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0">
                <a:solidFill>
                  <a:srgbClr val="AEB4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大模型与软件工程企业实训项目答辩 </a:t>
            </a:r>
            <a:r>
              <a:rPr lang="en-US" altLang="zh-CN" sz="1100" b="0">
                <a:solidFill>
                  <a:srgbClr val="AEB4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2026-07-10</a:t>
            </a:r>
            <a:endParaRPr sz="1100" b="0">
              <a:solidFill>
                <a:srgbClr val="AEB4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319133E-CBF6-4A17-ADEF-67535DD17DC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87F9E71-CC5E-405A-9364-77D609B79E23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343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4CA602CE-99E5-4EB9-AF2E-C7B956DB15E6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6128B9-CE28-4DC6-9B2D-6896F3B6EEB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今天讲清楚一个闭环，而不是一堆页面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5C935E-A31C-4246-9A2C-FB88562B72EC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76E1A5-77B6-4143-A624-2AA636821948}"/>
              </a:ext>
            </a:extLst>
          </p:cNvPr>
          <p:cNvSpPr>
            <a:spLocks noGrp="1"/>
          </p:cNvSpPr>
          <p:nvPr/>
        </p:nvSpPr>
        <p:spPr>
          <a:xfrm>
            <a:off x="1695450" y="17049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项目定位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185FC9-CFD0-44CD-AFD1-604DF9AAFD85}"/>
              </a:ext>
            </a:extLst>
          </p:cNvPr>
          <p:cNvSpPr>
            <a:spLocks noGrp="1"/>
          </p:cNvSpPr>
          <p:nvPr/>
        </p:nvSpPr>
        <p:spPr>
          <a:xfrm>
            <a:off x="4381500" y="1743075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为什么是“淘宝 + AI 助手”的实训闭环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904D86-D783-42EA-94E8-95AA46894B4E}"/>
              </a:ext>
            </a:extLst>
          </p:cNvPr>
          <p:cNvSpPr>
            <a:spLocks noGrp="1"/>
          </p:cNvSpPr>
          <p:nvPr/>
        </p:nvSpPr>
        <p:spPr>
          <a:xfrm>
            <a:off x="1695450" y="2209800"/>
            <a:ext cx="857250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452081-9625-4A16-8FF5-3096178CF0D8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18C80A-FE6B-412F-A84E-5224048CDE45}"/>
              </a:ext>
            </a:extLst>
          </p:cNvPr>
          <p:cNvSpPr>
            <a:spLocks noGrp="1"/>
          </p:cNvSpPr>
          <p:nvPr/>
        </p:nvSpPr>
        <p:spPr>
          <a:xfrm>
            <a:off x="1695450" y="24479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架构与数据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AEA573-A272-411F-94D1-2DD0230B21AC}"/>
              </a:ext>
            </a:extLst>
          </p:cNvPr>
          <p:cNvSpPr>
            <a:spLocks noGrp="1"/>
          </p:cNvSpPr>
          <p:nvPr/>
        </p:nvSpPr>
        <p:spPr>
          <a:xfrm>
            <a:off x="4381500" y="2486025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前后端分离、独立 Agent、MySQL 边界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3069F1-EE09-4BC4-BE20-A3BBFB1C2D3B}"/>
              </a:ext>
            </a:extLst>
          </p:cNvPr>
          <p:cNvSpPr>
            <a:spLocks noGrp="1"/>
          </p:cNvSpPr>
          <p:nvPr/>
        </p:nvSpPr>
        <p:spPr>
          <a:xfrm>
            <a:off x="1695450" y="2952750"/>
            <a:ext cx="857250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9B4D16-CA67-40EA-80B4-89C475CA61C4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C961A5-0AD5-46E8-BE8C-850E6B779667}"/>
              </a:ext>
            </a:extLst>
          </p:cNvPr>
          <p:cNvSpPr>
            <a:spLocks noGrp="1"/>
          </p:cNvSpPr>
          <p:nvPr/>
        </p:nvSpPr>
        <p:spPr>
          <a:xfrm>
            <a:off x="1695450" y="31908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五个亮点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2A9E7-B2F0-4149-9973-BB1EFC1DBAAE}"/>
              </a:ext>
            </a:extLst>
          </p:cNvPr>
          <p:cNvSpPr>
            <a:spLocks noGrp="1"/>
          </p:cNvSpPr>
          <p:nvPr/>
        </p:nvSpPr>
        <p:spPr>
          <a:xfrm>
            <a:off x="4381500" y="3228975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推荐闭环、RAG、多步工具、动效工程、并发事务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6381E2-82C8-4B26-B0CD-D91A7DDE8C66}"/>
              </a:ext>
            </a:extLst>
          </p:cNvPr>
          <p:cNvSpPr>
            <a:spLocks noGrp="1"/>
          </p:cNvSpPr>
          <p:nvPr/>
        </p:nvSpPr>
        <p:spPr>
          <a:xfrm>
            <a:off x="1695450" y="3695700"/>
            <a:ext cx="857250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E7E25C7-6D80-4FE7-9BB9-93E7E7020A18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ACE217-65FF-4F1C-9C06-4773594A883E}"/>
              </a:ext>
            </a:extLst>
          </p:cNvPr>
          <p:cNvSpPr>
            <a:spLocks noGrp="1"/>
          </p:cNvSpPr>
          <p:nvPr/>
        </p:nvSpPr>
        <p:spPr>
          <a:xfrm>
            <a:off x="1695450" y="39338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真实界面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896513-E606-4412-9BC5-DEFF4F299E79}"/>
              </a:ext>
            </a:extLst>
          </p:cNvPr>
          <p:cNvSpPr>
            <a:spLocks noGrp="1"/>
          </p:cNvSpPr>
          <p:nvPr/>
        </p:nvSpPr>
        <p:spPr>
          <a:xfrm>
            <a:off x="4381500" y="3971925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商品、聊天、购物车、订单、运营后台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4BCA1C-56B0-47C4-82CF-06A2E6461DC5}"/>
              </a:ext>
            </a:extLst>
          </p:cNvPr>
          <p:cNvSpPr>
            <a:spLocks noGrp="1"/>
          </p:cNvSpPr>
          <p:nvPr/>
        </p:nvSpPr>
        <p:spPr>
          <a:xfrm>
            <a:off x="1695450" y="4438650"/>
            <a:ext cx="857250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C38B73-B1F8-4054-9116-C1345786D3BB}"/>
              </a:ext>
            </a:extLst>
          </p:cNvPr>
          <p:cNvSpPr>
            <a:spLocks noGrp="1"/>
          </p:cNvSpPr>
          <p:nvPr/>
        </p:nvSpPr>
        <p:spPr>
          <a:xfrm>
            <a:off x="838200" y="464820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DCA810-3083-42DC-8CE1-A13A1CDCD8B3}"/>
              </a:ext>
            </a:extLst>
          </p:cNvPr>
          <p:cNvSpPr>
            <a:spLocks noGrp="1"/>
          </p:cNvSpPr>
          <p:nvPr/>
        </p:nvSpPr>
        <p:spPr>
          <a:xfrm>
            <a:off x="1695450" y="46767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验证与复盘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08E1AF5-1FE5-4CEF-B15E-08D5652F7C1A}"/>
              </a:ext>
            </a:extLst>
          </p:cNvPr>
          <p:cNvSpPr>
            <a:spLocks noGrp="1"/>
          </p:cNvSpPr>
          <p:nvPr/>
        </p:nvSpPr>
        <p:spPr>
          <a:xfrm>
            <a:off x="4381500" y="4714875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测试、Docker、日志、已完成与待改进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9A9E13-684A-492E-9699-8DEE98205131}"/>
              </a:ext>
            </a:extLst>
          </p:cNvPr>
          <p:cNvSpPr>
            <a:spLocks noGrp="1"/>
          </p:cNvSpPr>
          <p:nvPr/>
        </p:nvSpPr>
        <p:spPr>
          <a:xfrm>
            <a:off x="1695450" y="5181600"/>
            <a:ext cx="857250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7A6E6A-0E66-4B7B-8887-3C80C2EE503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F35EA7-5E78-4121-973B-AE67528BAD31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894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B1132CA5-F1D1-45A1-B8EF-78CD0BDD01F9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PROJECT POSITIONING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0B7A06-EF58-4A6D-9FE0-C9B9CB1596B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项目目标是把电商主链路和 Agent 能力同时跑通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2BF671-D85C-4A45-903B-913B85B73FFF}"/>
              </a:ext>
            </a:extLst>
          </p:cNvPr>
          <p:cNvSpPr>
            <a:spLocks noGrp="1"/>
          </p:cNvSpPr>
          <p:nvPr/>
        </p:nvSpPr>
        <p:spPr>
          <a:xfrm>
            <a:off x="704850" y="15049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面向企业实训答辩，不追求生产级大促架构，重点是五大模块可演示、技术栈落地、工程边界讲得清。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258E95C-B3E6-4D6D-9E34-BF801AB29917}"/>
              </a:ext>
            </a:extLst>
          </p:cNvPr>
          <p:cNvSpPr>
            <a:spLocks noGrp="1"/>
          </p:cNvSpPr>
          <p:nvPr/>
        </p:nvSpPr>
        <p:spPr>
          <a:xfrm>
            <a:off x="704850" y="2324100"/>
            <a:ext cx="3257550" cy="116205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39E193-DB65-42A4-8343-5EDC2F58486F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2876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五大模块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E8AAC7-11B5-4258-869A-AA9815F8517C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31245D-2D2C-4AF2-8DFF-20FD702F2178}"/>
              </a:ext>
            </a:extLst>
          </p:cNvPr>
          <p:cNvSpPr>
            <a:spLocks noGrp="1"/>
          </p:cNvSpPr>
          <p:nvPr/>
        </p:nvSpPr>
        <p:spPr>
          <a:xfrm>
            <a:off x="895350" y="32004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用户 / 商品 / 订单 / 搜索 / AI 助手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E51D6F7-8053-4588-9359-6985EECAA650}"/>
              </a:ext>
            </a:extLst>
          </p:cNvPr>
          <p:cNvSpPr>
            <a:spLocks noGrp="1"/>
          </p:cNvSpPr>
          <p:nvPr/>
        </p:nvSpPr>
        <p:spPr>
          <a:xfrm>
            <a:off x="4476750" y="2324100"/>
            <a:ext cx="3257550" cy="116205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808913-C156-4C12-8BFB-AC84C2A2FFCB}"/>
              </a:ext>
            </a:extLst>
          </p:cNvPr>
          <p:cNvSpPr>
            <a:spLocks noGrp="1"/>
          </p:cNvSpPr>
          <p:nvPr/>
        </p:nvSpPr>
        <p:spPr>
          <a:xfrm>
            <a:off x="4667250" y="2514600"/>
            <a:ext cx="2876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可部署单元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7FC303-5DB0-41A3-91B7-80C71F836FC1}"/>
              </a:ext>
            </a:extLst>
          </p:cNvPr>
          <p:cNvSpPr>
            <a:spLocks noGrp="1"/>
          </p:cNvSpPr>
          <p:nvPr/>
        </p:nvSpPr>
        <p:spPr>
          <a:xfrm>
            <a:off x="4667250" y="278130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E4A402-555E-4F04-BF71-C0C070CD3BE4}"/>
              </a:ext>
            </a:extLst>
          </p:cNvPr>
          <p:cNvSpPr>
            <a:spLocks noGrp="1"/>
          </p:cNvSpPr>
          <p:nvPr/>
        </p:nvSpPr>
        <p:spPr>
          <a:xfrm>
            <a:off x="4667250" y="32004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frontend / backend / agent / mysql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2C473A2-0D5E-4053-9DC8-334C34F4D20E}"/>
              </a:ext>
            </a:extLst>
          </p:cNvPr>
          <p:cNvSpPr>
            <a:spLocks noGrp="1"/>
          </p:cNvSpPr>
          <p:nvPr/>
        </p:nvSpPr>
        <p:spPr>
          <a:xfrm>
            <a:off x="8248650" y="2324100"/>
            <a:ext cx="3257550" cy="116205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0EC0A4-94A2-4A98-AFF9-DD50ADE9C986}"/>
              </a:ext>
            </a:extLst>
          </p:cNvPr>
          <p:cNvSpPr>
            <a:spLocks noGrp="1"/>
          </p:cNvSpPr>
          <p:nvPr/>
        </p:nvSpPr>
        <p:spPr>
          <a:xfrm>
            <a:off x="8439150" y="2514600"/>
            <a:ext cx="2876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验收主线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C15102-F2DE-44E6-889D-CF93AED1AFED}"/>
              </a:ext>
            </a:extLst>
          </p:cNvPr>
          <p:cNvSpPr>
            <a:spLocks noGrp="1"/>
          </p:cNvSpPr>
          <p:nvPr/>
        </p:nvSpPr>
        <p:spPr>
          <a:xfrm>
            <a:off x="8439150" y="278130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9FBEDD-B9A3-496B-971C-41AC77BCCB84}"/>
              </a:ext>
            </a:extLst>
          </p:cNvPr>
          <p:cNvSpPr>
            <a:spLocks noGrp="1"/>
          </p:cNvSpPr>
          <p:nvPr/>
        </p:nvSpPr>
        <p:spPr>
          <a:xfrm>
            <a:off x="8439150" y="32004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注册登录到下单再到 AI 推荐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6B1906-A95A-4096-A7B1-982105C086D2}"/>
              </a:ext>
            </a:extLst>
          </p:cNvPr>
          <p:cNvSpPr>
            <a:spLocks noGrp="1"/>
          </p:cNvSpPr>
          <p:nvPr/>
        </p:nvSpPr>
        <p:spPr>
          <a:xfrm>
            <a:off x="1047750" y="406717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0E42DE-453E-48EB-BC83-B43DC5F86F7A}"/>
              </a:ext>
            </a:extLst>
          </p:cNvPr>
          <p:cNvSpPr>
            <a:spLocks noGrp="1"/>
          </p:cNvSpPr>
          <p:nvPr/>
        </p:nvSpPr>
        <p:spPr>
          <a:xfrm>
            <a:off x="1257300" y="40005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商城是业务载体，真正考核点是需求、架构、开发、测试、部署和答辩表达。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723491-2FB6-4CBB-AFCA-6965355A85E8}"/>
              </a:ext>
            </a:extLst>
          </p:cNvPr>
          <p:cNvSpPr>
            <a:spLocks noGrp="1"/>
          </p:cNvSpPr>
          <p:nvPr/>
        </p:nvSpPr>
        <p:spPr>
          <a:xfrm>
            <a:off x="1047750" y="45053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4852D14-B241-4942-B30B-232529E7C600}"/>
              </a:ext>
            </a:extLst>
          </p:cNvPr>
          <p:cNvSpPr>
            <a:spLocks noGrp="1"/>
          </p:cNvSpPr>
          <p:nvPr/>
        </p:nvSpPr>
        <p:spPr>
          <a:xfrm>
            <a:off x="1257300" y="44386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Agent 独立成 Python 微服务，避免把 LangChain 逻辑塞进主业务后端。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C9DBCD-B433-43D4-91F6-11FEF42000B5}"/>
              </a:ext>
            </a:extLst>
          </p:cNvPr>
          <p:cNvSpPr>
            <a:spLocks noGrp="1"/>
          </p:cNvSpPr>
          <p:nvPr/>
        </p:nvSpPr>
        <p:spPr>
          <a:xfrm>
            <a:off x="1047750" y="494347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9EC91F-DBFD-4784-98C9-074B53185391}"/>
              </a:ext>
            </a:extLst>
          </p:cNvPr>
          <p:cNvSpPr>
            <a:spLocks noGrp="1"/>
          </p:cNvSpPr>
          <p:nvPr/>
        </p:nvSpPr>
        <p:spPr>
          <a:xfrm>
            <a:off x="1257300" y="48768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所有演示都围绕真实商品、真实订单、真实数据库状态展开。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D861C7-229C-4B21-8185-C552FAEA55D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96979D1-1BF1-49A5-B89A-0B3CA98AB6A2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5399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893E4766-7F0F-41E1-ADA2-908AD59A6165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AD63AE-1F78-47E4-9FBD-720035C2429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四层架构让业务系统和智能体边界清晰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B63C528-3704-4261-9839-A91A21FF8553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200025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89F447-1AFC-43A9-8DDC-43D9F2032DC5}"/>
              </a:ext>
            </a:extLst>
          </p:cNvPr>
          <p:cNvSpPr>
            <a:spLocks noGrp="1"/>
          </p:cNvSpPr>
          <p:nvPr/>
        </p:nvSpPr>
        <p:spPr>
          <a:xfrm>
            <a:off x="1047750" y="26479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Vue3 前端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46318A-86CD-4D0B-961F-C6D2C7067533}"/>
              </a:ext>
            </a:extLst>
          </p:cNvPr>
          <p:cNvSpPr>
            <a:spLocks noGrp="1"/>
          </p:cNvSpPr>
          <p:nvPr/>
        </p:nvSpPr>
        <p:spPr>
          <a:xfrm>
            <a:off x="1047750" y="29527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Nginx 静态站点 / axios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291ADF-2DFF-4510-8A2C-760909C7D4E2}"/>
              </a:ext>
            </a:extLst>
          </p:cNvPr>
          <p:cNvSpPr>
            <a:spLocks noGrp="1"/>
          </p:cNvSpPr>
          <p:nvPr/>
        </p:nvSpPr>
        <p:spPr>
          <a:xfrm>
            <a:off x="3028950" y="2867025"/>
            <a:ext cx="40005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2F41F1-700A-49E0-AF55-25675B4487AB}"/>
              </a:ext>
            </a:extLst>
          </p:cNvPr>
          <p:cNvSpPr>
            <a:spLocks noGrp="1"/>
          </p:cNvSpPr>
          <p:nvPr/>
        </p:nvSpPr>
        <p:spPr>
          <a:xfrm>
            <a:off x="3409950" y="27622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6D8463E-402A-4631-B2AB-2B2E575CDCFC}"/>
              </a:ext>
            </a:extLst>
          </p:cNvPr>
          <p:cNvSpPr>
            <a:spLocks noGrp="1"/>
          </p:cNvSpPr>
          <p:nvPr/>
        </p:nvSpPr>
        <p:spPr>
          <a:xfrm>
            <a:off x="3695700" y="2476500"/>
            <a:ext cx="2190750" cy="876300"/>
          </a:xfrm>
          <a:prstGeom prst="roundRect">
            <a:avLst>
              <a:gd name="adj" fmla="val 2174"/>
            </a:avLst>
          </a:prstGeom>
          <a:solidFill>
            <a:srgbClr val="2B45D8"/>
          </a:solidFill>
          <a:ln w="9525">
            <a:solidFill>
              <a:srgbClr val="2B45D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15BDB5-3740-4294-8E0E-6E3EFE9E3CEC}"/>
              </a:ext>
            </a:extLst>
          </p:cNvPr>
          <p:cNvSpPr>
            <a:spLocks noGrp="1"/>
          </p:cNvSpPr>
          <p:nvPr/>
        </p:nvSpPr>
        <p:spPr>
          <a:xfrm>
            <a:off x="3867150" y="264795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Spring Boot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9170F7-2628-4A48-A699-8C353964302A}"/>
              </a:ext>
            </a:extLst>
          </p:cNvPr>
          <p:cNvSpPr>
            <a:spLocks noGrp="1"/>
          </p:cNvSpPr>
          <p:nvPr/>
        </p:nvSpPr>
        <p:spPr>
          <a:xfrm>
            <a:off x="3867150" y="29527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rPr>
              <a:t>REST API / JWT / JPA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906D16-F899-4A5A-93F5-CB5137A79628}"/>
              </a:ext>
            </a:extLst>
          </p:cNvPr>
          <p:cNvSpPr>
            <a:spLocks noGrp="1"/>
          </p:cNvSpPr>
          <p:nvPr/>
        </p:nvSpPr>
        <p:spPr>
          <a:xfrm>
            <a:off x="6057900" y="2867025"/>
            <a:ext cx="40005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D15597-83CE-492E-8907-24EE3AD2D8C4}"/>
              </a:ext>
            </a:extLst>
          </p:cNvPr>
          <p:cNvSpPr>
            <a:spLocks noGrp="1"/>
          </p:cNvSpPr>
          <p:nvPr/>
        </p:nvSpPr>
        <p:spPr>
          <a:xfrm>
            <a:off x="6438900" y="27622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ECDD2E1-28C2-462F-8F1B-82C073C60C30}"/>
              </a:ext>
            </a:extLst>
          </p:cNvPr>
          <p:cNvSpPr>
            <a:spLocks noGrp="1"/>
          </p:cNvSpPr>
          <p:nvPr/>
        </p:nvSpPr>
        <p:spPr>
          <a:xfrm>
            <a:off x="6724650" y="2476500"/>
            <a:ext cx="200025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4E8159-13D7-41BE-B7FA-52CD2AEEE522}"/>
              </a:ext>
            </a:extLst>
          </p:cNvPr>
          <p:cNvSpPr>
            <a:spLocks noGrp="1"/>
          </p:cNvSpPr>
          <p:nvPr/>
        </p:nvSpPr>
        <p:spPr>
          <a:xfrm>
            <a:off x="6896100" y="26479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MySQL 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7A4D47-E74D-4F3A-9480-90FCFA58AC74}"/>
              </a:ext>
            </a:extLst>
          </p:cNvPr>
          <p:cNvSpPr>
            <a:spLocks noGrp="1"/>
          </p:cNvSpPr>
          <p:nvPr/>
        </p:nvSpPr>
        <p:spPr>
          <a:xfrm>
            <a:off x="6896100" y="29527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主业务唯一数据源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F01FF70-FAA6-4DA4-ABD9-381BC6662BA1}"/>
              </a:ext>
            </a:extLst>
          </p:cNvPr>
          <p:cNvSpPr>
            <a:spLocks noGrp="1"/>
          </p:cNvSpPr>
          <p:nvPr/>
        </p:nvSpPr>
        <p:spPr>
          <a:xfrm>
            <a:off x="3695700" y="4095750"/>
            <a:ext cx="219075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AE178C-4DAF-45D1-8B64-24BAFC76F729}"/>
              </a:ext>
            </a:extLst>
          </p:cNvPr>
          <p:cNvSpPr>
            <a:spLocks noGrp="1"/>
          </p:cNvSpPr>
          <p:nvPr/>
        </p:nvSpPr>
        <p:spPr>
          <a:xfrm>
            <a:off x="3867150" y="42672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FastAPI Agent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955372-6F76-4396-9E52-3032933B2A16}"/>
              </a:ext>
            </a:extLst>
          </p:cNvPr>
          <p:cNvSpPr>
            <a:spLocks noGrp="1"/>
          </p:cNvSpPr>
          <p:nvPr/>
        </p:nvSpPr>
        <p:spPr>
          <a:xfrm>
            <a:off x="3867150" y="45720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LangChain / Tools / Memory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3C5AE68-771A-4409-BC2E-A12EE34C7F19}"/>
              </a:ext>
            </a:extLst>
          </p:cNvPr>
          <p:cNvSpPr>
            <a:spLocks noGrp="1"/>
          </p:cNvSpPr>
          <p:nvPr/>
        </p:nvSpPr>
        <p:spPr>
          <a:xfrm>
            <a:off x="4800600" y="3352800"/>
            <a:ext cx="19050" cy="7048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9CAB40B-ADC8-4A69-AB3A-825C6BCA2481}"/>
              </a:ext>
            </a:extLst>
          </p:cNvPr>
          <p:cNvSpPr>
            <a:spLocks noGrp="1"/>
          </p:cNvSpPr>
          <p:nvPr/>
        </p:nvSpPr>
        <p:spPr>
          <a:xfrm>
            <a:off x="6000750" y="403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工具调用通过 REST 回访主后端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BC039A-6BAF-4657-BEC7-688BBF7A9244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Agent 只直连专属记忆表：agent_conversation / user_preference / knowledge_chunk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6CDE427-5877-4615-8E4D-03BA63076C7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BE4680-6347-401D-8B8B-CF404E91FAFF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8152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DF2A72F0-0E55-4828-9FF9-C66F739164C2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TECH STACK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978251-3237-47A4-BA8A-58F514D6105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技术栈选择围绕课程要求收敛，没有引入重型治理组件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7908E8-C096-45DF-9E74-E18DB6E14D67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28700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C33E1D-C138-46BB-AB4C-0DCF48553CBA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1B2BE1-5BDB-4A46-BB28-E12E1AA108A8}"/>
              </a:ext>
            </a:extLst>
          </p:cNvPr>
          <p:cNvSpPr>
            <a:spLocks noGrp="1"/>
          </p:cNvSpPr>
          <p:nvPr/>
        </p:nvSpPr>
        <p:spPr>
          <a:xfrm>
            <a:off x="2476500" y="15621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Vue3 + Vite + Vue Router + axios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99ECE4-F7C2-4A25-A9CA-F60234FC250D}"/>
              </a:ext>
            </a:extLst>
          </p:cNvPr>
          <p:cNvSpPr>
            <a:spLocks noGrp="1"/>
          </p:cNvSpPr>
          <p:nvPr/>
        </p:nvSpPr>
        <p:spPr>
          <a:xfrm>
            <a:off x="7239000" y="1590675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组件化页面、路由守卫、统一请求拦截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C0F654-3D02-4370-82F6-5C93112E0514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028700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1A7D34-BD04-4E84-BE70-AAC7E8EDA406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824D52-833E-458D-A129-C1FE89454191}"/>
              </a:ext>
            </a:extLst>
          </p:cNvPr>
          <p:cNvSpPr>
            <a:spLocks noGrp="1"/>
          </p:cNvSpPr>
          <p:nvPr/>
        </p:nvSpPr>
        <p:spPr>
          <a:xfrm>
            <a:off x="2476500" y="23622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Spring Boot 3.3 + Security + JWT + JPA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4BE321-7C3E-40A7-82C0-1996C16085CB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RESTful API、权限控制、事务与领域服务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5C1CB3-B3BC-4B28-B3F0-B0BDAC36572C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1028700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492C3D-9FE1-4F88-ABCB-CEC7F80507AA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C5A5EF-2EDA-40A1-B2C2-3D4B235C6368}"/>
              </a:ext>
            </a:extLst>
          </p:cNvPr>
          <p:cNvSpPr>
            <a:spLocks noGrp="1"/>
          </p:cNvSpPr>
          <p:nvPr/>
        </p:nvSpPr>
        <p:spPr>
          <a:xfrm>
            <a:off x="2476500" y="31623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MySQL 8.0 + InnoDB + utf8mb4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077327-86FF-4475-BE91-C13F120E497E}"/>
              </a:ext>
            </a:extLst>
          </p:cNvPr>
          <p:cNvSpPr>
            <a:spLocks noGrp="1"/>
          </p:cNvSpPr>
          <p:nvPr/>
        </p:nvSpPr>
        <p:spPr>
          <a:xfrm>
            <a:off x="7239000" y="3190875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三范式建模、索引、乐观锁库存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F596DD-BF2D-4B1E-B54C-74DD7B508C00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28700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D55AC0-2404-4A7A-92B5-50B1497ACC91}"/>
              </a:ext>
            </a:extLst>
          </p:cNvPr>
          <p:cNvSpPr>
            <a:spLocks noGrp="1"/>
          </p:cNvSpPr>
          <p:nvPr/>
        </p:nvSpPr>
        <p:spPr>
          <a:xfrm>
            <a:off x="876300" y="39624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AI 服务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821493-0DD3-4849-928E-0083732777D8}"/>
              </a:ext>
            </a:extLst>
          </p:cNvPr>
          <p:cNvSpPr>
            <a:spLocks noGrp="1"/>
          </p:cNvSpPr>
          <p:nvPr/>
        </p:nvSpPr>
        <p:spPr>
          <a:xfrm>
            <a:off x="2476500" y="39624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FastAPI + LangChain + SQLAlchemy + httpx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524CD3-8990-4BC9-8F22-1C6712161A87}"/>
              </a:ext>
            </a:extLst>
          </p:cNvPr>
          <p:cNvSpPr>
            <a:spLocks noGrp="1"/>
          </p:cNvSpPr>
          <p:nvPr/>
        </p:nvSpPr>
        <p:spPr>
          <a:xfrm>
            <a:off x="7239000" y="3990975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工具调用、短期/长期记忆、服务间认证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1CDF74-5CC4-48D1-8B2B-0C2C4811CC25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1028700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3033D1-64C4-45CF-993C-517E26965A51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部署测试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5998C50-E724-45BD-A1DD-96B162908A60}"/>
              </a:ext>
            </a:extLst>
          </p:cNvPr>
          <p:cNvSpPr>
            <a:spLocks noGrp="1"/>
          </p:cNvSpPr>
          <p:nvPr/>
        </p:nvSpPr>
        <p:spPr>
          <a:xfrm>
            <a:off x="2476500" y="4762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Docker Compose + JUnit5 + 并发脚本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C1C8CBF-616C-46CA-BF97-A05293C03F33}"/>
              </a:ext>
            </a:extLst>
          </p:cNvPr>
          <p:cNvSpPr>
            <a:spLocks noGrp="1"/>
          </p:cNvSpPr>
          <p:nvPr/>
        </p:nvSpPr>
        <p:spPr>
          <a:xfrm>
            <a:off x="7239000" y="4791075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四服务一键启动、回归和验收脚本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5B92C20-2BC4-4C68-BE34-5A3F2CB78BED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A4EACAC-DFC9-4924-9FCB-8C617387C862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9087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341380E1-E6A2-4E93-9E56-45A3CC765737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DATABASE DESIGN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799E2B-C9CC-4074-84F2-F093FF755B7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数据库按业务事实拆表，订单快照只保存历史事实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692748B-05F7-424B-825D-D284B816CB7F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866900" cy="224790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1AD619-E9CF-4663-9328-9CD64E5867E2}"/>
              </a:ext>
            </a:extLst>
          </p:cNvPr>
          <p:cNvSpPr>
            <a:spLocks noGrp="1"/>
          </p:cNvSpPr>
          <p:nvPr/>
        </p:nvSpPr>
        <p:spPr>
          <a:xfrm>
            <a:off x="857250" y="18859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91FC19-DFE4-4A0D-9092-1F54042E78BF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14097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shipping_address</a:t>
            </a:r>
          </a:p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user_preference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B942E81-63F4-4DC9-A41A-445D4A3B1BBF}"/>
              </a:ext>
            </a:extLst>
          </p:cNvPr>
          <p:cNvSpPr>
            <a:spLocks noGrp="1"/>
          </p:cNvSpPr>
          <p:nvPr/>
        </p:nvSpPr>
        <p:spPr>
          <a:xfrm>
            <a:off x="2876550" y="1657350"/>
            <a:ext cx="1866900" cy="224790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89C6DE-3525-448C-833F-3760DA0F55B7}"/>
              </a:ext>
            </a:extLst>
          </p:cNvPr>
          <p:cNvSpPr>
            <a:spLocks noGrp="1"/>
          </p:cNvSpPr>
          <p:nvPr/>
        </p:nvSpPr>
        <p:spPr>
          <a:xfrm>
            <a:off x="3048000" y="18859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商品域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30E8AA-5E24-40F0-B8B8-C1DB139C3DDA}"/>
              </a:ext>
            </a:extLst>
          </p:cNvPr>
          <p:cNvSpPr>
            <a:spLocks noGrp="1"/>
          </p:cNvSpPr>
          <p:nvPr/>
        </p:nvSpPr>
        <p:spPr>
          <a:xfrm>
            <a:off x="3105150" y="2381250"/>
            <a:ext cx="14097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category</a:t>
            </a:r>
          </a:p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</a:t>
            </a:r>
          </a:p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product_tag</a:t>
            </a:r>
          </a:p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product_review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0EB2C5B-8A1F-48AF-A16A-54F99B4B14C0}"/>
              </a:ext>
            </a:extLst>
          </p:cNvPr>
          <p:cNvSpPr>
            <a:spLocks noGrp="1"/>
          </p:cNvSpPr>
          <p:nvPr/>
        </p:nvSpPr>
        <p:spPr>
          <a:xfrm>
            <a:off x="5067300" y="1657350"/>
            <a:ext cx="1866900" cy="224790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EC22C8-E2E5-4C24-A58E-DB2FF92F27C4}"/>
              </a:ext>
            </a:extLst>
          </p:cNvPr>
          <p:cNvSpPr>
            <a:spLocks noGrp="1"/>
          </p:cNvSpPr>
          <p:nvPr/>
        </p:nvSpPr>
        <p:spPr>
          <a:xfrm>
            <a:off x="5238750" y="18859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交易域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CE8087-F92C-4626-B83E-C0DB0F0351BD}"/>
              </a:ext>
            </a:extLst>
          </p:cNvPr>
          <p:cNvSpPr>
            <a:spLocks noGrp="1"/>
          </p:cNvSpPr>
          <p:nvPr/>
        </p:nvSpPr>
        <p:spPr>
          <a:xfrm>
            <a:off x="5295900" y="2381250"/>
            <a:ext cx="14097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cart</a:t>
            </a:r>
          </a:p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order</a:t>
            </a:r>
          </a:p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order_item</a:t>
            </a:r>
          </a:p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after_sale_request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F844842-9B61-4F7E-AF92-EA488C58C226}"/>
              </a:ext>
            </a:extLst>
          </p:cNvPr>
          <p:cNvSpPr>
            <a:spLocks noGrp="1"/>
          </p:cNvSpPr>
          <p:nvPr/>
        </p:nvSpPr>
        <p:spPr>
          <a:xfrm>
            <a:off x="7258050" y="1657350"/>
            <a:ext cx="1866900" cy="224790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D6F1F2-E196-4967-9B45-7A22FF0E61B1}"/>
              </a:ext>
            </a:extLst>
          </p:cNvPr>
          <p:cNvSpPr>
            <a:spLocks noGrp="1"/>
          </p:cNvSpPr>
          <p:nvPr/>
        </p:nvSpPr>
        <p:spPr>
          <a:xfrm>
            <a:off x="7429500" y="18859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运营与行为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BDFEF8-C3F3-4B46-AF97-2797BFFA098F}"/>
              </a:ext>
            </a:extLst>
          </p:cNvPr>
          <p:cNvSpPr>
            <a:spLocks noGrp="1"/>
          </p:cNvSpPr>
          <p:nvPr/>
        </p:nvSpPr>
        <p:spPr>
          <a:xfrm>
            <a:off x="7486650" y="2381250"/>
            <a:ext cx="14097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banner_slot</a:t>
            </a:r>
          </a:p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search_keyword_log</a:t>
            </a:r>
          </a:p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favorite / view log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45218B6-AA69-4503-809A-15E8BB03DA15}"/>
              </a:ext>
            </a:extLst>
          </p:cNvPr>
          <p:cNvSpPr>
            <a:spLocks noGrp="1"/>
          </p:cNvSpPr>
          <p:nvPr/>
        </p:nvSpPr>
        <p:spPr>
          <a:xfrm>
            <a:off x="9448800" y="1657350"/>
            <a:ext cx="1866900" cy="2247900"/>
          </a:xfrm>
          <a:prstGeom prst="roundRect">
            <a:avLst>
              <a:gd name="adj" fmla="val 1020"/>
            </a:avLst>
          </a:prstGeom>
          <a:solidFill>
            <a:srgbClr val="EBEEFC"/>
          </a:solidFill>
          <a:ln w="9525">
            <a:solidFill>
              <a:srgbClr val="2B45D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4E1C91-9A27-4FC0-B044-A5289BA8CEE8}"/>
              </a:ext>
            </a:extLst>
          </p:cNvPr>
          <p:cNvSpPr>
            <a:spLocks noGrp="1"/>
          </p:cNvSpPr>
          <p:nvPr/>
        </p:nvSpPr>
        <p:spPr>
          <a:xfrm>
            <a:off x="9620250" y="18859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Agent 记忆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DD4665-C27D-40A4-A5E5-DC2BCF9AA2BF}"/>
              </a:ext>
            </a:extLst>
          </p:cNvPr>
          <p:cNvSpPr>
            <a:spLocks noGrp="1"/>
          </p:cNvSpPr>
          <p:nvPr/>
        </p:nvSpPr>
        <p:spPr>
          <a:xfrm>
            <a:off x="9677400" y="2381250"/>
            <a:ext cx="14097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agent_conversation</a:t>
            </a:r>
          </a:p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user_preference</a:t>
            </a:r>
          </a:p>
          <a:p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knowledge_chunk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DFF893-0514-43B8-A39F-D1B20143C19F}"/>
              </a:ext>
            </a:extLst>
          </p:cNvPr>
          <p:cNvSpPr>
            <a:spLocks noGrp="1"/>
          </p:cNvSpPr>
          <p:nvPr/>
        </p:nvSpPr>
        <p:spPr>
          <a:xfrm>
            <a:off x="1085850" y="456247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A4D370-63E2-4298-BC19-912F903979BA}"/>
              </a:ext>
            </a:extLst>
          </p:cNvPr>
          <p:cNvSpPr>
            <a:spLocks noGrp="1"/>
          </p:cNvSpPr>
          <p:nvPr/>
        </p:nvSpPr>
        <p:spPr>
          <a:xfrm>
            <a:off x="1295400" y="449580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商品、购物车、订单主表、订单明细分离，避免展示字段在多个表里重复。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DB71B25-4E79-470D-8721-04EDD7D0D9E3}"/>
              </a:ext>
            </a:extLst>
          </p:cNvPr>
          <p:cNvSpPr>
            <a:spLocks noGrp="1"/>
          </p:cNvSpPr>
          <p:nvPr/>
        </p:nvSpPr>
        <p:spPr>
          <a:xfrm>
            <a:off x="1085850" y="49625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EEEDD8-0BE4-4D4F-82F5-793E3379233F}"/>
              </a:ext>
            </a:extLst>
          </p:cNvPr>
          <p:cNvSpPr>
            <a:spLocks noGrp="1"/>
          </p:cNvSpPr>
          <p:nvPr/>
        </p:nvSpPr>
        <p:spPr>
          <a:xfrm>
            <a:off x="1295400" y="48958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order_item 的商品名和价格是下单时刻快照，用于历史订单，不属于随商品表可推导的当前字段。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A5AF25-5DED-423F-88EA-55C90CE308DA}"/>
              </a:ext>
            </a:extLst>
          </p:cNvPr>
          <p:cNvSpPr>
            <a:spLocks noGrp="1"/>
          </p:cNvSpPr>
          <p:nvPr/>
        </p:nvSpPr>
        <p:spPr>
          <a:xfrm>
            <a:off x="1085850" y="536257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92BA48E-7016-4905-A4EA-7E9405A014E5}"/>
              </a:ext>
            </a:extLst>
          </p:cNvPr>
          <p:cNvSpPr>
            <a:spLocks noGrp="1"/>
          </p:cNvSpPr>
          <p:nvPr/>
        </p:nvSpPr>
        <p:spPr>
          <a:xfrm>
            <a:off x="1295400" y="529590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knowledge_chunk 是 Agent 轻量 RAG 的运行时知识表，当前共有 88 条块。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195939D-78D7-4D7D-A5AB-946FB127F62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D40FB82-5F1D-4581-B58D-58CF226A97D8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030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9275817C-6A24-4B80-86BB-E4C8E2D6CE67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FUNCTION 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65B831-EF4A-423D-B334-E158E74E16C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功能不是孤立堆叠，而是围绕购买链路组织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F394C34-E844-4E83-87E3-B9AF1C1E364C}"/>
              </a:ext>
            </a:extLst>
          </p:cNvPr>
          <p:cNvSpPr>
            <a:spLocks noGrp="1"/>
          </p:cNvSpPr>
          <p:nvPr/>
        </p:nvSpPr>
        <p:spPr>
          <a:xfrm>
            <a:off x="914400" y="1657350"/>
            <a:ext cx="302895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AC6100-26A9-460D-BB54-050EB8018507}"/>
              </a:ext>
            </a:extLst>
          </p:cNvPr>
          <p:cNvSpPr>
            <a:spLocks noGrp="1"/>
          </p:cNvSpPr>
          <p:nvPr/>
        </p:nvSpPr>
        <p:spPr>
          <a:xfrm>
            <a:off x="1085850" y="1866900"/>
            <a:ext cx="76200" cy="400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C75C04-64C2-49F2-BC68-F1B4FF7E031F}"/>
              </a:ext>
            </a:extLst>
          </p:cNvPr>
          <p:cNvSpPr>
            <a:spLocks noGrp="1"/>
          </p:cNvSpPr>
          <p:nvPr/>
        </p:nvSpPr>
        <p:spPr>
          <a:xfrm>
            <a:off x="1314450" y="18288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认证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69B16D-69D0-4836-8195-5D61D63A1B33}"/>
              </a:ext>
            </a:extLst>
          </p:cNvPr>
          <p:cNvSpPr>
            <a:spLocks noGrp="1"/>
          </p:cNvSpPr>
          <p:nvPr/>
        </p:nvSpPr>
        <p:spPr>
          <a:xfrm>
            <a:off x="1314450" y="21336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注册 / 登录 / 刷新 Token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6978D47-F463-4AB7-98E9-1B252E4C54A5}"/>
              </a:ext>
            </a:extLst>
          </p:cNvPr>
          <p:cNvSpPr>
            <a:spLocks noGrp="1"/>
          </p:cNvSpPr>
          <p:nvPr/>
        </p:nvSpPr>
        <p:spPr>
          <a:xfrm>
            <a:off x="4438650" y="1657350"/>
            <a:ext cx="302895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83C18F-32D3-4B33-AAA0-C8F530910AC9}"/>
              </a:ext>
            </a:extLst>
          </p:cNvPr>
          <p:cNvSpPr>
            <a:spLocks noGrp="1"/>
          </p:cNvSpPr>
          <p:nvPr/>
        </p:nvSpPr>
        <p:spPr>
          <a:xfrm>
            <a:off x="4610100" y="1866900"/>
            <a:ext cx="76200" cy="400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A0A092-302C-4FAD-B08A-71D19547780E}"/>
              </a:ext>
            </a:extLst>
          </p:cNvPr>
          <p:cNvSpPr>
            <a:spLocks noGrp="1"/>
          </p:cNvSpPr>
          <p:nvPr/>
        </p:nvSpPr>
        <p:spPr>
          <a:xfrm>
            <a:off x="4838700" y="18288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177F2F-7724-4290-971D-8666EF787BEF}"/>
              </a:ext>
            </a:extLst>
          </p:cNvPr>
          <p:cNvSpPr>
            <a:spLocks noGrp="1"/>
          </p:cNvSpPr>
          <p:nvPr/>
        </p:nvSpPr>
        <p:spPr>
          <a:xfrm>
            <a:off x="4838700" y="21336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分类 / CRUD / 标签 / 推荐位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F006873-A362-4D94-B3D2-9E14973729E5}"/>
              </a:ext>
            </a:extLst>
          </p:cNvPr>
          <p:cNvSpPr>
            <a:spLocks noGrp="1"/>
          </p:cNvSpPr>
          <p:nvPr/>
        </p:nvSpPr>
        <p:spPr>
          <a:xfrm>
            <a:off x="7962900" y="1657350"/>
            <a:ext cx="302895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A32AC3-6692-4653-87EC-4103AC6CC07E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76200" cy="400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295E4B-EEE9-4FBF-AA98-0F54F6CC87A5}"/>
              </a:ext>
            </a:extLst>
          </p:cNvPr>
          <p:cNvSpPr>
            <a:spLocks noGrp="1"/>
          </p:cNvSpPr>
          <p:nvPr/>
        </p:nvSpPr>
        <p:spPr>
          <a:xfrm>
            <a:off x="8362950" y="18288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0AB250-0AC1-453B-9248-3054534DCB73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关键词 / 排序 / 分页 / 热词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60C9566-3D09-4D5F-B0F2-9F8A7FADFEF4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302895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07F6EA-5A7B-4849-A6FC-A64F91119019}"/>
              </a:ext>
            </a:extLst>
          </p:cNvPr>
          <p:cNvSpPr>
            <a:spLocks noGrp="1"/>
          </p:cNvSpPr>
          <p:nvPr/>
        </p:nvSpPr>
        <p:spPr>
          <a:xfrm>
            <a:off x="1085850" y="3048000"/>
            <a:ext cx="76200" cy="400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8933D8-C3FA-465B-A8C6-5838528475B8}"/>
              </a:ext>
            </a:extLst>
          </p:cNvPr>
          <p:cNvSpPr>
            <a:spLocks noGrp="1"/>
          </p:cNvSpPr>
          <p:nvPr/>
        </p:nvSpPr>
        <p:spPr>
          <a:xfrm>
            <a:off x="1314450" y="30099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购物车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9B1CD9C-3583-404B-9F14-4CD366B0C197}"/>
              </a:ext>
            </a:extLst>
          </p:cNvPr>
          <p:cNvSpPr>
            <a:spLocks noGrp="1"/>
          </p:cNvSpPr>
          <p:nvPr/>
        </p:nvSpPr>
        <p:spPr>
          <a:xfrm>
            <a:off x="1314450" y="33147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加购 / 数量校验 / 清空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F954480-1007-49B4-9835-E41B78CDCF2F}"/>
              </a:ext>
            </a:extLst>
          </p:cNvPr>
          <p:cNvSpPr>
            <a:spLocks noGrp="1"/>
          </p:cNvSpPr>
          <p:nvPr/>
        </p:nvSpPr>
        <p:spPr>
          <a:xfrm>
            <a:off x="4438650" y="2838450"/>
            <a:ext cx="302895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942D37B-9774-4DC2-8E31-500D3CB13251}"/>
              </a:ext>
            </a:extLst>
          </p:cNvPr>
          <p:cNvSpPr>
            <a:spLocks noGrp="1"/>
          </p:cNvSpPr>
          <p:nvPr/>
        </p:nvSpPr>
        <p:spPr>
          <a:xfrm>
            <a:off x="4610100" y="3048000"/>
            <a:ext cx="76200" cy="400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CE9E095-2EC0-40A0-BDE4-3E6270A884C1}"/>
              </a:ext>
            </a:extLst>
          </p:cNvPr>
          <p:cNvSpPr>
            <a:spLocks noGrp="1"/>
          </p:cNvSpPr>
          <p:nvPr/>
        </p:nvSpPr>
        <p:spPr>
          <a:xfrm>
            <a:off x="4838700" y="30099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F64314-E19C-4127-8C93-E17DAC23857F}"/>
              </a:ext>
            </a:extLst>
          </p:cNvPr>
          <p:cNvSpPr>
            <a:spLocks noGrp="1"/>
          </p:cNvSpPr>
          <p:nvPr/>
        </p:nvSpPr>
        <p:spPr>
          <a:xfrm>
            <a:off x="4838700" y="33147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下单 / 支付 / 发货 / 确认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8A17FB3-D1AB-475E-9823-094445686A0F}"/>
              </a:ext>
            </a:extLst>
          </p:cNvPr>
          <p:cNvSpPr>
            <a:spLocks noGrp="1"/>
          </p:cNvSpPr>
          <p:nvPr/>
        </p:nvSpPr>
        <p:spPr>
          <a:xfrm>
            <a:off x="7962900" y="2838450"/>
            <a:ext cx="302895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8174AA-80B9-45BD-919D-D73B8D2546F7}"/>
              </a:ext>
            </a:extLst>
          </p:cNvPr>
          <p:cNvSpPr>
            <a:spLocks noGrp="1"/>
          </p:cNvSpPr>
          <p:nvPr/>
        </p:nvSpPr>
        <p:spPr>
          <a:xfrm>
            <a:off x="8134350" y="3048000"/>
            <a:ext cx="76200" cy="400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5DCED3E-FC55-4B4C-9E55-1F72F08351FF}"/>
              </a:ext>
            </a:extLst>
          </p:cNvPr>
          <p:cNvSpPr>
            <a:spLocks noGrp="1"/>
          </p:cNvSpPr>
          <p:nvPr/>
        </p:nvSpPr>
        <p:spPr>
          <a:xfrm>
            <a:off x="8362950" y="30099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售后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DCB9A67-37CD-4511-AE62-5A3DE0193C5D}"/>
              </a:ext>
            </a:extLst>
          </p:cNvPr>
          <p:cNvSpPr>
            <a:spLocks noGrp="1"/>
          </p:cNvSpPr>
          <p:nvPr/>
        </p:nvSpPr>
        <p:spPr>
          <a:xfrm>
            <a:off x="8362950" y="33147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退款申请 / 审核 / 回补库存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BB8D6F1-0E1B-43FF-9027-C7B8B086630D}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302895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10D3776-A675-4248-9BA0-4C572CA85F16}"/>
              </a:ext>
            </a:extLst>
          </p:cNvPr>
          <p:cNvSpPr>
            <a:spLocks noGrp="1"/>
          </p:cNvSpPr>
          <p:nvPr/>
        </p:nvSpPr>
        <p:spPr>
          <a:xfrm>
            <a:off x="1085850" y="4229100"/>
            <a:ext cx="76200" cy="400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0FDAAC4-1059-4CD0-8B66-56A1CEF8DB80}"/>
              </a:ext>
            </a:extLst>
          </p:cNvPr>
          <p:cNvSpPr>
            <a:spLocks noGrp="1"/>
          </p:cNvSpPr>
          <p:nvPr/>
        </p:nvSpPr>
        <p:spPr>
          <a:xfrm>
            <a:off x="1314450" y="41910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用户体验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411A7A-C8D2-4D5C-8731-9ECB75562145}"/>
              </a:ext>
            </a:extLst>
          </p:cNvPr>
          <p:cNvSpPr>
            <a:spLocks noGrp="1"/>
          </p:cNvSpPr>
          <p:nvPr/>
        </p:nvSpPr>
        <p:spPr>
          <a:xfrm>
            <a:off x="1314450" y="44958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收藏 / 足迹 / 评价 / 积分券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4A3AF77-81FF-4EA6-9C7C-BF5732BA57EC}"/>
              </a:ext>
            </a:extLst>
          </p:cNvPr>
          <p:cNvSpPr>
            <a:spLocks noGrp="1"/>
          </p:cNvSpPr>
          <p:nvPr/>
        </p:nvSpPr>
        <p:spPr>
          <a:xfrm>
            <a:off x="4438650" y="4019550"/>
            <a:ext cx="302895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3E6FBD4-6C59-4855-BDD1-4D069A465BAE}"/>
              </a:ext>
            </a:extLst>
          </p:cNvPr>
          <p:cNvSpPr>
            <a:spLocks noGrp="1"/>
          </p:cNvSpPr>
          <p:nvPr/>
        </p:nvSpPr>
        <p:spPr>
          <a:xfrm>
            <a:off x="4610100" y="4229100"/>
            <a:ext cx="76200" cy="400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AB81EE7-9933-4F19-BAA8-2E3068EC62C4}"/>
              </a:ext>
            </a:extLst>
          </p:cNvPr>
          <p:cNvSpPr>
            <a:spLocks noGrp="1"/>
          </p:cNvSpPr>
          <p:nvPr/>
        </p:nvSpPr>
        <p:spPr>
          <a:xfrm>
            <a:off x="4838700" y="41910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AI 助手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E950A74-7590-4A89-B75E-A0761ADF9246}"/>
              </a:ext>
            </a:extLst>
          </p:cNvPr>
          <p:cNvSpPr>
            <a:spLocks noGrp="1"/>
          </p:cNvSpPr>
          <p:nvPr/>
        </p:nvSpPr>
        <p:spPr>
          <a:xfrm>
            <a:off x="4838700" y="44958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导购 / 查单 / 偏好记忆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C6A7975-9CFE-41FB-B61F-590D375204E4}"/>
              </a:ext>
            </a:extLst>
          </p:cNvPr>
          <p:cNvSpPr>
            <a:spLocks noGrp="1"/>
          </p:cNvSpPr>
          <p:nvPr/>
        </p:nvSpPr>
        <p:spPr>
          <a:xfrm>
            <a:off x="7962900" y="4019550"/>
            <a:ext cx="3028950" cy="8382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AE13213-F9C7-45B0-A633-D07C365C5FA8}"/>
              </a:ext>
            </a:extLst>
          </p:cNvPr>
          <p:cNvSpPr>
            <a:spLocks noGrp="1"/>
          </p:cNvSpPr>
          <p:nvPr/>
        </p:nvSpPr>
        <p:spPr>
          <a:xfrm>
            <a:off x="8134350" y="4229100"/>
            <a:ext cx="76200" cy="400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AB2F66C-9B02-446F-82CF-08916151FDF6}"/>
              </a:ext>
            </a:extLst>
          </p:cNvPr>
          <p:cNvSpPr>
            <a:spLocks noGrp="1"/>
          </p:cNvSpPr>
          <p:nvPr/>
        </p:nvSpPr>
        <p:spPr>
          <a:xfrm>
            <a:off x="8362950" y="41910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后台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A25368-E6A1-4AB5-80FD-EB3192E5DDFB}"/>
              </a:ext>
            </a:extLst>
          </p:cNvPr>
          <p:cNvSpPr>
            <a:spLocks noGrp="1"/>
          </p:cNvSpPr>
          <p:nvPr/>
        </p:nvSpPr>
        <p:spPr>
          <a:xfrm>
            <a:off x="8362950" y="44958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数据看板 / 商品 / 订单 / 日志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D76BF21-6D42-4C9B-A786-4D505761650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55CA287-6933-4E34-BDD3-ECE66AF196EE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848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19A7DB2B-12A3-449E-A864-2654205C2445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HIGHLIGHT 01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DF7C2E-3E5A-4792-8D96-5DED0099D9D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个性化推荐形成从对话到首页的闭环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FC62249-6802-4D3C-BAEE-17CBC107C12A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200025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E614D9-00E8-4BCD-AE90-C3CDA7B37FC5}"/>
              </a:ext>
            </a:extLst>
          </p:cNvPr>
          <p:cNvSpPr>
            <a:spLocks noGrp="1"/>
          </p:cNvSpPr>
          <p:nvPr/>
        </p:nvSpPr>
        <p:spPr>
          <a:xfrm>
            <a:off x="933450" y="25146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用户表达偏好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9A19F1-4AC6-40AF-A672-BE5D5C48A34E}"/>
              </a:ext>
            </a:extLst>
          </p:cNvPr>
          <p:cNvSpPr>
            <a:spLocks noGrp="1"/>
          </p:cNvSpPr>
          <p:nvPr/>
        </p:nvSpPr>
        <p:spPr>
          <a:xfrm>
            <a:off x="933450" y="281940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“我喜欢机械键盘”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9F9C9F-3BD0-4DEC-88AF-6CCA0A478A67}"/>
              </a:ext>
            </a:extLst>
          </p:cNvPr>
          <p:cNvSpPr>
            <a:spLocks noGrp="1"/>
          </p:cNvSpPr>
          <p:nvPr/>
        </p:nvSpPr>
        <p:spPr>
          <a:xfrm>
            <a:off x="2895600" y="2743200"/>
            <a:ext cx="40005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5154DB-B9A0-4C0B-9394-E65CFCBB4334}"/>
              </a:ext>
            </a:extLst>
          </p:cNvPr>
          <p:cNvSpPr>
            <a:spLocks noGrp="1"/>
          </p:cNvSpPr>
          <p:nvPr/>
        </p:nvSpPr>
        <p:spPr>
          <a:xfrm>
            <a:off x="3276600" y="263842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723888D-1826-48CF-B22A-A4FBBDBF61AD}"/>
              </a:ext>
            </a:extLst>
          </p:cNvPr>
          <p:cNvSpPr>
            <a:spLocks noGrp="1"/>
          </p:cNvSpPr>
          <p:nvPr/>
        </p:nvSpPr>
        <p:spPr>
          <a:xfrm>
            <a:off x="3562350" y="2343150"/>
            <a:ext cx="219075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47AB5B-5488-4782-B2E4-DA36B09BCB45}"/>
              </a:ext>
            </a:extLst>
          </p:cNvPr>
          <p:cNvSpPr>
            <a:spLocks noGrp="1"/>
          </p:cNvSpPr>
          <p:nvPr/>
        </p:nvSpPr>
        <p:spPr>
          <a:xfrm>
            <a:off x="3733800" y="25146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Agent 提炼标签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7AE8C4-3C27-4242-845B-D9CE1DD63BBC}"/>
              </a:ext>
            </a:extLst>
          </p:cNvPr>
          <p:cNvSpPr>
            <a:spLocks noGrp="1"/>
          </p:cNvSpPr>
          <p:nvPr/>
        </p:nvSpPr>
        <p:spPr>
          <a:xfrm>
            <a:off x="3733800" y="28194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规则 + LLM JSON 提炼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C2193C-B122-4F20-9253-FD26FA5992E0}"/>
              </a:ext>
            </a:extLst>
          </p:cNvPr>
          <p:cNvSpPr>
            <a:spLocks noGrp="1"/>
          </p:cNvSpPr>
          <p:nvPr/>
        </p:nvSpPr>
        <p:spPr>
          <a:xfrm>
            <a:off x="5886450" y="2743200"/>
            <a:ext cx="40005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470D1B-9788-4FF4-A9DB-63D3AF5DA28D}"/>
              </a:ext>
            </a:extLst>
          </p:cNvPr>
          <p:cNvSpPr>
            <a:spLocks noGrp="1"/>
          </p:cNvSpPr>
          <p:nvPr/>
        </p:nvSpPr>
        <p:spPr>
          <a:xfrm>
            <a:off x="6267450" y="263842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CF52520-0FAB-419A-9A05-644985E22224}"/>
              </a:ext>
            </a:extLst>
          </p:cNvPr>
          <p:cNvSpPr>
            <a:spLocks noGrp="1"/>
          </p:cNvSpPr>
          <p:nvPr/>
        </p:nvSpPr>
        <p:spPr>
          <a:xfrm>
            <a:off x="6553200" y="2343150"/>
            <a:ext cx="2190750" cy="876300"/>
          </a:xfrm>
          <a:prstGeom prst="roundRect">
            <a:avLst>
              <a:gd name="adj" fmla="val 2174"/>
            </a:avLst>
          </a:prstGeom>
          <a:solidFill>
            <a:srgbClr val="2B45D8"/>
          </a:solidFill>
          <a:ln w="9525">
            <a:solidFill>
              <a:srgbClr val="2B45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4F166E-14B2-4FEF-A7E3-454AED03A293}"/>
              </a:ext>
            </a:extLst>
          </p:cNvPr>
          <p:cNvSpPr>
            <a:spLocks noGrp="1"/>
          </p:cNvSpPr>
          <p:nvPr/>
        </p:nvSpPr>
        <p:spPr>
          <a:xfrm>
            <a:off x="6724650" y="25146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user_preference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A078BA-CC2F-4423-9467-49F6F7F28D4F}"/>
              </a:ext>
            </a:extLst>
          </p:cNvPr>
          <p:cNvSpPr>
            <a:spLocks noGrp="1"/>
          </p:cNvSpPr>
          <p:nvPr/>
        </p:nvSpPr>
        <p:spPr>
          <a:xfrm>
            <a:off x="6724650" y="28194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rPr>
              <a:t>upsert 权重封顶 2.0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81FB0A-ACBE-4EC1-BAD1-4BE8FF8604E7}"/>
              </a:ext>
            </a:extLst>
          </p:cNvPr>
          <p:cNvSpPr>
            <a:spLocks noGrp="1"/>
          </p:cNvSpPr>
          <p:nvPr/>
        </p:nvSpPr>
        <p:spPr>
          <a:xfrm>
            <a:off x="8858250" y="2743200"/>
            <a:ext cx="40005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60A9AB-92C8-495B-8B33-B0CCA5CFF9EF}"/>
              </a:ext>
            </a:extLst>
          </p:cNvPr>
          <p:cNvSpPr>
            <a:spLocks noGrp="1"/>
          </p:cNvSpPr>
          <p:nvPr/>
        </p:nvSpPr>
        <p:spPr>
          <a:xfrm>
            <a:off x="9239250" y="263842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1A4A3C0-AA4B-4DE8-A1D7-815FFBE5756E}"/>
              </a:ext>
            </a:extLst>
          </p:cNvPr>
          <p:cNvSpPr>
            <a:spLocks noGrp="1"/>
          </p:cNvSpPr>
          <p:nvPr/>
        </p:nvSpPr>
        <p:spPr>
          <a:xfrm>
            <a:off x="9525000" y="2343150"/>
            <a:ext cx="2000250" cy="8763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DC9115-742D-4185-A941-35145B37CCFA}"/>
              </a:ext>
            </a:extLst>
          </p:cNvPr>
          <p:cNvSpPr>
            <a:spLocks noGrp="1"/>
          </p:cNvSpPr>
          <p:nvPr/>
        </p:nvSpPr>
        <p:spPr>
          <a:xfrm>
            <a:off x="9696450" y="25146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推荐注入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FA807A-5D9B-4A05-8787-6AE7C9B01AFF}"/>
              </a:ext>
            </a:extLst>
          </p:cNvPr>
          <p:cNvSpPr>
            <a:spLocks noGrp="1"/>
          </p:cNvSpPr>
          <p:nvPr/>
        </p:nvSpPr>
        <p:spPr>
          <a:xfrm>
            <a:off x="9696450" y="281940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下次会话和首页优先考虑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EE3F3AC-C907-4E99-BFE1-FB1111FB54D7}"/>
              </a:ext>
            </a:extLst>
          </p:cNvPr>
          <p:cNvSpPr>
            <a:spLocks noGrp="1"/>
          </p:cNvSpPr>
          <p:nvPr/>
        </p:nvSpPr>
        <p:spPr>
          <a:xfrm>
            <a:off x="1695450" y="4095750"/>
            <a:ext cx="266700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F88AE3-DFB3-488B-8243-CCE0FCACD0CF}"/>
              </a:ext>
            </a:extLst>
          </p:cNvPr>
          <p:cNvSpPr>
            <a:spLocks noGrp="1"/>
          </p:cNvSpPr>
          <p:nvPr/>
        </p:nvSpPr>
        <p:spPr>
          <a:xfrm>
            <a:off x="1885950" y="42862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长期偏好读取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48DC6DE-0DE5-462D-8FBF-7AE81D133209}"/>
              </a:ext>
            </a:extLst>
          </p:cNvPr>
          <p:cNvSpPr>
            <a:spLocks noGrp="1"/>
          </p:cNvSpPr>
          <p:nvPr/>
        </p:nvSpPr>
        <p:spPr>
          <a:xfrm>
            <a:off x="1885950" y="455295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Top 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9240C0-DA62-432F-9B70-CDA037F6189C}"/>
              </a:ext>
            </a:extLst>
          </p:cNvPr>
          <p:cNvSpPr>
            <a:spLocks noGrp="1"/>
          </p:cNvSpPr>
          <p:nvPr/>
        </p:nvSpPr>
        <p:spPr>
          <a:xfrm>
            <a:off x="1885950" y="49720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system prompt 注入最高权重标签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CBD7584-E0E2-43C2-BB62-3FEB45F43F51}"/>
              </a:ext>
            </a:extLst>
          </p:cNvPr>
          <p:cNvSpPr>
            <a:spLocks noGrp="1"/>
          </p:cNvSpPr>
          <p:nvPr/>
        </p:nvSpPr>
        <p:spPr>
          <a:xfrm>
            <a:off x="4762500" y="4095750"/>
            <a:ext cx="266700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5CDF4B2-A619-4ED8-B1BA-CB14EFB748EE}"/>
              </a:ext>
            </a:extLst>
          </p:cNvPr>
          <p:cNvSpPr>
            <a:spLocks noGrp="1"/>
          </p:cNvSpPr>
          <p:nvPr/>
        </p:nvSpPr>
        <p:spPr>
          <a:xfrm>
            <a:off x="4953000" y="42862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权重策略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7467140-0F74-4886-8094-E9B5BE07C0BC}"/>
              </a:ext>
            </a:extLst>
          </p:cNvPr>
          <p:cNvSpPr>
            <a:spLocks noGrp="1"/>
          </p:cNvSpPr>
          <p:nvPr/>
        </p:nvSpPr>
        <p:spPr>
          <a:xfrm>
            <a:off x="4953000" y="455295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+0.1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203113E-5BDD-418F-A189-8FA5003D7E48}"/>
              </a:ext>
            </a:extLst>
          </p:cNvPr>
          <p:cNvSpPr>
            <a:spLocks noGrp="1"/>
          </p:cNvSpPr>
          <p:nvPr/>
        </p:nvSpPr>
        <p:spPr>
          <a:xfrm>
            <a:off x="4953000" y="49720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重复偏好递增，最高 2.0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F9A3020-6716-49F2-86F5-6A80EFD7A3E1}"/>
              </a:ext>
            </a:extLst>
          </p:cNvPr>
          <p:cNvSpPr>
            <a:spLocks noGrp="1"/>
          </p:cNvSpPr>
          <p:nvPr/>
        </p:nvSpPr>
        <p:spPr>
          <a:xfrm>
            <a:off x="7829550" y="4095750"/>
            <a:ext cx="266700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24F02B-F3B9-47D3-8684-C17F722C87DA}"/>
              </a:ext>
            </a:extLst>
          </p:cNvPr>
          <p:cNvSpPr>
            <a:spLocks noGrp="1"/>
          </p:cNvSpPr>
          <p:nvPr/>
        </p:nvSpPr>
        <p:spPr>
          <a:xfrm>
            <a:off x="8020050" y="42862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演示用户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7B725E2-B017-4408-B2D6-0D00DC4129AE}"/>
              </a:ext>
            </a:extLst>
          </p:cNvPr>
          <p:cNvSpPr>
            <a:spLocks noGrp="1"/>
          </p:cNvSpPr>
          <p:nvPr/>
        </p:nvSpPr>
        <p:spPr>
          <a:xfrm>
            <a:off x="8020050" y="455295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alice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25AFF00-B6D5-421E-9B84-C907ABC83717}"/>
              </a:ext>
            </a:extLst>
          </p:cNvPr>
          <p:cNvSpPr>
            <a:spLocks noGrp="1"/>
          </p:cNvSpPr>
          <p:nvPr/>
        </p:nvSpPr>
        <p:spPr>
          <a:xfrm>
            <a:off x="8020050" y="49720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已存在机械键盘等偏好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A1073A5-87D9-4406-92E5-83C9C610976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400349C-F617-4030-ADE6-F05CBC0F295A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0510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F79706A2-FA3C-4B91-9F11-B0D6C1D15CC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HIGHLIGHT 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293E68-0808-4773-AFB4-852CC5197C89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轻量 RAG 让回答受真实商品知识约束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047207A-151E-4B46-B8A2-8DE774E01520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232410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C66E2B-054F-4E5A-9F40-69F56F3CFDBC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知识块总量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F06105-B8A0-4D17-A7FF-BD2FE30BDDEC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88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3DB0F6-ACC6-4985-9CE7-74C5AA689FC8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当前 MySQL knowledge_chunk 查询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196B133-A5DF-4EC9-BBCD-00EB48C03409}"/>
              </a:ext>
            </a:extLst>
          </p:cNvPr>
          <p:cNvSpPr>
            <a:spLocks noGrp="1"/>
          </p:cNvSpPr>
          <p:nvPr/>
        </p:nvSpPr>
        <p:spPr>
          <a:xfrm>
            <a:off x="3276600" y="1676400"/>
            <a:ext cx="232410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B3AC5C-315F-40F8-A0C4-3D150ABE233E}"/>
              </a:ext>
            </a:extLst>
          </p:cNvPr>
          <p:cNvSpPr>
            <a:spLocks noGrp="1"/>
          </p:cNvSpPr>
          <p:nvPr/>
        </p:nvSpPr>
        <p:spPr>
          <a:xfrm>
            <a:off x="3467100" y="186690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商品块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563117-07D6-4BB9-B66A-B711A0AE71FC}"/>
              </a:ext>
            </a:extLst>
          </p:cNvPr>
          <p:cNvSpPr>
            <a:spLocks noGrp="1"/>
          </p:cNvSpPr>
          <p:nvPr/>
        </p:nvSpPr>
        <p:spPr>
          <a:xfrm>
            <a:off x="3467100" y="213360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60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675486-F0CE-4AFD-B580-73F586B9ED32}"/>
              </a:ext>
            </a:extLst>
          </p:cNvPr>
          <p:cNvSpPr>
            <a:spLocks noGrp="1"/>
          </p:cNvSpPr>
          <p:nvPr/>
        </p:nvSpPr>
        <p:spPr>
          <a:xfrm>
            <a:off x="3467100" y="2552700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 source_type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B5CCE47-CFFD-4D75-9E7A-8B5986E06888}"/>
              </a:ext>
            </a:extLst>
          </p:cNvPr>
          <p:cNvSpPr>
            <a:spLocks noGrp="1"/>
          </p:cNvSpPr>
          <p:nvPr/>
        </p:nvSpPr>
        <p:spPr>
          <a:xfrm>
            <a:off x="5867400" y="1676400"/>
            <a:ext cx="232410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FFCC2C-A23B-422B-8217-3D2B1FE15726}"/>
              </a:ext>
            </a:extLst>
          </p:cNvPr>
          <p:cNvSpPr>
            <a:spLocks noGrp="1"/>
          </p:cNvSpPr>
          <p:nvPr/>
        </p:nvSpPr>
        <p:spPr>
          <a:xfrm>
            <a:off x="6057900" y="186690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评价块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1F929B-9B81-41C1-A7C5-62B88054DB85}"/>
              </a:ext>
            </a:extLst>
          </p:cNvPr>
          <p:cNvSpPr>
            <a:spLocks noGrp="1"/>
          </p:cNvSpPr>
          <p:nvPr/>
        </p:nvSpPr>
        <p:spPr>
          <a:xfrm>
            <a:off x="6057900" y="213360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D370FF-2BF2-4517-999F-9A51C8C39625}"/>
              </a:ext>
            </a:extLst>
          </p:cNvPr>
          <p:cNvSpPr>
            <a:spLocks noGrp="1"/>
          </p:cNvSpPr>
          <p:nvPr/>
        </p:nvSpPr>
        <p:spPr>
          <a:xfrm>
            <a:off x="6057900" y="2552700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review source_type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005A3CF-7C8D-47B5-9270-72640D3FD308}"/>
              </a:ext>
            </a:extLst>
          </p:cNvPr>
          <p:cNvSpPr>
            <a:spLocks noGrp="1"/>
          </p:cNvSpPr>
          <p:nvPr/>
        </p:nvSpPr>
        <p:spPr>
          <a:xfrm>
            <a:off x="8458200" y="1676400"/>
            <a:ext cx="232410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81E6A1-FB5A-4D15-8D0B-8F41D8BF915A}"/>
              </a:ext>
            </a:extLst>
          </p:cNvPr>
          <p:cNvSpPr>
            <a:spLocks noGrp="1"/>
          </p:cNvSpPr>
          <p:nvPr/>
        </p:nvSpPr>
        <p:spPr>
          <a:xfrm>
            <a:off x="8648700" y="1866900"/>
            <a:ext cx="1943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FAQ 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D858AA-03DE-405A-8747-72C209499C55}"/>
              </a:ext>
            </a:extLst>
          </p:cNvPr>
          <p:cNvSpPr>
            <a:spLocks noGrp="1"/>
          </p:cNvSpPr>
          <p:nvPr/>
        </p:nvSpPr>
        <p:spPr>
          <a:xfrm>
            <a:off x="8648700" y="213360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1AC75A-6F4A-435F-BE5E-97AF9AF112D6}"/>
              </a:ext>
            </a:extLst>
          </p:cNvPr>
          <p:cNvSpPr>
            <a:spLocks noGrp="1"/>
          </p:cNvSpPr>
          <p:nvPr/>
        </p:nvSpPr>
        <p:spPr>
          <a:xfrm>
            <a:off x="8648700" y="2552700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faq source_type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06E558E-2391-4BD5-B6BA-939CDEDC3160}"/>
              </a:ext>
            </a:extLst>
          </p:cNvPr>
          <p:cNvSpPr>
            <a:spLocks noGrp="1"/>
          </p:cNvSpPr>
          <p:nvPr/>
        </p:nvSpPr>
        <p:spPr>
          <a:xfrm>
            <a:off x="990600" y="3733800"/>
            <a:ext cx="1809750" cy="7810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30EF404-5D33-4081-9991-D826ACF79C3D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商品描述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AC65E0A-9EDC-4F5E-88A6-CB4B9732EE76}"/>
              </a:ext>
            </a:extLst>
          </p:cNvPr>
          <p:cNvSpPr>
            <a:spLocks noGrp="1"/>
          </p:cNvSpPr>
          <p:nvPr/>
        </p:nvSpPr>
        <p:spPr>
          <a:xfrm>
            <a:off x="1162050" y="42100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492F46-FAF9-4119-949B-1A9092174605}"/>
              </a:ext>
            </a:extLst>
          </p:cNvPr>
          <p:cNvSpPr>
            <a:spLocks noGrp="1"/>
          </p:cNvSpPr>
          <p:nvPr/>
        </p:nvSpPr>
        <p:spPr>
          <a:xfrm>
            <a:off x="2914650" y="4048125"/>
            <a:ext cx="32385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812213-4380-48B9-B957-991ECAB2DDA7}"/>
              </a:ext>
            </a:extLst>
          </p:cNvPr>
          <p:cNvSpPr>
            <a:spLocks noGrp="1"/>
          </p:cNvSpPr>
          <p:nvPr/>
        </p:nvSpPr>
        <p:spPr>
          <a:xfrm>
            <a:off x="3219450" y="39433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E4F7A8B-1195-4817-8FE1-8123437D729C}"/>
              </a:ext>
            </a:extLst>
          </p:cNvPr>
          <p:cNvSpPr>
            <a:spLocks noGrp="1"/>
          </p:cNvSpPr>
          <p:nvPr/>
        </p:nvSpPr>
        <p:spPr>
          <a:xfrm>
            <a:off x="3371850" y="3733800"/>
            <a:ext cx="1809750" cy="7810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E6DF6D1-7A17-4598-9388-11CFB127B601}"/>
              </a:ext>
            </a:extLst>
          </p:cNvPr>
          <p:cNvSpPr>
            <a:spLocks noGrp="1"/>
          </p:cNvSpPr>
          <p:nvPr/>
        </p:nvSpPr>
        <p:spPr>
          <a:xfrm>
            <a:off x="3543300" y="39052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评价与 FAQ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64751BE-5815-4C57-9582-77438E75C955}"/>
              </a:ext>
            </a:extLst>
          </p:cNvPr>
          <p:cNvSpPr>
            <a:spLocks noGrp="1"/>
          </p:cNvSpPr>
          <p:nvPr/>
        </p:nvSpPr>
        <p:spPr>
          <a:xfrm>
            <a:off x="3543300" y="42100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review / faq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F515E19-3B4D-4121-A18E-DAB93DCCB6FC}"/>
              </a:ext>
            </a:extLst>
          </p:cNvPr>
          <p:cNvSpPr>
            <a:spLocks noGrp="1"/>
          </p:cNvSpPr>
          <p:nvPr/>
        </p:nvSpPr>
        <p:spPr>
          <a:xfrm>
            <a:off x="5314950" y="4048125"/>
            <a:ext cx="32385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AE5237A-9DC7-473C-98A8-DCEBF530D579}"/>
              </a:ext>
            </a:extLst>
          </p:cNvPr>
          <p:cNvSpPr>
            <a:spLocks noGrp="1"/>
          </p:cNvSpPr>
          <p:nvPr/>
        </p:nvSpPr>
        <p:spPr>
          <a:xfrm>
            <a:off x="5619750" y="39433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5C9AAFB-0FFC-452B-A966-075678935B90}"/>
              </a:ext>
            </a:extLst>
          </p:cNvPr>
          <p:cNvSpPr>
            <a:spLocks noGrp="1"/>
          </p:cNvSpPr>
          <p:nvPr/>
        </p:nvSpPr>
        <p:spPr>
          <a:xfrm>
            <a:off x="5772150" y="3733800"/>
            <a:ext cx="2095500" cy="781050"/>
          </a:xfrm>
          <a:prstGeom prst="roundRect">
            <a:avLst>
              <a:gd name="adj" fmla="val 2439"/>
            </a:avLst>
          </a:prstGeom>
          <a:solidFill>
            <a:srgbClr val="2B45D8"/>
          </a:solidFill>
          <a:ln w="9525">
            <a:solidFill>
              <a:srgbClr val="2B45D8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CA769D-49C8-48F0-9C3E-F566A1788870}"/>
              </a:ext>
            </a:extLst>
          </p:cNvPr>
          <p:cNvSpPr>
            <a:spLocks noGrp="1"/>
          </p:cNvSpPr>
          <p:nvPr/>
        </p:nvSpPr>
        <p:spPr>
          <a:xfrm>
            <a:off x="5943600" y="3905250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knowledge_chunk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82390C2-DCAE-4C86-9D2C-179A42EA4AFA}"/>
              </a:ext>
            </a:extLst>
          </p:cNvPr>
          <p:cNvSpPr>
            <a:spLocks noGrp="1"/>
          </p:cNvSpPr>
          <p:nvPr/>
        </p:nvSpPr>
        <p:spPr>
          <a:xfrm>
            <a:off x="5943600" y="421005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rPr>
              <a:t>轻量知识库表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F97F219-B4E7-4FDB-ACA8-2EF6058E5FAB}"/>
              </a:ext>
            </a:extLst>
          </p:cNvPr>
          <p:cNvSpPr>
            <a:spLocks noGrp="1"/>
          </p:cNvSpPr>
          <p:nvPr/>
        </p:nvSpPr>
        <p:spPr>
          <a:xfrm>
            <a:off x="8020050" y="4048125"/>
            <a:ext cx="32385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E52638D-2AA9-45B4-B823-A97A03577166}"/>
              </a:ext>
            </a:extLst>
          </p:cNvPr>
          <p:cNvSpPr>
            <a:spLocks noGrp="1"/>
          </p:cNvSpPr>
          <p:nvPr/>
        </p:nvSpPr>
        <p:spPr>
          <a:xfrm>
            <a:off x="8324850" y="39433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E578F97-6811-482F-8FA0-B2631B2B3302}"/>
              </a:ext>
            </a:extLst>
          </p:cNvPr>
          <p:cNvSpPr>
            <a:spLocks noGrp="1"/>
          </p:cNvSpPr>
          <p:nvPr/>
        </p:nvSpPr>
        <p:spPr>
          <a:xfrm>
            <a:off x="8496300" y="3733800"/>
            <a:ext cx="2286000" cy="7810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3982BC1-66D4-41FE-A9CC-E898A511E318}"/>
              </a:ext>
            </a:extLst>
          </p:cNvPr>
          <p:cNvSpPr>
            <a:spLocks noGrp="1"/>
          </p:cNvSpPr>
          <p:nvPr/>
        </p:nvSpPr>
        <p:spPr>
          <a:xfrm>
            <a:off x="8667750" y="3905250"/>
            <a:ext cx="1943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search_knowledge_base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537E8A-6669-41ED-88DE-9F4BB8B80A73}"/>
              </a:ext>
            </a:extLst>
          </p:cNvPr>
          <p:cNvSpPr>
            <a:spLocks noGrp="1"/>
          </p:cNvSpPr>
          <p:nvPr/>
        </p:nvSpPr>
        <p:spPr>
          <a:xfrm>
            <a:off x="8667750" y="421005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Agent 工具调用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7D9DE24-AD05-40CE-98C0-4249849BEC49}"/>
              </a:ext>
            </a:extLst>
          </p:cNvPr>
          <p:cNvSpPr>
            <a:spLocks noGrp="1"/>
          </p:cNvSpPr>
          <p:nvPr/>
        </p:nvSpPr>
        <p:spPr>
          <a:xfrm>
            <a:off x="1181100" y="52197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RAG 在这里不是向量数据库大工程，而是围绕商品、评价和 FAQ 的可演示轻量检索。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BA6338C-14B0-451B-B57D-922E5A3B09F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89D1A20-C0E8-4CD0-A2C9-DC643B4ED06B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6372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764B9C63-049E-493F-AD27-983789D33377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HIGHLIGHT 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522CD1-0956-45DB-9EC5-38FC51DEFAE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结构化 </a:t>
            </a:r>
            <a:r>
              <a:rPr lang="en-US" altLang="zh-CN" sz="2800" b="1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Agent </a:t>
            </a:r>
            <a:r>
              <a:rPr lang="zh-CN" altLang="en-US" sz="2800" b="1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工作台：从问答走到可确认的购买方案</a:t>
            </a:r>
            <a:endParaRPr sz="2800" b="1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9FE402-E728-4BC3-A201-E42B1146E68E}"/>
              </a:ext>
            </a:extLst>
          </p:cNvPr>
          <p:cNvSpPr>
            <a:spLocks noGrp="1"/>
          </p:cNvSpPr>
          <p:nvPr/>
        </p:nvSpPr>
        <p:spPr>
          <a:xfrm>
            <a:off x="781050" y="19431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67CBEF9-FB0B-4A06-8F1C-2C15FEB62B8F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685800" cy="685800"/>
          </a:xfrm>
          <a:prstGeom prst="roundRect">
            <a:avLst>
              <a:gd name="adj" fmla="val 2778"/>
            </a:avLst>
          </a:prstGeom>
          <a:solidFill>
            <a:srgbClr val="2B45D8"/>
          </a:solidFill>
          <a:ln w="9525">
            <a:solidFill>
              <a:srgbClr val="2B45D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6A94AF-04AB-48DE-9279-59C87B9499F7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5CBB07-5DF0-496B-BF98-D170EDBE6507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识别场景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D72B72-63D9-41D8-8116-A42AA87E5A90}"/>
              </a:ext>
            </a:extLst>
          </p:cNvPr>
          <p:cNvSpPr>
            <a:spLocks noGrp="1"/>
          </p:cNvSpPr>
          <p:nvPr/>
        </p:nvSpPr>
        <p:spPr>
          <a:xfrm>
            <a:off x="381000" y="320040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户外跑步 </a:t>
            </a:r>
            <a:r>
              <a:rPr lang="en-US" altLang="zh-CN" sz="12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12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新手 </a:t>
            </a:r>
            <a:r>
              <a:rPr lang="en-US" altLang="zh-CN" sz="12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12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预算缺失</a:t>
            </a:r>
            <a:endParaRPr sz="1200" b="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96D736-C7ED-409B-94B0-AB671F719D25}"/>
              </a:ext>
            </a:extLst>
          </p:cNvPr>
          <p:cNvSpPr>
            <a:spLocks noGrp="1"/>
          </p:cNvSpPr>
          <p:nvPr/>
        </p:nvSpPr>
        <p:spPr>
          <a:xfrm>
            <a:off x="1543050" y="2219325"/>
            <a:ext cx="57150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CBEE49-D437-4044-AEEF-BD228F0B89A3}"/>
              </a:ext>
            </a:extLst>
          </p:cNvPr>
          <p:cNvSpPr>
            <a:spLocks noGrp="1"/>
          </p:cNvSpPr>
          <p:nvPr/>
        </p:nvSpPr>
        <p:spPr>
          <a:xfrm>
            <a:off x="2095500" y="21145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018E71-447A-42B8-9260-226D95563344}"/>
              </a:ext>
            </a:extLst>
          </p:cNvPr>
          <p:cNvSpPr>
            <a:spLocks noGrp="1"/>
          </p:cNvSpPr>
          <p:nvPr/>
        </p:nvSpPr>
        <p:spPr>
          <a:xfrm>
            <a:off x="2971800" y="19431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F21EF3A-86E8-4AD8-BC27-00F179EA9EAA}"/>
              </a:ext>
            </a:extLst>
          </p:cNvPr>
          <p:cNvSpPr>
            <a:spLocks noGrp="1"/>
          </p:cNvSpPr>
          <p:nvPr/>
        </p:nvSpPr>
        <p:spPr>
          <a:xfrm>
            <a:off x="2876550" y="1866900"/>
            <a:ext cx="685800" cy="685800"/>
          </a:xfrm>
          <a:prstGeom prst="roundRect">
            <a:avLst>
              <a:gd name="adj" fmla="val 2778"/>
            </a:avLst>
          </a:prstGeom>
          <a:solidFill>
            <a:srgbClr val="2B45D8"/>
          </a:solidFill>
          <a:ln w="9525">
            <a:solidFill>
              <a:srgbClr val="2B45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3C8284-71A4-442E-BA53-79939ADF24A9}"/>
              </a:ext>
            </a:extLst>
          </p:cNvPr>
          <p:cNvSpPr>
            <a:spLocks noGrp="1"/>
          </p:cNvSpPr>
          <p:nvPr/>
        </p:nvSpPr>
        <p:spPr>
          <a:xfrm>
            <a:off x="2971800" y="20002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1C1AD0-7FB1-4A01-9FE1-B47A190BB919}"/>
              </a:ext>
            </a:extLst>
          </p:cNvPr>
          <p:cNvSpPr>
            <a:spLocks noGrp="1"/>
          </p:cNvSpPr>
          <p:nvPr/>
        </p:nvSpPr>
        <p:spPr>
          <a:xfrm>
            <a:off x="2743200" y="28765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单轮澄清</a:t>
            </a:r>
            <a:endParaRPr sz="1600" b="1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2A6D44-DE23-4180-9ED0-024630761B13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只追问缺失预算，不调用工具</a:t>
            </a:r>
            <a:endParaRPr sz="1200" b="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A8CAF4-C4C9-4797-A935-F06A6F07C21C}"/>
              </a:ext>
            </a:extLst>
          </p:cNvPr>
          <p:cNvSpPr>
            <a:spLocks noGrp="1"/>
          </p:cNvSpPr>
          <p:nvPr/>
        </p:nvSpPr>
        <p:spPr>
          <a:xfrm>
            <a:off x="3733800" y="2219325"/>
            <a:ext cx="57150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FB5F81B-56FB-4F45-B0CB-1E7C6B45F4B4}"/>
              </a:ext>
            </a:extLst>
          </p:cNvPr>
          <p:cNvSpPr>
            <a:spLocks noGrp="1"/>
          </p:cNvSpPr>
          <p:nvPr/>
        </p:nvSpPr>
        <p:spPr>
          <a:xfrm>
            <a:off x="4286250" y="21145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2FFD04-63AE-4B1D-8EA3-7C9325C4DBF9}"/>
              </a:ext>
            </a:extLst>
          </p:cNvPr>
          <p:cNvSpPr>
            <a:spLocks noGrp="1"/>
          </p:cNvSpPr>
          <p:nvPr/>
        </p:nvSpPr>
        <p:spPr>
          <a:xfrm>
            <a:off x="5162550" y="19431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A765FAA-37C5-49E1-B66C-46A59EDB4006}"/>
              </a:ext>
            </a:extLst>
          </p:cNvPr>
          <p:cNvSpPr>
            <a:spLocks noGrp="1"/>
          </p:cNvSpPr>
          <p:nvPr/>
        </p:nvSpPr>
        <p:spPr>
          <a:xfrm>
            <a:off x="5067300" y="1866900"/>
            <a:ext cx="685800" cy="685800"/>
          </a:xfrm>
          <a:prstGeom prst="roundRect">
            <a:avLst>
              <a:gd name="adj" fmla="val 2778"/>
            </a:avLst>
          </a:prstGeom>
          <a:solidFill>
            <a:srgbClr val="2B45D8"/>
          </a:solidFill>
          <a:ln w="9525">
            <a:solidFill>
              <a:srgbClr val="2B45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6C680A-065C-4076-A422-8DEABF07E123}"/>
              </a:ext>
            </a:extLst>
          </p:cNvPr>
          <p:cNvSpPr>
            <a:spLocks noGrp="1"/>
          </p:cNvSpPr>
          <p:nvPr/>
        </p:nvSpPr>
        <p:spPr>
          <a:xfrm>
            <a:off x="5162550" y="20002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729927-8B95-40A1-8117-9632E558196A}"/>
              </a:ext>
            </a:extLst>
          </p:cNvPr>
          <p:cNvSpPr>
            <a:spLocks noGrp="1"/>
          </p:cNvSpPr>
          <p:nvPr/>
        </p:nvSpPr>
        <p:spPr>
          <a:xfrm>
            <a:off x="4933950" y="28765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检索核验</a:t>
            </a:r>
            <a:endParaRPr sz="1600" b="1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9D48AAB-8227-4208-BCD2-04B37F681716}"/>
              </a:ext>
            </a:extLst>
          </p:cNvPr>
          <p:cNvSpPr>
            <a:spLocks noGrp="1"/>
          </p:cNvSpPr>
          <p:nvPr/>
        </p:nvSpPr>
        <p:spPr>
          <a:xfrm>
            <a:off x="4762500" y="320040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search_products + knowledge_base</a:t>
            </a:r>
            <a:endParaRPr sz="1200" b="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6325E46-26C8-4190-9F4F-62BEAD393E56}"/>
              </a:ext>
            </a:extLst>
          </p:cNvPr>
          <p:cNvSpPr>
            <a:spLocks noGrp="1"/>
          </p:cNvSpPr>
          <p:nvPr/>
        </p:nvSpPr>
        <p:spPr>
          <a:xfrm>
            <a:off x="5924550" y="2219325"/>
            <a:ext cx="57150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5D2DDA-F6FD-4546-8B31-C23D8F277D57}"/>
              </a:ext>
            </a:extLst>
          </p:cNvPr>
          <p:cNvSpPr>
            <a:spLocks noGrp="1"/>
          </p:cNvSpPr>
          <p:nvPr/>
        </p:nvSpPr>
        <p:spPr>
          <a:xfrm>
            <a:off x="6477000" y="21145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CFF104F-2798-4F66-93B3-A029297987FB}"/>
              </a:ext>
            </a:extLst>
          </p:cNvPr>
          <p:cNvSpPr>
            <a:spLocks noGrp="1"/>
          </p:cNvSpPr>
          <p:nvPr/>
        </p:nvSpPr>
        <p:spPr>
          <a:xfrm>
            <a:off x="7353300" y="19431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AA1B62F-3D61-44BD-8766-F85A2C539C76}"/>
              </a:ext>
            </a:extLst>
          </p:cNvPr>
          <p:cNvSpPr>
            <a:spLocks noGrp="1"/>
          </p:cNvSpPr>
          <p:nvPr/>
        </p:nvSpPr>
        <p:spPr>
          <a:xfrm>
            <a:off x="7258050" y="1866900"/>
            <a:ext cx="685800" cy="685800"/>
          </a:xfrm>
          <a:prstGeom prst="roundRect">
            <a:avLst>
              <a:gd name="adj" fmla="val 2778"/>
            </a:avLst>
          </a:prstGeom>
          <a:solidFill>
            <a:srgbClr val="2B45D8"/>
          </a:solidFill>
          <a:ln w="9525">
            <a:solidFill>
              <a:srgbClr val="2B45D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BCCE589-8597-4C78-8FD8-F1E0770CC21A}"/>
              </a:ext>
            </a:extLst>
          </p:cNvPr>
          <p:cNvSpPr>
            <a:spLocks noGrp="1"/>
          </p:cNvSpPr>
          <p:nvPr/>
        </p:nvSpPr>
        <p:spPr>
          <a:xfrm>
            <a:off x="7353300" y="20002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7CCE755-2311-4E0A-AE33-0A2016A32875}"/>
              </a:ext>
            </a:extLst>
          </p:cNvPr>
          <p:cNvSpPr>
            <a:spLocks noGrp="1"/>
          </p:cNvSpPr>
          <p:nvPr/>
        </p:nvSpPr>
        <p:spPr>
          <a:xfrm>
            <a:off x="7124700" y="28765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生成方案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A479ED4-5265-4E37-8CAB-1472A071EC56}"/>
              </a:ext>
            </a:extLst>
          </p:cNvPr>
          <p:cNvSpPr>
            <a:spLocks noGrp="1"/>
          </p:cNvSpPr>
          <p:nvPr/>
        </p:nvSpPr>
        <p:spPr>
          <a:xfrm>
            <a:off x="6953250" y="320040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build_purchase_plan + productCards</a:t>
            </a:r>
            <a:endParaRPr sz="1200" b="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8A57B30-8DB5-4191-B941-4E385FEE0406}"/>
              </a:ext>
            </a:extLst>
          </p:cNvPr>
          <p:cNvSpPr>
            <a:spLocks noGrp="1"/>
          </p:cNvSpPr>
          <p:nvPr/>
        </p:nvSpPr>
        <p:spPr>
          <a:xfrm>
            <a:off x="8115300" y="2219325"/>
            <a:ext cx="57150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61831A7-5718-40E1-B7B8-35CFA18D3531}"/>
              </a:ext>
            </a:extLst>
          </p:cNvPr>
          <p:cNvSpPr>
            <a:spLocks noGrp="1"/>
          </p:cNvSpPr>
          <p:nvPr/>
        </p:nvSpPr>
        <p:spPr>
          <a:xfrm>
            <a:off x="8667750" y="21145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DF167D-E5B1-47C3-B0EF-0FF7B9477F5D}"/>
              </a:ext>
            </a:extLst>
          </p:cNvPr>
          <p:cNvSpPr>
            <a:spLocks noGrp="1"/>
          </p:cNvSpPr>
          <p:nvPr/>
        </p:nvSpPr>
        <p:spPr>
          <a:xfrm>
            <a:off x="9544050" y="19431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C467FB8-0138-4A26-B071-4CE791D34EF2}"/>
              </a:ext>
            </a:extLst>
          </p:cNvPr>
          <p:cNvSpPr>
            <a:spLocks noGrp="1"/>
          </p:cNvSpPr>
          <p:nvPr/>
        </p:nvSpPr>
        <p:spPr>
          <a:xfrm>
            <a:off x="9448800" y="1866900"/>
            <a:ext cx="685800" cy="685800"/>
          </a:xfrm>
          <a:prstGeom prst="roundRect">
            <a:avLst>
              <a:gd name="adj" fmla="val 2778"/>
            </a:avLst>
          </a:prstGeom>
          <a:solidFill>
            <a:srgbClr val="2B45D8"/>
          </a:solidFill>
          <a:ln w="9525">
            <a:solidFill>
              <a:srgbClr val="2B45D8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82F9C16-4B37-4401-8300-5594CABE95A0}"/>
              </a:ext>
            </a:extLst>
          </p:cNvPr>
          <p:cNvSpPr>
            <a:spLocks noGrp="1"/>
          </p:cNvSpPr>
          <p:nvPr/>
        </p:nvSpPr>
        <p:spPr>
          <a:xfrm>
            <a:off x="9544050" y="20002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4CF47B7-210E-446E-804C-4AC86A69C933}"/>
              </a:ext>
            </a:extLst>
          </p:cNvPr>
          <p:cNvSpPr>
            <a:spLocks noGrp="1"/>
          </p:cNvSpPr>
          <p:nvPr/>
        </p:nvSpPr>
        <p:spPr>
          <a:xfrm>
            <a:off x="9315450" y="28765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确认执行</a:t>
            </a:r>
            <a:endParaRPr sz="1600" b="1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BB1219E-E6CB-4451-8E9B-5EEF475D0129}"/>
              </a:ext>
            </a:extLst>
          </p:cNvPr>
          <p:cNvSpPr>
            <a:spLocks noGrp="1"/>
          </p:cNvSpPr>
          <p:nvPr/>
        </p:nvSpPr>
        <p:spPr>
          <a:xfrm>
            <a:off x="9144000" y="320040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suggestedActions 后 add_to_cart</a:t>
            </a:r>
            <a:endParaRPr sz="1200" b="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30ECF69-9808-40B8-848C-18671F349601}"/>
              </a:ext>
            </a:extLst>
          </p:cNvPr>
          <p:cNvSpPr>
            <a:spLocks noGrp="1"/>
          </p:cNvSpPr>
          <p:nvPr/>
        </p:nvSpPr>
        <p:spPr>
          <a:xfrm>
            <a:off x="1809750" y="4495800"/>
            <a:ext cx="8572500" cy="7810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0B08ED8-0667-45B3-ACE4-9BD1C8E7EA8F}"/>
              </a:ext>
            </a:extLst>
          </p:cNvPr>
          <p:cNvSpPr>
            <a:spLocks noGrp="1"/>
          </p:cNvSpPr>
          <p:nvPr/>
        </p:nvSpPr>
        <p:spPr>
          <a:xfrm>
            <a:off x="2152650" y="4705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2B45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输出合同</a:t>
            </a:r>
            <a:endParaRPr sz="1500" b="1">
              <a:solidFill>
                <a:srgbClr val="2B45D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C89EF26-EE0E-466B-87DA-A2C5FDD9B769}"/>
              </a:ext>
            </a:extLst>
          </p:cNvPr>
          <p:cNvSpPr>
            <a:spLocks noGrp="1"/>
          </p:cNvSpPr>
          <p:nvPr/>
        </p:nvSpPr>
        <p:spPr>
          <a:xfrm>
            <a:off x="3429000" y="4695825"/>
            <a:ext cx="628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ChatUi </a:t>
            </a:r>
            <a:r>
              <a:rPr lang="zh-CN" altLang="en-US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将 </a:t>
            </a:r>
            <a:r>
              <a:rPr lang="en-US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productCards、agentTask、suggestedActions、source </a:t>
            </a:r>
            <a:r>
              <a:rPr lang="zh-CN" altLang="en-US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交给前端稳定渲染；最新版烟测已覆盖计划生成、</a:t>
            </a:r>
            <a:r>
              <a:rPr lang="en-US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SSE </a:t>
            </a:r>
            <a:r>
              <a:rPr lang="zh-CN" altLang="en-US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流式事件与确认加购。</a:t>
            </a:r>
            <a:endParaRPr sz="1300" b="0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2897314-B8D8-412A-B6CD-688859E9FE6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12AD52A-5176-4EB5-9FF4-8FA03C6AD658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9665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696D01A5-6D39-4CFC-9351-4AA3226FE750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HIGHLIGHT 04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3EF390-A35D-4C19-BFC4-9430E404D00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动效工程留下了可隔离、可复测的诊断入口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FE14688-542C-4AAD-B929-258BB6F494C8}"/>
              </a:ext>
            </a:extLst>
          </p:cNvPr>
          <p:cNvSpPr>
            <a:spLocks noGrp="1"/>
          </p:cNvSpPr>
          <p:nvPr/>
        </p:nvSpPr>
        <p:spPr>
          <a:xfrm>
            <a:off x="933450" y="2000250"/>
            <a:ext cx="2857500" cy="12192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3970CC-D435-45A5-8D8B-D4AA76093163}"/>
              </a:ext>
            </a:extLst>
          </p:cNvPr>
          <p:cNvSpPr>
            <a:spLocks noGrp="1"/>
          </p:cNvSpPr>
          <p:nvPr/>
        </p:nvSpPr>
        <p:spPr>
          <a:xfrm>
            <a:off x="1123950" y="2190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诊断开关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387339-0D4B-49BF-8CE3-60CDCD96FCAD}"/>
              </a:ext>
            </a:extLst>
          </p:cNvPr>
          <p:cNvSpPr>
            <a:spLocks noGrp="1"/>
          </p:cNvSpPr>
          <p:nvPr/>
        </p:nvSpPr>
        <p:spPr>
          <a:xfrm>
            <a:off x="1123950" y="245745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42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20FBB-E04E-4EAF-A7BE-738F3226E777}"/>
              </a:ext>
            </a:extLst>
          </p:cNvPr>
          <p:cNvSpPr>
            <a:spLocks noGrp="1"/>
          </p:cNvSpPr>
          <p:nvPr/>
        </p:nvSpPr>
        <p:spPr>
          <a:xfrm>
            <a:off x="1123950" y="28765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knownFx 效果项可单独开关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7439DFF-B589-4332-978B-531C00E8FD5D}"/>
              </a:ext>
            </a:extLst>
          </p:cNvPr>
          <p:cNvSpPr>
            <a:spLocks noGrp="1"/>
          </p:cNvSpPr>
          <p:nvPr/>
        </p:nvSpPr>
        <p:spPr>
          <a:xfrm>
            <a:off x="4667250" y="2000250"/>
            <a:ext cx="2857500" cy="12192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ACAB50-B05E-4479-8FB8-A54EBE371D9E}"/>
              </a:ext>
            </a:extLst>
          </p:cNvPr>
          <p:cNvSpPr>
            <a:spLocks noGrp="1"/>
          </p:cNvSpPr>
          <p:nvPr/>
        </p:nvSpPr>
        <p:spPr>
          <a:xfrm>
            <a:off x="4857750" y="2190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构建校验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044BBA-B283-44DB-9708-3D51137EDE82}"/>
              </a:ext>
            </a:extLst>
          </p:cNvPr>
          <p:cNvSpPr>
            <a:spLocks noGrp="1"/>
          </p:cNvSpPr>
          <p:nvPr/>
        </p:nvSpPr>
        <p:spPr>
          <a:xfrm>
            <a:off x="4857750" y="245745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072522-BD68-4669-B8E8-72FD3C81B750}"/>
              </a:ext>
            </a:extLst>
          </p:cNvPr>
          <p:cNvSpPr>
            <a:spLocks noGrp="1"/>
          </p:cNvSpPr>
          <p:nvPr/>
        </p:nvSpPr>
        <p:spPr>
          <a:xfrm>
            <a:off x="4857750" y="28765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普通构建与 VITE_PERF_HUD 构建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3F09D3B-A703-4A38-A9B1-09B65F4FF5CC}"/>
              </a:ext>
            </a:extLst>
          </p:cNvPr>
          <p:cNvSpPr>
            <a:spLocks noGrp="1"/>
          </p:cNvSpPr>
          <p:nvPr/>
        </p:nvSpPr>
        <p:spPr>
          <a:xfrm>
            <a:off x="8401050" y="2000250"/>
            <a:ext cx="2857500" cy="12192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8AC8C2-57A2-4142-9F97-1513F3BCCC0A}"/>
              </a:ext>
            </a:extLst>
          </p:cNvPr>
          <p:cNvSpPr>
            <a:spLocks noGrp="1"/>
          </p:cNvSpPr>
          <p:nvPr/>
        </p:nvSpPr>
        <p:spPr>
          <a:xfrm>
            <a:off x="8591550" y="2190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真实测量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6B6DB8-CB35-4171-8D53-A869866910BE}"/>
              </a:ext>
            </a:extLst>
          </p:cNvPr>
          <p:cNvSpPr>
            <a:spLocks noGrp="1"/>
          </p:cNvSpPr>
          <p:nvPr/>
        </p:nvSpPr>
        <p:spPr>
          <a:xfrm>
            <a:off x="8591550" y="245745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CDP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D92D00-731F-4691-BC08-75AE64E56E52}"/>
              </a:ext>
            </a:extLst>
          </p:cNvPr>
          <p:cNvSpPr>
            <a:spLocks noGrp="1"/>
          </p:cNvSpPr>
          <p:nvPr/>
        </p:nvSpPr>
        <p:spPr>
          <a:xfrm>
            <a:off x="8591550" y="28765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perf-real-browser.mjs 连接 Chrome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6DEE21-2504-4268-97A1-C910CC54DB22}"/>
              </a:ext>
            </a:extLst>
          </p:cNvPr>
          <p:cNvSpPr>
            <a:spLocks noGrp="1"/>
          </p:cNvSpPr>
          <p:nvPr/>
        </p:nvSpPr>
        <p:spPr>
          <a:xfrm>
            <a:off x="1200150" y="406717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F9A6A4-4328-4EA5-8C4A-8CFB39DE8953}"/>
              </a:ext>
            </a:extLst>
          </p:cNvPr>
          <p:cNvSpPr>
            <a:spLocks noGrp="1"/>
          </p:cNvSpPr>
          <p:nvPr/>
        </p:nvSpPr>
        <p:spPr>
          <a:xfrm>
            <a:off x="1409700" y="40005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性能页不把“好看”当结论，而是把每个动画拆成可关闭、可单测的开关。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75C3C2-4FED-43D7-BF54-780BA33BB6D9}"/>
              </a:ext>
            </a:extLst>
          </p:cNvPr>
          <p:cNvSpPr>
            <a:spLocks noGrp="1"/>
          </p:cNvSpPr>
          <p:nvPr/>
        </p:nvSpPr>
        <p:spPr>
          <a:xfrm>
            <a:off x="1200150" y="448627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8A0DA6-681C-40E4-AE51-7266FC407B0F}"/>
              </a:ext>
            </a:extLst>
          </p:cNvPr>
          <p:cNvSpPr>
            <a:spLocks noGrp="1"/>
          </p:cNvSpPr>
          <p:nvPr/>
        </p:nvSpPr>
        <p:spPr>
          <a:xfrm>
            <a:off x="1409700" y="44196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当前文档明确记录：本次未连接到 localhost:9222，因此不伪造 FPS 数字。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58CDFA-E01D-4587-9F14-B9059A2DBF92}"/>
              </a:ext>
            </a:extLst>
          </p:cNvPr>
          <p:cNvSpPr>
            <a:spLocks noGrp="1"/>
          </p:cNvSpPr>
          <p:nvPr/>
        </p:nvSpPr>
        <p:spPr>
          <a:xfrm>
            <a:off x="1200150" y="490537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2798B7-3154-43A5-9C02-4C91AF432C59}"/>
              </a:ext>
            </a:extLst>
          </p:cNvPr>
          <p:cNvSpPr>
            <a:spLocks noGrp="1"/>
          </p:cNvSpPr>
          <p:nvPr/>
        </p:nvSpPr>
        <p:spPr>
          <a:xfrm>
            <a:off x="1409700" y="48387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这页重点展示工程方法：有诊断入口、有普通构建隔离、有人工复测步骤。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312F35B-11AF-4C85-AF9D-54461AC0053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873511-94FA-420A-9FE9-7D539A92DED9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01544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CB79292-53C5-4955-92D0-B6D42D168536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HIGHLIGHT 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5A7641-2FE4-4D5C-805C-533ACB45EB4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下单事务用乐观锁把 100 个请求压回 80 个成功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4EF12DA-6D3D-4784-A840-F5A2C9184684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5162550" cy="201930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54541A-9E94-4AC2-BD91-3C69A8EC397A}"/>
              </a:ext>
            </a:extLst>
          </p:cNvPr>
          <p:cNvSpPr>
            <a:spLocks noGrp="1"/>
          </p:cNvSpPr>
          <p:nvPr/>
        </p:nvSpPr>
        <p:spPr>
          <a:xfrm>
            <a:off x="990600" y="1981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核心 SQL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15E615-19F6-4641-AA92-64AE3B9D6C40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4476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UPDATE product</a:t>
            </a:r>
          </a:p>
          <a:p>
            <a:pPr algn="l">
              <a:defRPr sz="127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SET stock = stock - ?,</a:t>
            </a:r>
          </a:p>
          <a:p>
            <a:pPr algn="l">
              <a:defRPr sz="127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    version = version + 1</a:t>
            </a:r>
          </a:p>
          <a:p>
            <a:pPr algn="l">
              <a:defRPr sz="127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WHERE id = ?</a:t>
            </a:r>
          </a:p>
          <a:p>
            <a:pPr algn="l">
              <a:defRPr sz="127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  AND stock &gt;= ?</a:t>
            </a:r>
          </a:p>
          <a:p>
            <a:pPr algn="l">
              <a:defRPr sz="127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  AND version = ?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01B08CB-5C60-4801-86F0-62D3D128104B}"/>
              </a:ext>
            </a:extLst>
          </p:cNvPr>
          <p:cNvSpPr>
            <a:spLocks noGrp="1"/>
          </p:cNvSpPr>
          <p:nvPr/>
        </p:nvSpPr>
        <p:spPr>
          <a:xfrm>
            <a:off x="6572250" y="1695450"/>
            <a:ext cx="200025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4A2F07-52FD-41D6-A129-09F6E046716D}"/>
              </a:ext>
            </a:extLst>
          </p:cNvPr>
          <p:cNvSpPr>
            <a:spLocks noGrp="1"/>
          </p:cNvSpPr>
          <p:nvPr/>
        </p:nvSpPr>
        <p:spPr>
          <a:xfrm>
            <a:off x="6762750" y="1885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并发请求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4A2A2B-276E-4586-B35E-B807684EF0A0}"/>
              </a:ext>
            </a:extLst>
          </p:cNvPr>
          <p:cNvSpPr>
            <a:spLocks noGrp="1"/>
          </p:cNvSpPr>
          <p:nvPr/>
        </p:nvSpPr>
        <p:spPr>
          <a:xfrm>
            <a:off x="6762750" y="215265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80653C-5BFB-407A-9707-85F18F65F39D}"/>
              </a:ext>
            </a:extLst>
          </p:cNvPr>
          <p:cNvSpPr>
            <a:spLocks noGrp="1"/>
          </p:cNvSpPr>
          <p:nvPr/>
        </p:nvSpPr>
        <p:spPr>
          <a:xfrm>
            <a:off x="6762750" y="257175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PowerShell 并发脚本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1F56156-AEFB-4FC7-A5B7-B1CEEFE4AC31}"/>
              </a:ext>
            </a:extLst>
          </p:cNvPr>
          <p:cNvSpPr>
            <a:spLocks noGrp="1"/>
          </p:cNvSpPr>
          <p:nvPr/>
        </p:nvSpPr>
        <p:spPr>
          <a:xfrm>
            <a:off x="8858250" y="1695450"/>
            <a:ext cx="200025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561B0C-5250-4C75-A604-00C912EA8B46}"/>
              </a:ext>
            </a:extLst>
          </p:cNvPr>
          <p:cNvSpPr>
            <a:spLocks noGrp="1"/>
          </p:cNvSpPr>
          <p:nvPr/>
        </p:nvSpPr>
        <p:spPr>
          <a:xfrm>
            <a:off x="9048750" y="1885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成功订单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88B254-816D-4563-93D8-7B6AAC6FE818}"/>
              </a:ext>
            </a:extLst>
          </p:cNvPr>
          <p:cNvSpPr>
            <a:spLocks noGrp="1"/>
          </p:cNvSpPr>
          <p:nvPr/>
        </p:nvSpPr>
        <p:spPr>
          <a:xfrm>
            <a:off x="9048750" y="215265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0C33F8-38A5-4606-B674-E224D85A161D}"/>
              </a:ext>
            </a:extLst>
          </p:cNvPr>
          <p:cNvSpPr>
            <a:spLocks noGrp="1"/>
          </p:cNvSpPr>
          <p:nvPr/>
        </p:nvSpPr>
        <p:spPr>
          <a:xfrm>
            <a:off x="9048750" y="257175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库存 80 件刚好售完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2AF0DAD-AEA5-4496-A070-48B375960A11}"/>
              </a:ext>
            </a:extLst>
          </p:cNvPr>
          <p:cNvSpPr>
            <a:spLocks noGrp="1"/>
          </p:cNvSpPr>
          <p:nvPr/>
        </p:nvSpPr>
        <p:spPr>
          <a:xfrm>
            <a:off x="6572250" y="3086100"/>
            <a:ext cx="200025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39D1F3-02AA-4733-B334-C3A5DD2E958D}"/>
              </a:ext>
            </a:extLst>
          </p:cNvPr>
          <p:cNvSpPr>
            <a:spLocks noGrp="1"/>
          </p:cNvSpPr>
          <p:nvPr/>
        </p:nvSpPr>
        <p:spPr>
          <a:xfrm>
            <a:off x="6762750" y="32766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失败请求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C18949-3E0A-48FF-B4B6-B6CAD4D9EE55}"/>
              </a:ext>
            </a:extLst>
          </p:cNvPr>
          <p:cNvSpPr>
            <a:spLocks noGrp="1"/>
          </p:cNvSpPr>
          <p:nvPr/>
        </p:nvSpPr>
        <p:spPr>
          <a:xfrm>
            <a:off x="6762750" y="354330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ED44C86-CF76-469D-BCE2-A5C239DCEE81}"/>
              </a:ext>
            </a:extLst>
          </p:cNvPr>
          <p:cNvSpPr>
            <a:spLocks noGrp="1"/>
          </p:cNvSpPr>
          <p:nvPr/>
        </p:nvSpPr>
        <p:spPr>
          <a:xfrm>
            <a:off x="6762750" y="39624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库存不足或版本冲突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08CE68-9F56-44C7-BCCD-B423AC46A0EA}"/>
              </a:ext>
            </a:extLst>
          </p:cNvPr>
          <p:cNvSpPr>
            <a:spLocks noGrp="1"/>
          </p:cNvSpPr>
          <p:nvPr/>
        </p:nvSpPr>
        <p:spPr>
          <a:xfrm>
            <a:off x="8858250" y="3086100"/>
            <a:ext cx="200025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1CF3FF6-15A5-432A-8EA7-AA7906274E23}"/>
              </a:ext>
            </a:extLst>
          </p:cNvPr>
          <p:cNvSpPr>
            <a:spLocks noGrp="1"/>
          </p:cNvSpPr>
          <p:nvPr/>
        </p:nvSpPr>
        <p:spPr>
          <a:xfrm>
            <a:off x="9048750" y="32766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最终库存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00DB4A-6E40-49E6-9D03-446E568DF041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11ECD0D-CFA5-4C24-9E90-09DBE00DD987}"/>
              </a:ext>
            </a:extLst>
          </p:cNvPr>
          <p:cNvSpPr>
            <a:spLocks noGrp="1"/>
          </p:cNvSpPr>
          <p:nvPr/>
        </p:nvSpPr>
        <p:spPr>
          <a:xfrm>
            <a:off x="9048750" y="39624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stock=0, version=80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1B94F9-E7C6-49E1-9DD5-2A127955D17B}"/>
              </a:ext>
            </a:extLst>
          </p:cNvPr>
          <p:cNvSpPr>
            <a:spLocks noGrp="1"/>
          </p:cNvSpPr>
          <p:nvPr/>
        </p:nvSpPr>
        <p:spPr>
          <a:xfrm>
            <a:off x="1104900" y="4857750"/>
            <a:ext cx="942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验证结果: success=80 failed=20；数据库最终 stock=0、sales_count=80、version=80。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1820A6-6AD2-4448-9D89-16B718E9000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8EEC0A3-ACAC-42FC-98E4-F75C9682A229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79275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8581323-01F2-4040-9CA4-2BFE43C54903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REAL UI 01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4689F6-1DA6-4403-BB89-1A01437AC29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商品中心和 AI 聊天窗共用真实商品、订单数据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C2CF22A-ACE0-4A4D-8EB3-151F5766544A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5295900" cy="3067050"/>
          </a:xfrm>
          <a:prstGeom prst="roundRect">
            <a:avLst>
              <a:gd name="adj" fmla="val 621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l="52" r="52"/>
          <a:stretch>
            <a:fillRect/>
          </a:stretch>
        </p:blipFill>
        <p:spPr>
          <a:xfrm>
            <a:off x="685800" y="1524000"/>
            <a:ext cx="5105400" cy="2876550"/>
          </a:xfrm>
          <a:prstGeom prst="roundRect">
            <a:avLst>
              <a:gd name="adj" fmla="val 662"/>
            </a:avLst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B1D75AB5-4D1C-4403-A90E-220B94AE5853}"/>
              </a:ext>
            </a:extLst>
          </p:cNvPr>
          <p:cNvSpPr>
            <a:spLocks noGrp="1"/>
          </p:cNvSpPr>
          <p:nvPr/>
        </p:nvSpPr>
        <p:spPr>
          <a:xfrm>
            <a:off x="6248400" y="1428750"/>
            <a:ext cx="5295900" cy="3067050"/>
          </a:xfrm>
          <a:prstGeom prst="roundRect">
            <a:avLst>
              <a:gd name="adj" fmla="val 621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l="52" r="52"/>
          <a:stretch>
            <a:fillRect/>
          </a:stretch>
        </p:blipFill>
        <p:spPr>
          <a:xfrm>
            <a:off x="6343650" y="1524000"/>
            <a:ext cx="5105400" cy="2876550"/>
          </a:xfrm>
          <a:prstGeom prst="roundRect">
            <a:avLst>
              <a:gd name="adj" fmla="val 662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D0BCE9-D004-485B-A47E-9FE8A8658406}"/>
              </a:ext>
            </a:extLst>
          </p:cNvPr>
          <p:cNvSpPr>
            <a:spLocks noGrp="1"/>
          </p:cNvSpPr>
          <p:nvPr/>
        </p:nvSpPr>
        <p:spPr>
          <a:xfrm>
            <a:off x="1238250" y="50101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左侧是首页商品推荐和分类入口；右侧聊天窗展示了 query_order_status 工具调用后的真实订单状态。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6D03CE-344A-4886-A8FF-1D74940FE9A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CA92AF-7964-4544-95D3-2689F11F2ACD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31704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1036F4D-C958-4AA7-B64E-B89D94E93CC5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REAL UI 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7B7045-A521-4EA7-937A-8F779C8C43B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购物车和订单页展示了交易链路的前台闭环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B9BBED-E1AF-4824-874C-14FADDD05097}"/>
              </a:ext>
            </a:extLst>
          </p:cNvPr>
          <p:cNvSpPr>
            <a:spLocks noGrp="1"/>
          </p:cNvSpPr>
          <p:nvPr/>
        </p:nvSpPr>
        <p:spPr>
          <a:xfrm>
            <a:off x="590550" y="1390650"/>
            <a:ext cx="5295900" cy="3067050"/>
          </a:xfrm>
          <a:prstGeom prst="roundRect">
            <a:avLst>
              <a:gd name="adj" fmla="val 621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l="52" r="52"/>
          <a:stretch>
            <a:fillRect/>
          </a:stretch>
        </p:blipFill>
        <p:spPr>
          <a:xfrm>
            <a:off x="685800" y="1485900"/>
            <a:ext cx="5105400" cy="2876550"/>
          </a:xfrm>
          <a:prstGeom prst="roundRect">
            <a:avLst>
              <a:gd name="adj" fmla="val 662"/>
            </a:avLst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C343538E-1235-4439-BB47-B01FF1889660}"/>
              </a:ext>
            </a:extLst>
          </p:cNvPr>
          <p:cNvSpPr>
            <a:spLocks noGrp="1"/>
          </p:cNvSpPr>
          <p:nvPr/>
        </p:nvSpPr>
        <p:spPr>
          <a:xfrm>
            <a:off x="6248400" y="1390650"/>
            <a:ext cx="5295900" cy="3067050"/>
          </a:xfrm>
          <a:prstGeom prst="roundRect">
            <a:avLst>
              <a:gd name="adj" fmla="val 621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rcRect l="52" r="52"/>
          <a:stretch>
            <a:fillRect/>
          </a:stretch>
        </p:blipFill>
        <p:spPr>
          <a:xfrm>
            <a:off x="6343650" y="1485900"/>
            <a:ext cx="5105400" cy="2876550"/>
          </a:xfrm>
          <a:prstGeom prst="roundRect">
            <a:avLst>
              <a:gd name="adj" fmla="val 662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C48D9E4-1216-43BA-9C29-E10B6073F33E}"/>
              </a:ext>
            </a:extLst>
          </p:cNvPr>
          <p:cNvSpPr>
            <a:spLocks noGrp="1"/>
          </p:cNvSpPr>
          <p:nvPr/>
        </p:nvSpPr>
        <p:spPr>
          <a:xfrm>
            <a:off x="1257300" y="501967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754379-50AE-4D5E-AA02-B3F637A1ED88}"/>
              </a:ext>
            </a:extLst>
          </p:cNvPr>
          <p:cNvSpPr>
            <a:spLocks noGrp="1"/>
          </p:cNvSpPr>
          <p:nvPr/>
        </p:nvSpPr>
        <p:spPr>
          <a:xfrm>
            <a:off x="1466850" y="495300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购物车实时计算已选商品金额，并在数量变更时校验库存。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4A971A-2002-450C-AFB6-0FFA243672FF}"/>
              </a:ext>
            </a:extLst>
          </p:cNvPr>
          <p:cNvSpPr>
            <a:spLocks noGrp="1"/>
          </p:cNvSpPr>
          <p:nvPr/>
        </p:nvSpPr>
        <p:spPr>
          <a:xfrm>
            <a:off x="1257300" y="54197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578E90-8638-4F6B-81C0-FDC1F04B4286}"/>
              </a:ext>
            </a:extLst>
          </p:cNvPr>
          <p:cNvSpPr>
            <a:spLocks noGrp="1"/>
          </p:cNvSpPr>
          <p:nvPr/>
        </p:nvSpPr>
        <p:spPr>
          <a:xfrm>
            <a:off x="1466850" y="53530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订单页支持按状态筛选、模拟支付、取消、再次购买和详情入口。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EF37ED-7A5B-42C0-9C62-60AA81245F3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3BF4B6-4741-44B2-927B-77877771BD71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20665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DB9AB62-BBBA-4440-BB84-F127D1AF05E5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REAL UI 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7D802B-99BA-4B0C-AAC6-6F306AFE8F0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管理后台把运营数据、订单和售后放在同一工作台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4A0995C-03A6-4CB4-AB26-F612D1A9EBBA}"/>
              </a:ext>
            </a:extLst>
          </p:cNvPr>
          <p:cNvSpPr>
            <a:spLocks noGrp="1"/>
          </p:cNvSpPr>
          <p:nvPr/>
        </p:nvSpPr>
        <p:spPr>
          <a:xfrm>
            <a:off x="590550" y="1390650"/>
            <a:ext cx="5295900" cy="3067050"/>
          </a:xfrm>
          <a:prstGeom prst="roundRect">
            <a:avLst>
              <a:gd name="adj" fmla="val 621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l="52" r="52"/>
          <a:stretch>
            <a:fillRect/>
          </a:stretch>
        </p:blipFill>
        <p:spPr>
          <a:xfrm>
            <a:off x="685800" y="1485900"/>
            <a:ext cx="5105400" cy="2876550"/>
          </a:xfrm>
          <a:prstGeom prst="roundRect">
            <a:avLst>
              <a:gd name="adj" fmla="val 662"/>
            </a:avLst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A3D6B871-50A9-4429-8D43-DA862EFA181C}"/>
              </a:ext>
            </a:extLst>
          </p:cNvPr>
          <p:cNvSpPr>
            <a:spLocks noGrp="1"/>
          </p:cNvSpPr>
          <p:nvPr/>
        </p:nvSpPr>
        <p:spPr>
          <a:xfrm>
            <a:off x="6248400" y="1390650"/>
            <a:ext cx="5295900" cy="3067050"/>
          </a:xfrm>
          <a:prstGeom prst="roundRect">
            <a:avLst>
              <a:gd name="adj" fmla="val 621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l="83" r="83"/>
          <a:stretch>
            <a:fillRect/>
          </a:stretch>
        </p:blipFill>
        <p:spPr>
          <a:xfrm>
            <a:off x="6343650" y="1485900"/>
            <a:ext cx="5105400" cy="2876550"/>
          </a:xfrm>
          <a:prstGeom prst="roundRect">
            <a:avLst>
              <a:gd name="adj" fmla="val 662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0C2677C-E76C-4961-8638-638C98F8CF22}"/>
              </a:ext>
            </a:extLst>
          </p:cNvPr>
          <p:cNvSpPr>
            <a:spLocks noGrp="1"/>
          </p:cNvSpPr>
          <p:nvPr/>
        </p:nvSpPr>
        <p:spPr>
          <a:xfrm>
            <a:off x="1143000" y="49530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后台不是单独做一个 CRUD 表格，而是把低库存、热销、最近订单、售后、日志等答辩可讲的运营闭环集中展示。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17D32C-B71B-4E1B-8E4B-7611B8ACA8D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9AFD8C-D810-430C-B44C-607E1AFA8ACC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79989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04B6631D-F575-4194-9FE8-DA997E76CFB1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VALIDATION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EFFAA8-62D3-4B39-831F-F7815300F91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验证结果支持现场演示，最新版 </a:t>
            </a:r>
            <a:r>
              <a:rPr lang="en-US" altLang="zh-CN" sz="2800" b="1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Agent </a:t>
            </a:r>
            <a:r>
              <a:rPr lang="zh-CN" altLang="en-US" sz="2800" b="1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烟测已完整通过</a:t>
            </a:r>
            <a:endParaRPr sz="2800" b="1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6576689-C9D3-48C1-9CA8-1EDB847EB254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247650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D2A307-F05C-4CB9-84DF-622745B0534B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后端测试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06B1C3-B7A8-4B03-B574-F12140C4B0FF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20/20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80D818-B07D-47AC-8B15-78E35B8EC547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mvn.cmd test BUILD SUCCESS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7B4725-D0A6-428A-9056-284225756284}"/>
              </a:ext>
            </a:extLst>
          </p:cNvPr>
          <p:cNvSpPr>
            <a:spLocks noGrp="1"/>
          </p:cNvSpPr>
          <p:nvPr/>
        </p:nvSpPr>
        <p:spPr>
          <a:xfrm>
            <a:off x="3524250" y="1657350"/>
            <a:ext cx="247650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D70597-38A0-46D3-A355-21C79C60A382}"/>
              </a:ext>
            </a:extLst>
          </p:cNvPr>
          <p:cNvSpPr>
            <a:spLocks noGrp="1"/>
          </p:cNvSpPr>
          <p:nvPr/>
        </p:nvSpPr>
        <p:spPr>
          <a:xfrm>
            <a:off x="3714750" y="18478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并发库存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8ED7B6-0B13-4764-A9CB-D2E874DB4BD5}"/>
              </a:ext>
            </a:extLst>
          </p:cNvPr>
          <p:cNvSpPr>
            <a:spLocks noGrp="1"/>
          </p:cNvSpPr>
          <p:nvPr/>
        </p:nvSpPr>
        <p:spPr>
          <a:xfrm>
            <a:off x="3714750" y="21145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80/100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EB641C-56F4-4DB2-8F13-4CEB46E03F6E}"/>
              </a:ext>
            </a:extLst>
          </p:cNvPr>
          <p:cNvSpPr>
            <a:spLocks noGrp="1"/>
          </p:cNvSpPr>
          <p:nvPr/>
        </p:nvSpPr>
        <p:spPr>
          <a:xfrm>
            <a:off x="3714750" y="25336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库存 80 件，成功 80 单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4B19FCC-D30E-4698-9BAE-F840379C3C7E}"/>
              </a:ext>
            </a:extLst>
          </p:cNvPr>
          <p:cNvSpPr>
            <a:spLocks noGrp="1"/>
          </p:cNvSpPr>
          <p:nvPr/>
        </p:nvSpPr>
        <p:spPr>
          <a:xfrm>
            <a:off x="6362700" y="1657350"/>
            <a:ext cx="247650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78F9A9-0DFB-478F-8440-000B8A4B5D83}"/>
              </a:ext>
            </a:extLst>
          </p:cNvPr>
          <p:cNvSpPr>
            <a:spLocks noGrp="1"/>
          </p:cNvSpPr>
          <p:nvPr/>
        </p:nvSpPr>
        <p:spPr>
          <a:xfrm>
            <a:off x="6553200" y="18478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知识库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7E50C9-9687-4173-9D05-D02042CFA45A}"/>
              </a:ext>
            </a:extLst>
          </p:cNvPr>
          <p:cNvSpPr>
            <a:spLocks noGrp="1"/>
          </p:cNvSpPr>
          <p:nvPr/>
        </p:nvSpPr>
        <p:spPr>
          <a:xfrm>
            <a:off x="6553200" y="21145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88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79158A-21EB-426C-A50F-458FBEA68E08}"/>
              </a:ext>
            </a:extLst>
          </p:cNvPr>
          <p:cNvSpPr>
            <a:spLocks noGrp="1"/>
          </p:cNvSpPr>
          <p:nvPr/>
        </p:nvSpPr>
        <p:spPr>
          <a:xfrm>
            <a:off x="6553200" y="25336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product/review/faq 运行态统计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A737B5C-CCDD-4426-92E3-3F7EBE3DD910}"/>
              </a:ext>
            </a:extLst>
          </p:cNvPr>
          <p:cNvSpPr>
            <a:spLocks noGrp="1"/>
          </p:cNvSpPr>
          <p:nvPr/>
        </p:nvSpPr>
        <p:spPr>
          <a:xfrm>
            <a:off x="9010650" y="1657350"/>
            <a:ext cx="2286000" cy="112395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B66239-BA54-4CC5-9059-0628D6DEFE12}"/>
              </a:ext>
            </a:extLst>
          </p:cNvPr>
          <p:cNvSpPr>
            <a:spLocks noGrp="1"/>
          </p:cNvSpPr>
          <p:nvPr/>
        </p:nvSpPr>
        <p:spPr>
          <a:xfrm>
            <a:off x="9201150" y="18478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Docker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C228F2-16CD-46FD-A723-46B0DBEAB096}"/>
              </a:ext>
            </a:extLst>
          </p:cNvPr>
          <p:cNvSpPr>
            <a:spLocks noGrp="1"/>
          </p:cNvSpPr>
          <p:nvPr/>
        </p:nvSpPr>
        <p:spPr>
          <a:xfrm>
            <a:off x="9201150" y="21145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ACE31E-43AF-4128-B892-2A3F0FAC6612}"/>
              </a:ext>
            </a:extLst>
          </p:cNvPr>
          <p:cNvSpPr>
            <a:spLocks noGrp="1"/>
          </p:cNvSpPr>
          <p:nvPr/>
        </p:nvSpPr>
        <p:spPr>
          <a:xfrm>
            <a:off x="9201150" y="25336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compose up -d --build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E4E3E04-7585-43AB-BF4A-4E2A248572F3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9810750" cy="118110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2F9332-91FE-48D5-B1BD-AC3F80B08B0F}"/>
              </a:ext>
            </a:extLst>
          </p:cNvPr>
          <p:cNvSpPr>
            <a:spLocks noGrp="1"/>
          </p:cNvSpPr>
          <p:nvPr/>
        </p:nvSpPr>
        <p:spPr>
          <a:xfrm>
            <a:off x="1257300" y="37528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00" b="1">
                <a:solidFill>
                  <a:srgbClr val="2B45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Agent </a:t>
            </a:r>
            <a:r>
              <a:rPr lang="zh-CN" altLang="en-US" sz="1900" b="1">
                <a:solidFill>
                  <a:srgbClr val="2B45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烟测 </a:t>
            </a:r>
            <a:r>
              <a:rPr lang="en-US" sz="1900" b="1">
                <a:solidFill>
                  <a:srgbClr val="2B45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PASS</a:t>
            </a:r>
            <a:endParaRPr sz="1900" b="1">
              <a:solidFill>
                <a:srgbClr val="2B45D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857F52-E8F1-4717-A356-95D47E4131C0}"/>
              </a:ext>
            </a:extLst>
          </p:cNvPr>
          <p:cNvSpPr>
            <a:spLocks noGrp="1"/>
          </p:cNvSpPr>
          <p:nvPr/>
        </p:nvSpPr>
        <p:spPr>
          <a:xfrm>
            <a:off x="1257300" y="4114800"/>
            <a:ext cx="876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商品检索、详情、对比、订单查询、长期记忆、购买方案、</a:t>
            </a:r>
            <a:r>
              <a:rPr lang="en-US" altLang="zh-CN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SSE </a:t>
            </a: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流式事件、确认加购与非购物拒答全部通过；商品卡字段还与后端真实数据逐项核对。</a:t>
            </a:r>
            <a:endParaRPr sz="1400" b="0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99FC86E-4714-4E5B-B43F-578B062D4AE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5A342D5-69F4-4042-BC6A-01DB1C94FF19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20555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2147D8FD-0AAA-440E-B5F3-95F3F8F911D0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DEPLOYMENT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3EA0A4-4B49-41EC-9F22-781F1E242A9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Docker Compose 让四个服务按同一套环境启动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12A245F-0300-4225-AFD2-E76DC314584F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2000250" cy="99060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87A42B-6A20-4C59-B8CE-F1961D01E61D}"/>
              </a:ext>
            </a:extLst>
          </p:cNvPr>
          <p:cNvSpPr>
            <a:spLocks noGrp="1"/>
          </p:cNvSpPr>
          <p:nvPr/>
        </p:nvSpPr>
        <p:spPr>
          <a:xfrm>
            <a:off x="1085850" y="24193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6589C3-57EC-403F-8756-3FE75E7009C8}"/>
              </a:ext>
            </a:extLst>
          </p:cNvPr>
          <p:cNvSpPr>
            <a:spLocks noGrp="1"/>
          </p:cNvSpPr>
          <p:nvPr/>
        </p:nvSpPr>
        <p:spPr>
          <a:xfrm>
            <a:off x="1085850" y="27241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3307 -&gt; 3306</a:t>
            </a:r>
          </a:p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seed.sql 初始化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58F01A0-2B0A-4BFB-A74B-1937B723E79B}"/>
              </a:ext>
            </a:extLst>
          </p:cNvPr>
          <p:cNvSpPr>
            <a:spLocks noGrp="1"/>
          </p:cNvSpPr>
          <p:nvPr/>
        </p:nvSpPr>
        <p:spPr>
          <a:xfrm>
            <a:off x="3448050" y="2247900"/>
            <a:ext cx="2000250" cy="990600"/>
          </a:xfrm>
          <a:prstGeom prst="roundRect">
            <a:avLst>
              <a:gd name="adj" fmla="val 1923"/>
            </a:avLst>
          </a:prstGeom>
          <a:solidFill>
            <a:srgbClr val="2B45D8"/>
          </a:solidFill>
          <a:ln w="9525">
            <a:solidFill>
              <a:srgbClr val="2B45D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664ABC-BC6C-40C1-A7CC-878A505DC591}"/>
              </a:ext>
            </a:extLst>
          </p:cNvPr>
          <p:cNvSpPr>
            <a:spLocks noGrp="1"/>
          </p:cNvSpPr>
          <p:nvPr/>
        </p:nvSpPr>
        <p:spPr>
          <a:xfrm>
            <a:off x="3619500" y="24193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D84C17-70FF-45CB-97A7-75F82BCEEE43}"/>
              </a:ext>
            </a:extLst>
          </p:cNvPr>
          <p:cNvSpPr>
            <a:spLocks noGrp="1"/>
          </p:cNvSpPr>
          <p:nvPr/>
        </p:nvSpPr>
        <p:spPr>
          <a:xfrm>
            <a:off x="3619500" y="27241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rPr>
              <a:t>8081 -&gt; 8080</a:t>
            </a:r>
          </a:p>
          <a:p>
            <a:pPr algn="ctr">
              <a:def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rPr>
              <a:t>Spring Boot API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62D924D-A1CE-49F4-BA5C-03725126C1FF}"/>
              </a:ext>
            </a:extLst>
          </p:cNvPr>
          <p:cNvSpPr>
            <a:spLocks noGrp="1"/>
          </p:cNvSpPr>
          <p:nvPr/>
        </p:nvSpPr>
        <p:spPr>
          <a:xfrm>
            <a:off x="5981700" y="2247900"/>
            <a:ext cx="2000250" cy="99060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F5D595-0A15-44D9-B684-C341A783082A}"/>
              </a:ext>
            </a:extLst>
          </p:cNvPr>
          <p:cNvSpPr>
            <a:spLocks noGrp="1"/>
          </p:cNvSpPr>
          <p:nvPr/>
        </p:nvSpPr>
        <p:spPr>
          <a:xfrm>
            <a:off x="6153150" y="24193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agent-service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03E165-231F-4414-A1A3-961F8C72E3D4}"/>
              </a:ext>
            </a:extLst>
          </p:cNvPr>
          <p:cNvSpPr>
            <a:spLocks noGrp="1"/>
          </p:cNvSpPr>
          <p:nvPr/>
        </p:nvSpPr>
        <p:spPr>
          <a:xfrm>
            <a:off x="6153150" y="27241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8000</a:t>
            </a:r>
          </a:p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FastAPI / LangChain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3FF566-C9E2-436D-AF83-71FBBD236047}"/>
              </a:ext>
            </a:extLst>
          </p:cNvPr>
          <p:cNvSpPr>
            <a:spLocks noGrp="1"/>
          </p:cNvSpPr>
          <p:nvPr/>
        </p:nvSpPr>
        <p:spPr>
          <a:xfrm>
            <a:off x="8515350" y="2247900"/>
            <a:ext cx="2000250" cy="99060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64FD20-4030-4061-AB56-8DAC8AFC2823}"/>
              </a:ext>
            </a:extLst>
          </p:cNvPr>
          <p:cNvSpPr>
            <a:spLocks noGrp="1"/>
          </p:cNvSpPr>
          <p:nvPr/>
        </p:nvSpPr>
        <p:spPr>
          <a:xfrm>
            <a:off x="8686800" y="24193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frontend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638756-27FB-42B3-9309-B7BC446F8C6B}"/>
              </a:ext>
            </a:extLst>
          </p:cNvPr>
          <p:cNvSpPr>
            <a:spLocks noGrp="1"/>
          </p:cNvSpPr>
          <p:nvPr/>
        </p:nvSpPr>
        <p:spPr>
          <a:xfrm>
            <a:off x="8686800" y="27241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  <a:p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Nginx 静态站点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8FDDD1-71A1-49BF-844F-996A062D433B}"/>
              </a:ext>
            </a:extLst>
          </p:cNvPr>
          <p:cNvSpPr>
            <a:spLocks noGrp="1"/>
          </p:cNvSpPr>
          <p:nvPr/>
        </p:nvSpPr>
        <p:spPr>
          <a:xfrm>
            <a:off x="2914650" y="2733675"/>
            <a:ext cx="40005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42C281-6196-4C94-95B6-D4F804A615D5}"/>
              </a:ext>
            </a:extLst>
          </p:cNvPr>
          <p:cNvSpPr>
            <a:spLocks noGrp="1"/>
          </p:cNvSpPr>
          <p:nvPr/>
        </p:nvSpPr>
        <p:spPr>
          <a:xfrm>
            <a:off x="3295650" y="26289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45193B-1A2C-42FF-9494-CFA39E799D5F}"/>
              </a:ext>
            </a:extLst>
          </p:cNvPr>
          <p:cNvSpPr>
            <a:spLocks noGrp="1"/>
          </p:cNvSpPr>
          <p:nvPr/>
        </p:nvSpPr>
        <p:spPr>
          <a:xfrm>
            <a:off x="5448300" y="2733675"/>
            <a:ext cx="40005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23470D-9E00-4C7C-BA8F-BC2D9630F8CD}"/>
              </a:ext>
            </a:extLst>
          </p:cNvPr>
          <p:cNvSpPr>
            <a:spLocks noGrp="1"/>
          </p:cNvSpPr>
          <p:nvPr/>
        </p:nvSpPr>
        <p:spPr>
          <a:xfrm>
            <a:off x="5829300" y="26289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9F73D6-F202-4E69-A324-3B3E74CE7073}"/>
              </a:ext>
            </a:extLst>
          </p:cNvPr>
          <p:cNvSpPr>
            <a:spLocks noGrp="1"/>
          </p:cNvSpPr>
          <p:nvPr/>
        </p:nvSpPr>
        <p:spPr>
          <a:xfrm>
            <a:off x="7981950" y="2733675"/>
            <a:ext cx="400050" cy="1905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1779C7-CE98-464D-9029-01F9140695C2}"/>
              </a:ext>
            </a:extLst>
          </p:cNvPr>
          <p:cNvSpPr>
            <a:spLocks noGrp="1"/>
          </p:cNvSpPr>
          <p:nvPr/>
        </p:nvSpPr>
        <p:spPr>
          <a:xfrm>
            <a:off x="8362950" y="26289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A3D8AE2-681D-445A-940E-C859DF45961D}"/>
              </a:ext>
            </a:extLst>
          </p:cNvPr>
          <p:cNvSpPr>
            <a:spLocks noGrp="1"/>
          </p:cNvSpPr>
          <p:nvPr/>
        </p:nvSpPr>
        <p:spPr>
          <a:xfrm>
            <a:off x="1200150" y="41624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E73BF4B-32B1-4612-829C-BE560BA7968A}"/>
              </a:ext>
            </a:extLst>
          </p:cNvPr>
          <p:cNvSpPr>
            <a:spLocks noGrp="1"/>
          </p:cNvSpPr>
          <p:nvPr/>
        </p:nvSpPr>
        <p:spPr>
          <a:xfrm>
            <a:off x="1409700" y="40957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后端日志持久化到 backend_logs volume，关键下单和状态流转使用 INFO 日志。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5FEFCA5-F2E8-4B43-994C-C1072CE77CF6}"/>
              </a:ext>
            </a:extLst>
          </p:cNvPr>
          <p:cNvSpPr>
            <a:spLocks noGrp="1"/>
          </p:cNvSpPr>
          <p:nvPr/>
        </p:nvSpPr>
        <p:spPr>
          <a:xfrm>
            <a:off x="1200150" y="456247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01F31D-15F3-4936-8AEC-3BE1F11B122A}"/>
              </a:ext>
            </a:extLst>
          </p:cNvPr>
          <p:cNvSpPr>
            <a:spLocks noGrp="1"/>
          </p:cNvSpPr>
          <p:nvPr/>
        </p:nvSpPr>
        <p:spPr>
          <a:xfrm>
            <a:off x="1409700" y="449580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Agent 日志记录工具调用、LLM 状态和 timing breakdown，现场可配合 docker compose logs 展示。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CA9E72-A28D-49F7-83BC-BF798D5065FD}"/>
              </a:ext>
            </a:extLst>
          </p:cNvPr>
          <p:cNvSpPr>
            <a:spLocks noGrp="1"/>
          </p:cNvSpPr>
          <p:nvPr/>
        </p:nvSpPr>
        <p:spPr>
          <a:xfrm>
            <a:off x="1200150" y="49625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3ABE5B0-6FA7-4729-AA02-4EFE7708C5FB}"/>
              </a:ext>
            </a:extLst>
          </p:cNvPr>
          <p:cNvSpPr>
            <a:spLocks noGrp="1"/>
          </p:cNvSpPr>
          <p:nvPr/>
        </p:nvSpPr>
        <p:spPr>
          <a:xfrm>
            <a:off x="1409700" y="48958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本次 docker compose up -d --build 已成功重建并启动四个服务。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3DC1385-BDF1-4277-AB52-47409202149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DBF2970-646A-4946-A932-FF2B64BDAF59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63944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C8174CD5-F1D4-468C-B50D-71291A5E671F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CURRENT STATE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6CFF99-0B39-4CA1-BC98-E6D264CA102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主链路已经验收，局限边界也保持诚实</a:t>
            </a:r>
            <a:endParaRPr sz="2800" b="1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5B5D207-DF53-4AA0-AC9D-87FA1A30F631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4953000" cy="3714750"/>
          </a:xfrm>
          <a:prstGeom prst="roundRect">
            <a:avLst>
              <a:gd name="adj" fmla="val 51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8C377BE-AFC9-4F52-B3DF-A135E26EF2FD}"/>
              </a:ext>
            </a:extLst>
          </p:cNvPr>
          <p:cNvSpPr>
            <a:spLocks noGrp="1"/>
          </p:cNvSpPr>
          <p:nvPr/>
        </p:nvSpPr>
        <p:spPr>
          <a:xfrm>
            <a:off x="6400800" y="1600200"/>
            <a:ext cx="4953000" cy="3714750"/>
          </a:xfrm>
          <a:prstGeom prst="roundRect">
            <a:avLst>
              <a:gd name="adj" fmla="val 513"/>
            </a:avLst>
          </a:prstGeom>
          <a:solidFill>
            <a:srgbClr val="FFFFFF"/>
          </a:solidFill>
          <a:ln w="9525">
            <a:solidFill>
              <a:srgbClr val="E3E6E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2CE65F-6E59-4FB3-B919-C7F2D7CF54B4}"/>
              </a:ext>
            </a:extLst>
          </p:cNvPr>
          <p:cNvSpPr>
            <a:spLocks noGrp="1"/>
          </p:cNvSpPr>
          <p:nvPr/>
        </p:nvSpPr>
        <p:spPr>
          <a:xfrm>
            <a:off x="1162050" y="18859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2BE86D-1269-40B7-8686-8410009DFEA2}"/>
              </a:ext>
            </a:extLst>
          </p:cNvPr>
          <p:cNvSpPr>
            <a:spLocks noGrp="1"/>
          </p:cNvSpPr>
          <p:nvPr/>
        </p:nvSpPr>
        <p:spPr>
          <a:xfrm>
            <a:off x="6724650" y="18859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待改进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5C98CC-8013-43F4-9486-720384068F20}"/>
              </a:ext>
            </a:extLst>
          </p:cNvPr>
          <p:cNvSpPr>
            <a:spLocks noGrp="1"/>
          </p:cNvSpPr>
          <p:nvPr/>
        </p:nvSpPr>
        <p:spPr>
          <a:xfrm>
            <a:off x="1181100" y="24860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A5964C-8EC9-44AF-9D8B-6E621BFC1B94}"/>
              </a:ext>
            </a:extLst>
          </p:cNvPr>
          <p:cNvSpPr>
            <a:spLocks noGrp="1"/>
          </p:cNvSpPr>
          <p:nvPr/>
        </p:nvSpPr>
        <p:spPr>
          <a:xfrm>
            <a:off x="1390650" y="24193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五大模块主链路可演示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1ABB96-0267-446B-BB0A-D74422DB0903}"/>
              </a:ext>
            </a:extLst>
          </p:cNvPr>
          <p:cNvSpPr>
            <a:spLocks noGrp="1"/>
          </p:cNvSpPr>
          <p:nvPr/>
        </p:nvSpPr>
        <p:spPr>
          <a:xfrm>
            <a:off x="1181100" y="29432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8641DA-0EB8-4E94-A37C-DACAE91AF18D}"/>
              </a:ext>
            </a:extLst>
          </p:cNvPr>
          <p:cNvSpPr>
            <a:spLocks noGrp="1"/>
          </p:cNvSpPr>
          <p:nvPr/>
        </p:nvSpPr>
        <p:spPr>
          <a:xfrm>
            <a:off x="1390650" y="28765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Agent 8 </a:t>
            </a: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工具 </a:t>
            </a:r>
            <a:r>
              <a:rPr lang="en-US" altLang="zh-CN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+ </a:t>
            </a: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记忆 </a:t>
            </a:r>
            <a:r>
              <a:rPr lang="en-US" altLang="zh-CN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+ </a:t>
            </a:r>
            <a:r>
              <a:rPr 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RAG + </a:t>
            </a: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结构化工作台</a:t>
            </a:r>
            <a:endParaRPr sz="1400" b="0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8A8399-BAF1-4ABD-BAF7-DA60B1A9F526}"/>
              </a:ext>
            </a:extLst>
          </p:cNvPr>
          <p:cNvSpPr>
            <a:spLocks noGrp="1"/>
          </p:cNvSpPr>
          <p:nvPr/>
        </p:nvSpPr>
        <p:spPr>
          <a:xfrm>
            <a:off x="1181100" y="34004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84047F-465C-47F6-AAFF-2A88DC8B4AC4}"/>
              </a:ext>
            </a:extLst>
          </p:cNvPr>
          <p:cNvSpPr>
            <a:spLocks noGrp="1"/>
          </p:cNvSpPr>
          <p:nvPr/>
        </p:nvSpPr>
        <p:spPr>
          <a:xfrm>
            <a:off x="1390650" y="33337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Docker Compose 四服务启动成功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3E2E20-5C31-4124-B642-1FF008D20938}"/>
              </a:ext>
            </a:extLst>
          </p:cNvPr>
          <p:cNvSpPr>
            <a:spLocks noGrp="1"/>
          </p:cNvSpPr>
          <p:nvPr/>
        </p:nvSpPr>
        <p:spPr>
          <a:xfrm>
            <a:off x="1181100" y="38576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  <p:txBody>
          <a:bodyPr/>
          <a:lstStyle/>
          <a:p>
            <a:r>
              <a:rPr lang="zh-CN" altLang="en-US" sz="130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F821E2-D090-4D5F-8A30-2DBC8558A35E}"/>
              </a:ext>
            </a:extLst>
          </p:cNvPr>
          <p:cNvSpPr>
            <a:spLocks noGrp="1"/>
          </p:cNvSpPr>
          <p:nvPr/>
        </p:nvSpPr>
        <p:spPr>
          <a:xfrm>
            <a:off x="1390650" y="37909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后端 </a:t>
            </a:r>
            <a:r>
              <a:rPr lang="en-US" altLang="zh-CN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20/20</a:t>
            </a:r>
            <a:r>
              <a:rPr lang="zh-CN" altLang="en-US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、</a:t>
            </a:r>
            <a:r>
              <a:rPr lang="en-US" altLang="zh-CN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Agent </a:t>
            </a:r>
            <a:r>
              <a:rPr lang="zh-CN" altLang="en-US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烟测、并发验收均通过</a:t>
            </a:r>
            <a:endParaRPr sz="1300" b="0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283E6C-FE70-4CF1-8158-73E06F89D573}"/>
              </a:ext>
            </a:extLst>
          </p:cNvPr>
          <p:cNvSpPr>
            <a:spLocks noGrp="1"/>
          </p:cNvSpPr>
          <p:nvPr/>
        </p:nvSpPr>
        <p:spPr>
          <a:xfrm>
            <a:off x="6743700" y="24860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00F944-DE80-4F2C-BA7D-4A477D4263B0}"/>
              </a:ext>
            </a:extLst>
          </p:cNvPr>
          <p:cNvSpPr>
            <a:spLocks noGrp="1"/>
          </p:cNvSpPr>
          <p:nvPr/>
        </p:nvSpPr>
        <p:spPr>
          <a:xfrm>
            <a:off x="6953250" y="24193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前端生产包存在大于 </a:t>
            </a:r>
            <a:r>
              <a:rPr lang="en-US" altLang="zh-CN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500</a:t>
            </a:r>
            <a:r>
              <a:rPr 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KB </a:t>
            </a: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的 </a:t>
            </a:r>
            <a:r>
              <a:rPr 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chunk，</a:t>
            </a: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仍需继续拆分</a:t>
            </a:r>
            <a:endParaRPr sz="1400" b="0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D59768-2F59-49BB-99E6-9ADF5398A144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6D5EA5-5324-44B7-B18D-4E1C4FDF1B5F}"/>
              </a:ext>
            </a:extLst>
          </p:cNvPr>
          <p:cNvSpPr>
            <a:spLocks noGrp="1"/>
          </p:cNvSpPr>
          <p:nvPr/>
        </p:nvSpPr>
        <p:spPr>
          <a:xfrm>
            <a:off x="6953250" y="28765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搜索当前使用 </a:t>
            </a:r>
            <a:r>
              <a:rPr lang="en-US" altLang="zh-CN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LIKE</a:t>
            </a: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，全文索引作为升级预留</a:t>
            </a:r>
            <a:endParaRPr sz="1400" b="0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152FBE-CB41-4594-AA59-DE5F65C19C95}"/>
              </a:ext>
            </a:extLst>
          </p:cNvPr>
          <p:cNvSpPr>
            <a:spLocks noGrp="1"/>
          </p:cNvSpPr>
          <p:nvPr/>
        </p:nvSpPr>
        <p:spPr>
          <a:xfrm>
            <a:off x="6743700" y="34004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014889-3933-4221-9989-DE8AA80E0E38}"/>
              </a:ext>
            </a:extLst>
          </p:cNvPr>
          <p:cNvSpPr>
            <a:spLocks noGrp="1"/>
          </p:cNvSpPr>
          <p:nvPr/>
        </p:nvSpPr>
        <p:spPr>
          <a:xfrm>
            <a:off x="6953250" y="33337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性能诊断工具已建立，真实设备 </a:t>
            </a:r>
            <a:r>
              <a:rPr lang="en-US" altLang="zh-CN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FPS </a:t>
            </a: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矩阵尚待补测</a:t>
            </a:r>
            <a:endParaRPr sz="1400" b="0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C924AC-CB55-4C1E-9BEE-8D08A08020B4}"/>
              </a:ext>
            </a:extLst>
          </p:cNvPr>
          <p:cNvSpPr>
            <a:spLocks noGrp="1"/>
          </p:cNvSpPr>
          <p:nvPr/>
        </p:nvSpPr>
        <p:spPr>
          <a:xfrm>
            <a:off x="6743700" y="3857625"/>
            <a:ext cx="76200" cy="76200"/>
          </a:xfrm>
          <a:prstGeom prst="rect">
            <a:avLst/>
          </a:prstGeom>
          <a:solidFill>
            <a:srgbClr val="2B45D8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BFB7A6-BE9B-4509-87DE-7524DE130B2B}"/>
              </a:ext>
            </a:extLst>
          </p:cNvPr>
          <p:cNvSpPr>
            <a:spLocks noGrp="1"/>
          </p:cNvSpPr>
          <p:nvPr/>
        </p:nvSpPr>
        <p:spPr>
          <a:xfrm>
            <a:off x="6953250" y="37909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Git </a:t>
            </a: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记录主要集中在主分支，</a:t>
            </a:r>
            <a:r>
              <a:rPr lang="en-US" altLang="zh-CN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PR </a:t>
            </a:r>
            <a:r>
              <a:rPr lang="zh-CN" altLang="en-US" sz="14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协作证据仍偏弱</a:t>
            </a:r>
            <a:endParaRPr sz="1400" b="0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778FFB-0FA6-4F2A-B06A-2DC7AEB9F4D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95473D-F6A9-40B4-AF58-8F6E7F5BDC20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93601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DC293399-09F9-4F44-B885-2AA5F72E1031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TEAM &amp; AI WORKFLOW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D43D75-B3D9-430E-9D19-839FA61AB05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按工作包组织交付，用可核查证据替代口头分工</a:t>
            </a:r>
            <a:endParaRPr sz="2800" b="1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2439DB-97D5-4915-869B-5016203CEEFB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1000125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F22476-935B-4990-AC26-1A2EA916FE9D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用户与认证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0421E1-1169-4385-BA7E-F95F59725893}"/>
              </a:ext>
            </a:extLst>
          </p:cNvPr>
          <p:cNvSpPr>
            <a:spLocks noGrp="1"/>
          </p:cNvSpPr>
          <p:nvPr/>
        </p:nvSpPr>
        <p:spPr>
          <a:xfrm>
            <a:off x="4000500" y="16192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注册登录 </a:t>
            </a:r>
            <a:r>
              <a:rPr lang="en-US" altLang="zh-CN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JWT / BCrypt / </a:t>
            </a: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个人中心</a:t>
            </a:r>
            <a:endParaRPr sz="1400" b="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317046-CD46-4C68-B790-EB7B162D8CFD}"/>
              </a:ext>
            </a:extLst>
          </p:cNvPr>
          <p:cNvSpPr>
            <a:spLocks noGrp="1"/>
          </p:cNvSpPr>
          <p:nvPr/>
        </p:nvSpPr>
        <p:spPr>
          <a:xfrm>
            <a:off x="8896350" y="16192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测试可证</a:t>
            </a:r>
            <a:endParaRPr sz="1200" b="1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32874B-0D93-4BF0-AAB2-9042F6494960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1000125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14DD49-1C9A-426A-B8E3-E2BA62C91C7B}"/>
              </a:ext>
            </a:extLst>
          </p:cNvPr>
          <p:cNvSpPr>
            <a:spLocks noGrp="1"/>
          </p:cNvSpPr>
          <p:nvPr/>
        </p:nvSpPr>
        <p:spPr>
          <a:xfrm>
            <a:off x="1143000" y="23241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商品与搜索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B374AA-F1CE-4BED-919B-E6A513ED9930}"/>
              </a:ext>
            </a:extLst>
          </p:cNvPr>
          <p:cNvSpPr>
            <a:spLocks noGrp="1"/>
          </p:cNvSpPr>
          <p:nvPr/>
        </p:nvSpPr>
        <p:spPr>
          <a:xfrm>
            <a:off x="4000500" y="236220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分类 </a:t>
            </a:r>
            <a:r>
              <a:rPr lang="en-US" altLang="zh-CN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CRUD / </a:t>
            </a: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搜索分页 </a:t>
            </a:r>
            <a:r>
              <a:rPr lang="en-US" altLang="zh-CN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管理端</a:t>
            </a:r>
            <a:endParaRPr sz="1400" b="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233A7F-66B1-427F-828F-2C70CDAC6F4B}"/>
              </a:ext>
            </a:extLst>
          </p:cNvPr>
          <p:cNvSpPr>
            <a:spLocks noGrp="1"/>
          </p:cNvSpPr>
          <p:nvPr/>
        </p:nvSpPr>
        <p:spPr>
          <a:xfrm>
            <a:off x="8896350" y="23622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接口可证</a:t>
            </a:r>
            <a:endParaRPr sz="1200" b="1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9FE4FB-1278-4D98-89C2-28A7DB3D7E20}"/>
              </a:ext>
            </a:extLst>
          </p:cNvPr>
          <p:cNvSpPr>
            <a:spLocks noGrp="1"/>
          </p:cNvSpPr>
          <p:nvPr/>
        </p:nvSpPr>
        <p:spPr>
          <a:xfrm>
            <a:off x="819150" y="3524250"/>
            <a:ext cx="1000125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302FB7-1A1E-4417-8B40-64759BE2A785}"/>
              </a:ext>
            </a:extLst>
          </p:cNvPr>
          <p:cNvSpPr>
            <a:spLocks noGrp="1"/>
          </p:cNvSpPr>
          <p:nvPr/>
        </p:nvSpPr>
        <p:spPr>
          <a:xfrm>
            <a:off x="1143000" y="30670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订单与库存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FBA25A-7911-4146-8C33-1AE16A57AAF3}"/>
              </a:ext>
            </a:extLst>
          </p:cNvPr>
          <p:cNvSpPr>
            <a:spLocks noGrp="1"/>
          </p:cNvSpPr>
          <p:nvPr/>
        </p:nvSpPr>
        <p:spPr>
          <a:xfrm>
            <a:off x="4000500" y="31051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购物车 </a:t>
            </a:r>
            <a:r>
              <a:rPr lang="en-US" altLang="zh-CN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下单事务 </a:t>
            </a:r>
            <a:r>
              <a:rPr lang="en-US" altLang="zh-CN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状态机 </a:t>
            </a:r>
            <a:r>
              <a:rPr lang="en-US" altLang="zh-CN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回补</a:t>
            </a:r>
            <a:endParaRPr sz="1400" b="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861A47D-B1C3-4241-A868-EB49365D5826}"/>
              </a:ext>
            </a:extLst>
          </p:cNvPr>
          <p:cNvSpPr>
            <a:spLocks noGrp="1"/>
          </p:cNvSpPr>
          <p:nvPr/>
        </p:nvSpPr>
        <p:spPr>
          <a:xfrm>
            <a:off x="8896350" y="31051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并发可证</a:t>
            </a:r>
            <a:endParaRPr sz="1200" b="1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7C6C01-5A3E-42C4-886A-78082ADA2FF6}"/>
              </a:ext>
            </a:extLst>
          </p:cNvPr>
          <p:cNvSpPr>
            <a:spLocks noGrp="1"/>
          </p:cNvSpPr>
          <p:nvPr/>
        </p:nvSpPr>
        <p:spPr>
          <a:xfrm>
            <a:off x="819150" y="4267200"/>
            <a:ext cx="1000125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38A7B1-4A10-4F3F-B0C2-8A8CFBC8C83D}"/>
              </a:ext>
            </a:extLst>
          </p:cNvPr>
          <p:cNvSpPr>
            <a:spLocks noGrp="1"/>
          </p:cNvSpPr>
          <p:nvPr/>
        </p:nvSpPr>
        <p:spPr>
          <a:xfrm>
            <a:off x="1143000" y="38100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AI 助手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613BFB-C6BC-4B75-B45D-A2652414B265}"/>
              </a:ext>
            </a:extLst>
          </p:cNvPr>
          <p:cNvSpPr>
            <a:spLocks noGrp="1"/>
          </p:cNvSpPr>
          <p:nvPr/>
        </p:nvSpPr>
        <p:spPr>
          <a:xfrm>
            <a:off x="4000500" y="384810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8 </a:t>
            </a: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工具 </a:t>
            </a:r>
            <a:r>
              <a:rPr lang="en-US" altLang="zh-CN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双层记忆 </a:t>
            </a:r>
            <a:r>
              <a:rPr lang="en-US" altLang="zh-CN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RAG / </a:t>
            </a: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购买方案</a:t>
            </a:r>
            <a:endParaRPr sz="1400" b="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D25AF8-C1C0-4E88-86CB-A420980D31CF}"/>
              </a:ext>
            </a:extLst>
          </p:cNvPr>
          <p:cNvSpPr>
            <a:spLocks noGrp="1"/>
          </p:cNvSpPr>
          <p:nvPr/>
        </p:nvSpPr>
        <p:spPr>
          <a:xfrm>
            <a:off x="8896350" y="38481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2B45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烟测可证</a:t>
            </a:r>
            <a:endParaRPr sz="1200" b="1">
              <a:solidFill>
                <a:srgbClr val="2B45D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EE775B-8A64-4D40-9B7E-68B8FF1F0CE6}"/>
              </a:ext>
            </a:extLst>
          </p:cNvPr>
          <p:cNvSpPr>
            <a:spLocks noGrp="1"/>
          </p:cNvSpPr>
          <p:nvPr/>
        </p:nvSpPr>
        <p:spPr>
          <a:xfrm>
            <a:off x="819150" y="5010150"/>
            <a:ext cx="10001250" cy="9525"/>
          </a:xfrm>
          <a:prstGeom prst="rect">
            <a:avLst/>
          </a:prstGeom>
          <a:solidFill>
            <a:srgbClr val="E3E6EB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6D638DD-A71D-4DCD-AB90-36EEF139ADF6}"/>
              </a:ext>
            </a:extLst>
          </p:cNvPr>
          <p:cNvSpPr>
            <a:spLocks noGrp="1"/>
          </p:cNvSpPr>
          <p:nvPr/>
        </p:nvSpPr>
        <p:spPr>
          <a:xfrm>
            <a:off x="1143000" y="45529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文档与答辩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BD6AA0-08EA-474A-A88E-D4B46CB9DE77}"/>
              </a:ext>
            </a:extLst>
          </p:cNvPr>
          <p:cNvSpPr>
            <a:spLocks noGrp="1"/>
          </p:cNvSpPr>
          <p:nvPr/>
        </p:nvSpPr>
        <p:spPr>
          <a:xfrm>
            <a:off x="4000500" y="45910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ER / API / </a:t>
            </a: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架构 </a:t>
            </a:r>
            <a:r>
              <a:rPr lang="en-US" altLang="zh-CN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报告 </a:t>
            </a:r>
            <a:r>
              <a:rPr lang="en-US" altLang="zh-CN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en-US" sz="1400" b="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PPT / QA</a:t>
            </a:r>
            <a:endParaRPr sz="1400" b="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BCF617-C6EE-4545-8A86-0C6D14D5AC3B}"/>
              </a:ext>
            </a:extLst>
          </p:cNvPr>
          <p:cNvSpPr>
            <a:spLocks noGrp="1"/>
          </p:cNvSpPr>
          <p:nvPr/>
        </p:nvSpPr>
        <p:spPr>
          <a:xfrm>
            <a:off x="8896350" y="45910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材料可证</a:t>
            </a:r>
            <a:endParaRPr sz="1200" b="1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61C09C-3601-48AD-ABCE-E65D531A6DBB}"/>
              </a:ext>
            </a:extLst>
          </p:cNvPr>
          <p:cNvSpPr>
            <a:spLocks noGrp="1"/>
          </p:cNvSpPr>
          <p:nvPr/>
        </p:nvSpPr>
        <p:spPr>
          <a:xfrm>
            <a:off x="1219200" y="56769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AI </a:t>
            </a:r>
            <a:r>
              <a:rPr lang="zh-CN" altLang="en-US" sz="1300" b="0">
                <a:solidFill>
                  <a:srgbClr val="1113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负责加速生成与审查，人负责边界设计、事实核对和最终验收；答辩现场以源码、日志、测试和真实界面形成证据链。</a:t>
            </a:r>
            <a:endParaRPr sz="1300" b="0">
              <a:solidFill>
                <a:srgbClr val="11131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E46127-B02B-418C-BCCC-3924BA54014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7827B6B-BE86-4567-A60C-F1ACD0FE2568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31220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6954E6F-B1CB-44A2-A461-1A993C9D7074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A9B4D8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A9B4D8"/>
                </a:solidFill>
                <a:latin typeface="Consolas"/>
                <a:ea typeface="Consolas"/>
                <a:cs typeface="Consolas"/>
              </a:rPr>
              <a:t>CLOSING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CBF9CE-814C-4FC2-81C0-B2B973975CAF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9906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我们交付的是一个能讲清楚、跑得起来、</a:t>
            </a:r>
          </a:p>
          <a:p>
            <a:pPr algn="l">
              <a:def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查得到证据的智能商城闭环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D60048-06F4-47BA-854B-A8FC937A6134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D7DB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DBE4"/>
                </a:solidFill>
                <a:latin typeface="Microsoft YaHei"/>
                <a:ea typeface="Microsoft YaHei"/>
                <a:cs typeface="Microsoft YaHei"/>
              </a:rPr>
              <a:t>核心演示顺序：登录 -&gt; 搜索商品 -&gt; 加购下单 -&gt; 订单状态 -&gt; AI 查单/推荐 -&gt; 后台运营 -&gt; 日志与验证。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A6BD260-8232-4118-A3C8-BB914F885EA3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10001250" cy="838200"/>
          </a:xfrm>
          <a:prstGeom prst="roundRect">
            <a:avLst>
              <a:gd name="adj" fmla="val 2273"/>
            </a:avLst>
          </a:prstGeom>
          <a:solidFill>
            <a:srgbClr val="171A21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896F0A-BCC6-4648-BE7F-DB84B5AD66BD}"/>
              </a:ext>
            </a:extLst>
          </p:cNvPr>
          <p:cNvSpPr>
            <a:spLocks noGrp="1"/>
          </p:cNvSpPr>
          <p:nvPr/>
        </p:nvSpPr>
        <p:spPr>
          <a:xfrm>
            <a:off x="1066800" y="46291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欢迎提问：架构边界、Agent 工具调用、并发事务、Docker 部署和测试证据都可以展开。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BEEF27-77C6-4107-9880-61642154AB6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D39012-5B2D-4442-B4B8-25E0DCC3E34A}"/>
              </a:ext>
            </a:extLst>
          </p:cNvPr>
          <p:cNvSpPr>
            <a:spLocks noGrp="1"/>
          </p:cNvSpPr>
          <p:nvPr/>
        </p:nvSpPr>
        <p:spPr>
          <a:xfrm>
            <a:off x="11125200" y="64008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700276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2686</Words>
  <Application>Microsoft Office PowerPoint</Application>
  <DocSecurity>0</DocSecurity>
  <PresentationFormat>宽屏</PresentationFormat>
  <Paragraphs>395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iojis slidfh</cp:lastModifiedBy>
  <cp:revision>1</cp:revision>
  <dcterms:created xsi:type="dcterms:W3CDTF">2026-07-09T10:07:23Z</dcterms:created>
  <dcterms:modified xsi:type="dcterms:W3CDTF">2026-07-10T11:19:54Z</dcterms:modified>
</cp:coreProperties>
</file>