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开场控制在 </a:t>
            </a:r>
            <a:r>
              <a:rPr lang="en-US" altLang="zh-CN">
                <a:latin typeface="Microsoft YaHei" panose="020B0503020204020204" pitchFamily="34" charset="-122"/>
                <a:ea typeface="Microsoft YaHei" panose="020B0503020204020204" pitchFamily="34" charset="-122"/>
              </a:rPr>
              <a:t>20 </a:t>
            </a:r>
            <a:r>
              <a:rPr lang="zh-CN" altLang="en-US">
                <a:latin typeface="Microsoft YaHei" panose="020B0503020204020204" pitchFamily="34" charset="-122"/>
                <a:ea typeface="Microsoft YaHei" panose="020B0503020204020204" pitchFamily="34" charset="-122"/>
              </a:rPr>
              <a:t>秒：本项目不是单纯做一个商城页面，而是把注册、商品、搜索、交易、</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导购、部署和测试串成可演示闭环。今天重点讲三个问题：系统如何完成真实交易、</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为什么不是普通聊天框、工程结果如何被验证。</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az-Cyrl-AZ"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先向老师交代叙事结构，并指出页面底部已经把六项评分标准显式映射：完整度和功能看模块与实景，技术突破看五个亮点，个人答辩看架构、</a:t>
            </a:r>
            <a:r>
              <a:rPr lang="en-US" altLang="ja-JP">
                <a:latin typeface="Microsoft YaHei" panose="020B0503020204020204" pitchFamily="34" charset="-122"/>
                <a:ea typeface="Microsoft YaHei" panose="020B0503020204020204" pitchFamily="34" charset="-122"/>
              </a:rPr>
              <a:t>Agent </a:t>
            </a:r>
            <a:r>
              <a:rPr lang="ja-JP" altLang="en-US">
                <a:latin typeface="Microsoft YaHei" panose="020B0503020204020204" pitchFamily="34" charset="-122"/>
                <a:ea typeface="Microsoft YaHei" panose="020B0503020204020204" pitchFamily="34" charset="-122"/>
              </a:rPr>
              <a:t>和事务原理，</a:t>
            </a:r>
            <a:r>
              <a:rPr lang="en-US" altLang="ja-JP">
                <a:latin typeface="Microsoft YaHei" panose="020B0503020204020204" pitchFamily="34" charset="-122"/>
                <a:ea typeface="Microsoft YaHei" panose="020B0503020204020204" pitchFamily="34" charset="-122"/>
              </a:rPr>
              <a:t>PPT </a:t>
            </a:r>
            <a:r>
              <a:rPr lang="ja-JP" altLang="en-US">
                <a:latin typeface="Microsoft YaHei" panose="020B0503020204020204" pitchFamily="34" charset="-122"/>
                <a:ea typeface="Microsoft YaHei" panose="020B0503020204020204" pitchFamily="34" charset="-122"/>
              </a:rPr>
              <a:t>与材料完整度由整套交付物证明。</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项目周期按企业实训 </a:t>
            </a:r>
            <a:r>
              <a:rPr lang="en-US" altLang="ja-JP">
                <a:latin typeface="Microsoft YaHei" panose="020B0503020204020204" pitchFamily="34" charset="-122"/>
                <a:ea typeface="Microsoft YaHei" panose="020B0503020204020204" pitchFamily="34" charset="-122"/>
              </a:rPr>
              <a:t>15 </a:t>
            </a:r>
            <a:r>
              <a:rPr lang="ja-JP" altLang="en-US">
                <a:latin typeface="Microsoft YaHei" panose="020B0503020204020204" pitchFamily="34" charset="-122"/>
                <a:ea typeface="Microsoft YaHei" panose="020B0503020204020204" pitchFamily="34" charset="-122"/>
              </a:rPr>
              <a:t>个工作日设计，目标不是生产级双十一架构，而是完成软件工程全流程。五大核心模块必须能独立演示，四个容器服务必须能一键启动，</a:t>
            </a:r>
            <a:r>
              <a:rPr lang="en-US" altLang="ja-JP">
                <a:latin typeface="Microsoft YaHei" panose="020B0503020204020204" pitchFamily="34" charset="-122"/>
                <a:ea typeface="Microsoft YaHei" panose="020B0503020204020204" pitchFamily="34" charset="-122"/>
              </a:rPr>
              <a:t>MySQL </a:t>
            </a:r>
            <a:r>
              <a:rPr lang="ja-JP" altLang="en-US">
                <a:latin typeface="Microsoft YaHei" panose="020B0503020204020204" pitchFamily="34" charset="-122"/>
                <a:ea typeface="Microsoft YaHei" panose="020B0503020204020204" pitchFamily="34" charset="-122"/>
              </a:rPr>
              <a:t>是唯一业务数据源。</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强调边界：</a:t>
            </a:r>
            <a:r>
              <a:rPr lang="en-US">
                <a:latin typeface="Microsoft YaHei" panose="020B0503020204020204" pitchFamily="34" charset="-122"/>
                <a:ea typeface="Microsoft YaHei" panose="020B0503020204020204" pitchFamily="34" charset="-122"/>
              </a:rPr>
              <a:t>Vue3 </a:t>
            </a:r>
            <a:r>
              <a:rPr lang="zh-CN" altLang="en-US">
                <a:latin typeface="Microsoft YaHei" panose="020B0503020204020204" pitchFamily="34" charset="-122"/>
                <a:ea typeface="Microsoft YaHei" panose="020B0503020204020204" pitchFamily="34" charset="-122"/>
              </a:rPr>
              <a:t>只访问 </a:t>
            </a:r>
            <a:r>
              <a:rPr lang="en-US">
                <a:latin typeface="Microsoft YaHei" panose="020B0503020204020204" pitchFamily="34" charset="-122"/>
                <a:ea typeface="Microsoft YaHei" panose="020B0503020204020204" pitchFamily="34" charset="-122"/>
              </a:rPr>
              <a:t>Spring Boot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Agent；Spring Boot </a:t>
            </a:r>
            <a:r>
              <a:rPr lang="zh-CN" altLang="en-US">
                <a:latin typeface="Microsoft YaHei" panose="020B0503020204020204" pitchFamily="34" charset="-122"/>
                <a:ea typeface="Microsoft YaHei" panose="020B0503020204020204" pitchFamily="34" charset="-122"/>
              </a:rPr>
              <a:t>是用户、商品、订单等业务数据的唯一写入口；</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独立使用 </a:t>
            </a:r>
            <a:r>
              <a:rPr lang="en-US">
                <a:latin typeface="Microsoft YaHei" panose="020B0503020204020204" pitchFamily="34" charset="-122"/>
                <a:ea typeface="Microsoft YaHei" panose="020B0503020204020204" pitchFamily="34" charset="-122"/>
              </a:rPr>
              <a:t>Python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LangChain，</a:t>
            </a:r>
            <a:r>
              <a:rPr lang="zh-CN" altLang="en-US">
                <a:latin typeface="Microsoft YaHei" panose="020B0503020204020204" pitchFamily="34" charset="-122"/>
                <a:ea typeface="Microsoft YaHei" panose="020B0503020204020204" pitchFamily="34" charset="-122"/>
              </a:rPr>
              <a:t>只通过受限 </a:t>
            </a:r>
            <a:r>
              <a:rPr lang="en-US">
                <a:latin typeface="Microsoft YaHei" panose="020B0503020204020204" pitchFamily="34" charset="-122"/>
                <a:ea typeface="Microsoft YaHei" panose="020B0503020204020204" pitchFamily="34" charset="-122"/>
              </a:rPr>
              <a:t>REST </a:t>
            </a:r>
            <a:r>
              <a:rPr lang="zh-CN" altLang="en-US">
                <a:latin typeface="Microsoft YaHei" panose="020B0503020204020204" pitchFamily="34" charset="-122"/>
                <a:ea typeface="Microsoft YaHei" panose="020B0503020204020204" pitchFamily="34" charset="-122"/>
              </a:rPr>
              <a:t>接口读取或操作业务数据，仅直接维护自己的会话、偏好和知识库表。</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技术选型遵循课程要求和项目规模：前端 </a:t>
            </a:r>
            <a:r>
              <a:rPr lang="en-US">
                <a:latin typeface="Microsoft YaHei" panose="020B0503020204020204" pitchFamily="34" charset="-122"/>
                <a:ea typeface="Microsoft YaHei" panose="020B0503020204020204" pitchFamily="34" charset="-122"/>
              </a:rPr>
              <a:t>Vue3 </a:t>
            </a:r>
            <a:r>
              <a:rPr lang="zh-CN" altLang="en-US">
                <a:latin typeface="Microsoft YaHei" panose="020B0503020204020204" pitchFamily="34" charset="-122"/>
                <a:ea typeface="Microsoft YaHei" panose="020B0503020204020204" pitchFamily="34" charset="-122"/>
              </a:rPr>
              <a:t>组合式 </a:t>
            </a:r>
            <a:r>
              <a:rPr lang="en-US">
                <a:latin typeface="Microsoft YaHei" panose="020B0503020204020204" pitchFamily="34" charset="-122"/>
                <a:ea typeface="Microsoft YaHei" panose="020B0503020204020204" pitchFamily="34" charset="-122"/>
              </a:rPr>
              <a:t>API，</a:t>
            </a:r>
            <a:r>
              <a:rPr lang="zh-CN" altLang="en-US">
                <a:latin typeface="Microsoft YaHei" panose="020B0503020204020204" pitchFamily="34" charset="-122"/>
                <a:ea typeface="Microsoft YaHei" panose="020B0503020204020204" pitchFamily="34" charset="-122"/>
              </a:rPr>
              <a:t>后端 </a:t>
            </a:r>
            <a:r>
              <a:rPr lang="en-US">
                <a:latin typeface="Microsoft YaHei" panose="020B0503020204020204" pitchFamily="34" charset="-122"/>
                <a:ea typeface="Microsoft YaHei" panose="020B0503020204020204" pitchFamily="34" charset="-122"/>
              </a:rPr>
              <a:t>Spring Boot 3.3 </a:t>
            </a:r>
            <a:r>
              <a:rPr lang="zh-CN" altLang="en-US">
                <a:latin typeface="Microsoft YaHei" panose="020B0503020204020204" pitchFamily="34" charset="-122"/>
                <a:ea typeface="Microsoft YaHei" panose="020B0503020204020204" pitchFamily="34" charset="-122"/>
              </a:rPr>
              <a:t>加安全、</a:t>
            </a:r>
            <a:r>
              <a:rPr lang="en-US">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JPA，AI </a:t>
            </a:r>
            <a:r>
              <a:rPr lang="zh-CN" altLang="en-US">
                <a:latin typeface="Microsoft YaHei" panose="020B0503020204020204" pitchFamily="34" charset="-122"/>
                <a:ea typeface="Microsoft YaHei" panose="020B0503020204020204" pitchFamily="34" charset="-122"/>
              </a:rPr>
              <a:t>服务使用 </a:t>
            </a:r>
            <a:r>
              <a:rPr lang="en-US">
                <a:latin typeface="Microsoft YaHei" panose="020B0503020204020204" pitchFamily="34" charset="-122"/>
                <a:ea typeface="Microsoft YaHei" panose="020B0503020204020204" pitchFamily="34" charset="-122"/>
              </a:rPr>
              <a:t>FastAPI、LangChain、SQLAlchemy，</a:t>
            </a:r>
            <a:r>
              <a:rPr lang="zh-CN" altLang="en-US">
                <a:latin typeface="Microsoft YaHei" panose="020B0503020204020204" pitchFamily="34" charset="-122"/>
                <a:ea typeface="Microsoft YaHei" panose="020B0503020204020204" pitchFamily="34" charset="-122"/>
              </a:rPr>
              <a:t>部署使用 </a:t>
            </a:r>
            <a:r>
              <a:rPr lang="en-US">
                <a:latin typeface="Microsoft YaHei" panose="020B0503020204020204" pitchFamily="34" charset="-122"/>
                <a:ea typeface="Microsoft YaHei" panose="020B0503020204020204" pitchFamily="34" charset="-122"/>
              </a:rPr>
              <a:t>Docker Compose。</a:t>
            </a:r>
            <a:r>
              <a:rPr lang="zh-CN" altLang="en-US">
                <a:latin typeface="Microsoft YaHei" panose="020B0503020204020204" pitchFamily="34" charset="-122"/>
                <a:ea typeface="Microsoft YaHei" panose="020B0503020204020204" pitchFamily="34" charset="-122"/>
              </a:rPr>
              <a:t>没有引入网关、注册中心、</a:t>
            </a:r>
            <a:r>
              <a:rPr lang="en-US">
                <a:latin typeface="Microsoft YaHei" panose="020B0503020204020204" pitchFamily="34" charset="-122"/>
                <a:ea typeface="Microsoft YaHei" panose="020B0503020204020204" pitchFamily="34" charset="-122"/>
              </a:rPr>
              <a:t>MQ </a:t>
            </a:r>
            <a:r>
              <a:rPr lang="zh-CN" altLang="en-US">
                <a:latin typeface="Microsoft YaHei" panose="020B0503020204020204" pitchFamily="34" charset="-122"/>
                <a:ea typeface="Microsoft YaHei" panose="020B0503020204020204" pitchFamily="34" charset="-122"/>
              </a:rPr>
              <a:t>或 </a:t>
            </a:r>
            <a:r>
              <a:rPr lang="en-US">
                <a:latin typeface="Microsoft YaHei" panose="020B0503020204020204" pitchFamily="34" charset="-122"/>
                <a:ea typeface="Microsoft YaHei" panose="020B0503020204020204" pitchFamily="34" charset="-122"/>
              </a:rPr>
              <a:t>Redis，</a:t>
            </a:r>
            <a:r>
              <a:rPr lang="zh-CN" altLang="en-US">
                <a:latin typeface="Microsoft YaHei" panose="020B0503020204020204" pitchFamily="34" charset="-122"/>
                <a:ea typeface="Microsoft YaHei" panose="020B0503020204020204" pitchFamily="34" charset="-122"/>
              </a:rPr>
              <a:t>避免偏离主链路。</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数据库按业务职责拆表，核心关系满足 </a:t>
            </a:r>
            <a:r>
              <a:rPr lang="en-US" altLang="zh-CN">
                <a:latin typeface="Microsoft YaHei" panose="020B0503020204020204" pitchFamily="34" charset="-122"/>
                <a:ea typeface="Microsoft YaHei" panose="020B0503020204020204" pitchFamily="34" charset="-122"/>
              </a:rPr>
              <a:t>3</a:t>
            </a:r>
            <a:r>
              <a:rPr lang="en-US">
                <a:latin typeface="Microsoft YaHei" panose="020B0503020204020204" pitchFamily="34" charset="-122"/>
                <a:ea typeface="Microsoft YaHei" panose="020B0503020204020204" pitchFamily="34" charset="-122"/>
              </a:rPr>
              <a:t>NF。order_item </a:t>
            </a:r>
            <a:r>
              <a:rPr lang="zh-CN" altLang="en-US">
                <a:latin typeface="Microsoft YaHei" panose="020B0503020204020204" pitchFamily="34" charset="-122"/>
                <a:ea typeface="Microsoft YaHei" panose="020B0503020204020204" pitchFamily="34" charset="-122"/>
              </a:rPr>
              <a:t>的商品名和价格是下单时刻的事实快照，用于保证历史订单不被后续商品改名改价影响，因此是有明确业务语义的合理非规范化。</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的 </a:t>
            </a:r>
            <a:r>
              <a:rPr lang="en-US">
                <a:latin typeface="Microsoft YaHei" panose="020B0503020204020204" pitchFamily="34" charset="-122"/>
                <a:ea typeface="Microsoft YaHei" panose="020B0503020204020204" pitchFamily="34" charset="-122"/>
              </a:rPr>
              <a:t>conversation、preference、knowledge_chunk </a:t>
            </a:r>
            <a:r>
              <a:rPr lang="zh-CN" altLang="en-US">
                <a:latin typeface="Microsoft YaHei" panose="020B0503020204020204" pitchFamily="34" charset="-122"/>
                <a:ea typeface="Microsoft YaHei" panose="020B0503020204020204" pitchFamily="34" charset="-122"/>
              </a:rPr>
              <a:t>归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服务边界。</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这一页先讲五大必验收能力：认证、商品、搜索、订单、</a:t>
            </a:r>
            <a:r>
              <a:rPr lang="en-US" altLang="zh-CN">
                <a:latin typeface="Microsoft YaHei" panose="020B0503020204020204" pitchFamily="34" charset="-122"/>
                <a:ea typeface="Microsoft YaHei" panose="020B0503020204020204" pitchFamily="34" charset="-122"/>
              </a:rPr>
              <a:t>AI</a:t>
            </a:r>
            <a:r>
              <a:rPr lang="zh-CN" altLang="en-US">
                <a:latin typeface="Microsoft YaHei" panose="020B0503020204020204" pitchFamily="34" charset="-122"/>
                <a:ea typeface="Microsoft YaHei" panose="020B0503020204020204" pitchFamily="34" charset="-122"/>
              </a:rPr>
              <a:t>。购物车属于订单模块；售后、用户体验和后台是增强能力。认证强调 </a:t>
            </a:r>
            <a:r>
              <a:rPr lang="en-US" altLang="zh-CN">
                <a:latin typeface="Microsoft YaHei" panose="020B0503020204020204" pitchFamily="34" charset="-122"/>
                <a:ea typeface="Microsoft YaHei" panose="020B0503020204020204" pitchFamily="34" charset="-122"/>
              </a:rPr>
              <a:t>401</a:t>
            </a:r>
            <a:r>
              <a:rPr lang="zh-CN" altLang="en-US">
                <a:latin typeface="Microsoft YaHei" panose="020B0503020204020204" pitchFamily="34" charset="-122"/>
                <a:ea typeface="Microsoft YaHei" panose="020B0503020204020204" pitchFamily="34" charset="-122"/>
              </a:rPr>
              <a:t>、</a:t>
            </a:r>
            <a:r>
              <a:rPr lang="en-US" altLang="zh-CN">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和 </a:t>
            </a:r>
            <a:r>
              <a:rPr lang="en-US" altLang="zh-CN">
                <a:latin typeface="Microsoft YaHei" panose="020B0503020204020204" pitchFamily="34" charset="-122"/>
                <a:ea typeface="Microsoft YaHei" panose="020B0503020204020204" pitchFamily="34" charset="-122"/>
              </a:rPr>
              <a:t>BCrypt</a:t>
            </a:r>
            <a:r>
              <a:rPr lang="zh-CN" altLang="en-US">
                <a:latin typeface="Microsoft YaHei" panose="020B0503020204020204" pitchFamily="34" charset="-122"/>
                <a:ea typeface="Microsoft YaHei" panose="020B0503020204020204" pitchFamily="34" charset="-122"/>
              </a:rPr>
              <a:t>；订单强调事务、状态机和取消回补；</a:t>
            </a:r>
            <a:r>
              <a:rPr lang="en-US" altLang="zh-CN">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强调八个工具、双层记忆和结构化输出。</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这是第一个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亮点：用户在对话中表达偏好，系统提炼标签写入 </a:t>
            </a:r>
            <a:r>
              <a:rPr lang="en-US">
                <a:latin typeface="Microsoft YaHei" panose="020B0503020204020204" pitchFamily="34" charset="-122"/>
                <a:ea typeface="Microsoft YaHei" panose="020B0503020204020204" pitchFamily="34" charset="-122"/>
              </a:rPr>
              <a:t>user_preference；</a:t>
            </a:r>
            <a:r>
              <a:rPr lang="zh-CN" altLang="en-US">
                <a:latin typeface="Microsoft YaHei" panose="020B0503020204020204" pitchFamily="34" charset="-122"/>
                <a:ea typeface="Microsoft YaHei" panose="020B0503020204020204" pitchFamily="34" charset="-122"/>
              </a:rPr>
              <a:t>新会话读取权重最高的标签注入提示词；首页推荐接口也消费同一偏好，形成从对话到推荐页面的闭环，而不是只在聊天窗口里说记住了。</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en-US">
                <a:latin typeface="Microsoft YaHei" panose="020B0503020204020204" pitchFamily="34" charset="-122"/>
                <a:ea typeface="Microsoft YaHei" panose="020B0503020204020204" pitchFamily="34" charset="-122"/>
              </a:rPr>
              <a:t>RAG </a:t>
            </a:r>
            <a:r>
              <a:rPr lang="zh-CN" altLang="en-US">
                <a:latin typeface="Microsoft YaHei" panose="020B0503020204020204" pitchFamily="34" charset="-122"/>
                <a:ea typeface="Microsoft YaHei" panose="020B0503020204020204" pitchFamily="34" charset="-122"/>
              </a:rPr>
              <a:t>采用轻量 </a:t>
            </a:r>
            <a:r>
              <a:rPr lang="en-US">
                <a:latin typeface="Microsoft YaHei" panose="020B0503020204020204" pitchFamily="34" charset="-122"/>
                <a:ea typeface="Microsoft YaHei" panose="020B0503020204020204" pitchFamily="34" charset="-122"/>
              </a:rPr>
              <a:t>MySQL </a:t>
            </a:r>
            <a:r>
              <a:rPr lang="zh-CN" altLang="en-US">
                <a:latin typeface="Microsoft YaHei" panose="020B0503020204020204" pitchFamily="34" charset="-122"/>
                <a:ea typeface="Microsoft YaHei" panose="020B0503020204020204" pitchFamily="34" charset="-122"/>
              </a:rPr>
              <a:t>知识块，没有引入向量数据库。运行态共有 </a:t>
            </a:r>
            <a:r>
              <a:rPr lang="en-US" altLang="zh-CN">
                <a:latin typeface="Microsoft YaHei" panose="020B0503020204020204" pitchFamily="34" charset="-122"/>
                <a:ea typeface="Microsoft YaHei" panose="020B0503020204020204" pitchFamily="34" charset="-122"/>
              </a:rPr>
              <a:t>88 </a:t>
            </a:r>
            <a:r>
              <a:rPr lang="zh-CN" altLang="en-US">
                <a:latin typeface="Microsoft YaHei" panose="020B0503020204020204" pitchFamily="34" charset="-122"/>
                <a:ea typeface="Microsoft YaHei" panose="020B0503020204020204" pitchFamily="34" charset="-122"/>
              </a:rPr>
              <a:t>个知识块，包含商品、评价和 </a:t>
            </a:r>
            <a:r>
              <a:rPr lang="en-US">
                <a:latin typeface="Microsoft YaHei" panose="020B0503020204020204" pitchFamily="34" charset="-122"/>
                <a:ea typeface="Microsoft YaHei" panose="020B0503020204020204" pitchFamily="34" charset="-122"/>
              </a:rPr>
              <a:t>FAQ。</a:t>
            </a:r>
            <a:r>
              <a:rPr lang="zh-CN" altLang="en-US">
                <a:latin typeface="Microsoft YaHei" panose="020B0503020204020204" pitchFamily="34" charset="-122"/>
                <a:ea typeface="Microsoft YaHei" panose="020B0503020204020204" pitchFamily="34" charset="-122"/>
              </a:rPr>
              <a:t>工具在需要时检索这些事实，补充商品评价和规则依据；这属于加分能力，但核心工具调用和记忆不依赖它。</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用一条真实烟测讲清楚 </a:t>
            </a:r>
            <a:r>
              <a:rPr lang="en-US">
                <a:latin typeface="Microsoft YaHei" panose="020B0503020204020204" pitchFamily="34" charset="-122"/>
                <a:ea typeface="Microsoft YaHei" panose="020B0503020204020204" pitchFamily="34" charset="-122"/>
              </a:rPr>
              <a:t>Agent：</a:t>
            </a:r>
            <a:r>
              <a:rPr lang="zh-CN" altLang="en-US">
                <a:latin typeface="Microsoft YaHei" panose="020B0503020204020204" pitchFamily="34" charset="-122"/>
                <a:ea typeface="Microsoft YaHei" panose="020B0503020204020204" pitchFamily="34" charset="-122"/>
              </a:rPr>
              <a:t>用户说想搭配户外跑步装备，系统先只追问缺失预算；拿到预算后检索真实商品和知识，生成不超过三件的购买方案；前端通过稳定 </a:t>
            </a:r>
            <a:r>
              <a:rPr lang="en-US">
                <a:latin typeface="Microsoft YaHei" panose="020B0503020204020204" pitchFamily="34" charset="-122"/>
                <a:ea typeface="Microsoft YaHei" panose="020B0503020204020204" pitchFamily="34" charset="-122"/>
              </a:rPr>
              <a:t>ChatUi </a:t>
            </a:r>
            <a:r>
              <a:rPr lang="zh-CN" altLang="en-US">
                <a:latin typeface="Microsoft YaHei" panose="020B0503020204020204" pitchFamily="34" charset="-122"/>
                <a:ea typeface="Microsoft YaHei" panose="020B0503020204020204" pitchFamily="34" charset="-122"/>
              </a:rPr>
              <a:t>合同显示任务步骤、商品卡和操作按钮；真正加购前必须再次确认。最新版烟测覆盖同步接口、</a:t>
            </a:r>
            <a:r>
              <a:rPr lang="en-US">
                <a:latin typeface="Microsoft YaHei" panose="020B0503020204020204" pitchFamily="34" charset="-122"/>
                <a:ea typeface="Microsoft YaHei" panose="020B0503020204020204" pitchFamily="34" charset="-122"/>
              </a:rPr>
              <a:t>SSE </a:t>
            </a:r>
            <a:r>
              <a:rPr lang="zh-CN" altLang="en-US">
                <a:latin typeface="Microsoft YaHei" panose="020B0503020204020204" pitchFamily="34" charset="-122"/>
                <a:ea typeface="Microsoft YaHei" panose="020B0503020204020204" pitchFamily="34" charset="-122"/>
              </a:rPr>
              <a:t>流式事件、新会话隔离和确认加购。</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这页一定诚实：我们建立了性能诊断能力，包括页面内 </a:t>
            </a:r>
            <a:r>
              <a:rPr lang="en-US">
                <a:latin typeface="Microsoft YaHei" panose="020B0503020204020204" pitchFamily="34" charset="-122"/>
                <a:ea typeface="Microsoft YaHei" panose="020B0503020204020204" pitchFamily="34" charset="-122"/>
              </a:rPr>
              <a:t>HUD、</a:t>
            </a:r>
            <a:r>
              <a:rPr lang="zh-CN" altLang="en-US">
                <a:latin typeface="Microsoft YaHei" panose="020B0503020204020204" pitchFamily="34" charset="-122"/>
                <a:ea typeface="Microsoft YaHei" panose="020B0503020204020204" pitchFamily="34" charset="-122"/>
              </a:rPr>
              <a:t>动效开关和真实 </a:t>
            </a:r>
            <a:r>
              <a:rPr lang="en-US">
                <a:latin typeface="Microsoft YaHei" panose="020B0503020204020204" pitchFamily="34" charset="-122"/>
                <a:ea typeface="Microsoft YaHei" panose="020B0503020204020204" pitchFamily="34" charset="-122"/>
              </a:rPr>
              <a:t>Chrome CDP </a:t>
            </a:r>
            <a:r>
              <a:rPr lang="zh-CN" altLang="en-US">
                <a:latin typeface="Microsoft YaHei" panose="020B0503020204020204" pitchFamily="34" charset="-122"/>
                <a:ea typeface="Microsoft YaHei" panose="020B0503020204020204" pitchFamily="34" charset="-122"/>
              </a:rPr>
              <a:t>脚本，但尚未形成完整真实设备 </a:t>
            </a:r>
            <a:r>
              <a:rPr lang="en-US">
                <a:latin typeface="Microsoft YaHei" panose="020B0503020204020204" pitchFamily="34" charset="-122"/>
                <a:ea typeface="Microsoft YaHei" panose="020B0503020204020204" pitchFamily="34" charset="-122"/>
              </a:rPr>
              <a:t>FPS </a:t>
            </a:r>
            <a:r>
              <a:rPr lang="zh-CN" altLang="en-US">
                <a:latin typeface="Microsoft YaHei" panose="020B0503020204020204" pitchFamily="34" charset="-122"/>
                <a:ea typeface="Microsoft YaHei" panose="020B0503020204020204" pitchFamily="34" charset="-122"/>
              </a:rPr>
              <a:t>矩阵，因此不展示无法复现的性能数字。亮点是工程方法和可诊断性，不是编造一个漂亮指标。</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扣库存 </a:t>
            </a:r>
            <a:r>
              <a:rPr lang="en-US" altLang="zh-CN">
                <a:latin typeface="Microsoft YaHei" panose="020B0503020204020204" pitchFamily="34" charset="-122"/>
                <a:ea typeface="Microsoft YaHei" panose="020B0503020204020204" pitchFamily="34" charset="-122"/>
              </a:rPr>
              <a:t>SQL </a:t>
            </a:r>
            <a:r>
              <a:rPr lang="zh-CN" altLang="en-US">
                <a:latin typeface="Microsoft YaHei" panose="020B0503020204020204" pitchFamily="34" charset="-122"/>
                <a:ea typeface="Microsoft YaHei" panose="020B0503020204020204" pitchFamily="34" charset="-122"/>
              </a:rPr>
              <a:t>与当前真实仓库一致：在同一条原子更新里扣库存、增加销量和版本号，并同时检查 </a:t>
            </a:r>
            <a:r>
              <a:rPr lang="en-US" altLang="zh-CN">
                <a:latin typeface="Microsoft YaHei" panose="020B0503020204020204" pitchFamily="34" charset="-122"/>
                <a:ea typeface="Microsoft YaHei" panose="020B0503020204020204" pitchFamily="34" charset="-122"/>
              </a:rPr>
              <a:t>stock </a:t>
            </a:r>
            <a:r>
              <a:rPr lang="zh-CN" altLang="en-US">
                <a:latin typeface="Microsoft YaHei" panose="020B0503020204020204" pitchFamily="34" charset="-122"/>
                <a:ea typeface="Microsoft YaHei" panose="020B0503020204020204" pitchFamily="34" charset="-122"/>
              </a:rPr>
              <a:t>与 </a:t>
            </a:r>
            <a:r>
              <a:rPr lang="en-US" altLang="zh-CN">
                <a:latin typeface="Microsoft YaHei" panose="020B0503020204020204" pitchFamily="34" charset="-122"/>
                <a:ea typeface="Microsoft YaHei" panose="020B0503020204020204" pitchFamily="34" charset="-122"/>
              </a:rPr>
              <a:t>version</a:t>
            </a:r>
            <a:r>
              <a:rPr lang="zh-CN" altLang="en-US">
                <a:latin typeface="Microsoft YaHei" panose="020B0503020204020204" pitchFamily="34" charset="-122"/>
                <a:ea typeface="Microsoft YaHei" panose="020B0503020204020204" pitchFamily="34" charset="-122"/>
              </a:rPr>
              <a:t>。页面展示的是最近一次并发验收留证结果；答辩前应在清洁测试数据下再次执行脚本并保留终端输出和数据库查询截图。</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左侧是登录态商品中心，右侧是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查询真实订单的界面。这里强调截图里的商品和订单都来自后端接口；</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不接收前端随意传入的 </a:t>
            </a:r>
            <a:r>
              <a:rPr lang="en-US">
                <a:latin typeface="Microsoft YaHei" panose="020B0503020204020204" pitchFamily="34" charset="-122"/>
                <a:ea typeface="Microsoft YaHei" panose="020B0503020204020204" pitchFamily="34" charset="-122"/>
              </a:rPr>
              <a:t>userId，</a:t>
            </a:r>
            <a:r>
              <a:rPr lang="zh-CN" altLang="en-US">
                <a:latin typeface="Microsoft YaHei" panose="020B0503020204020204" pitchFamily="34" charset="-122"/>
                <a:ea typeface="Microsoft YaHei" panose="020B0503020204020204" pitchFamily="34" charset="-122"/>
              </a:rPr>
              <a:t>而是先用用户 </a:t>
            </a:r>
            <a:r>
              <a:rPr lang="en-US">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调 </a:t>
            </a:r>
            <a:r>
              <a:rPr lang="en-US">
                <a:latin typeface="Microsoft YaHei" panose="020B0503020204020204" pitchFamily="34" charset="-122"/>
                <a:ea typeface="Microsoft YaHei" panose="020B0503020204020204" pitchFamily="34" charset="-122"/>
              </a:rPr>
              <a:t>profile </a:t>
            </a:r>
            <a:r>
              <a:rPr lang="zh-CN" altLang="en-US">
                <a:latin typeface="Microsoft YaHei" panose="020B0503020204020204" pitchFamily="34" charset="-122"/>
                <a:ea typeface="Microsoft YaHei" panose="020B0503020204020204" pitchFamily="34" charset="-122"/>
              </a:rPr>
              <a:t>校验身份，再用内部服务密钥访问受限订单接口。</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购物车到订单中心体现交易闭环：数量调整、勾选结算、优惠计算、模拟支付、取消、发货、确认收货和再次购买都可操作。取消订单和售后审核涉及库存回补，当前实现使用原子更新并有集成测试覆盖。</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管理端不是单独的静态页面，而是和同一业务后端联动：数据看板、商品管理、订单发货、售后审核、用户反馈和 </a:t>
            </a:r>
            <a:r>
              <a:rPr lang="en-US">
                <a:latin typeface="Microsoft YaHei" panose="020B0503020204020204" pitchFamily="34" charset="-122"/>
                <a:ea typeface="Microsoft YaHei" panose="020B0503020204020204" pitchFamily="34" charset="-122"/>
              </a:rPr>
              <a:t>Excel </a:t>
            </a:r>
            <a:r>
              <a:rPr lang="zh-CN" altLang="en-US">
                <a:latin typeface="Microsoft YaHei" panose="020B0503020204020204" pitchFamily="34" charset="-122"/>
                <a:ea typeface="Microsoft YaHei" panose="020B0503020204020204" pitchFamily="34" charset="-122"/>
              </a:rPr>
              <a:t>导出都在一个工作台。普通用户访问管理员接口返回 </a:t>
            </a:r>
            <a:r>
              <a:rPr lang="en-US" altLang="zh-CN">
                <a:latin typeface="Microsoft YaHei" panose="020B0503020204020204" pitchFamily="34" charset="-122"/>
                <a:ea typeface="Microsoft YaHei" panose="020B0503020204020204" pitchFamily="34" charset="-122"/>
              </a:rPr>
              <a:t>403</a:t>
            </a:r>
            <a:r>
              <a:rPr lang="zh-CN" altLang="en-US">
                <a:latin typeface="Microsoft YaHei" panose="020B0503020204020204" pitchFamily="34" charset="-122"/>
                <a:ea typeface="Microsoft YaHei" panose="020B0503020204020204" pitchFamily="34" charset="-122"/>
              </a:rPr>
              <a:t>。</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en-US" altLang="ja-JP">
                <a:latin typeface="Microsoft YaHei" panose="020B0503020204020204" pitchFamily="34" charset="-122"/>
                <a:ea typeface="Microsoft YaHei" panose="020B0503020204020204" pitchFamily="34" charset="-122"/>
              </a:rPr>
              <a:t>2026-07-10 </a:t>
            </a:r>
            <a:r>
              <a:rPr lang="zh-CN" altLang="en-US">
                <a:latin typeface="Microsoft YaHei" panose="020B0503020204020204" pitchFamily="34" charset="-122"/>
                <a:ea typeface="Microsoft YaHei" panose="020B0503020204020204" pitchFamily="34" charset="-122"/>
              </a:rPr>
              <a:t>重新执行结果：</a:t>
            </a:r>
            <a:r>
              <a:rPr lang="en-US" altLang="zh-CN">
                <a:latin typeface="Microsoft YaHei" panose="020B0503020204020204" pitchFamily="34" charset="-122"/>
                <a:ea typeface="Microsoft YaHei" panose="020B0503020204020204" pitchFamily="34" charset="-122"/>
              </a:rPr>
              <a:t>Maven 20 </a:t>
            </a:r>
            <a:r>
              <a:rPr lang="zh-CN" altLang="en-US">
                <a:latin typeface="Microsoft YaHei" panose="020B0503020204020204" pitchFamily="34" charset="-122"/>
                <a:ea typeface="Microsoft YaHei" panose="020B0503020204020204" pitchFamily="34" charset="-122"/>
              </a:rPr>
              <a:t>个测试全部通过，</a:t>
            </a:r>
            <a:r>
              <a:rPr lang="en-US" altLang="zh-CN">
                <a:latin typeface="Microsoft YaHei" panose="020B0503020204020204" pitchFamily="34" charset="-122"/>
                <a:ea typeface="Microsoft YaHei" panose="020B0503020204020204" pitchFamily="34" charset="-122"/>
              </a:rPr>
              <a:t>Vite </a:t>
            </a:r>
            <a:r>
              <a:rPr lang="zh-CN" altLang="en-US">
                <a:latin typeface="Microsoft YaHei" panose="020B0503020204020204" pitchFamily="34" charset="-122"/>
                <a:ea typeface="Microsoft YaHei" panose="020B0503020204020204" pitchFamily="34" charset="-122"/>
              </a:rPr>
              <a:t>生产构建通过，最新版 </a:t>
            </a:r>
            <a:r>
              <a:rPr lang="en-US" altLang="zh-CN">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端到端烟测通过；</a:t>
            </a:r>
            <a:r>
              <a:rPr lang="en-US" altLang="zh-CN">
                <a:latin typeface="Microsoft YaHei" panose="020B0503020204020204" pitchFamily="34" charset="-122"/>
                <a:ea typeface="Microsoft YaHei" panose="020B0503020204020204" pitchFamily="34" charset="-122"/>
              </a:rPr>
              <a:t>Docker </a:t>
            </a:r>
            <a:r>
              <a:rPr lang="zh-CN" altLang="en-US">
                <a:latin typeface="Microsoft YaHei" panose="020B0503020204020204" pitchFamily="34" charset="-122"/>
                <a:ea typeface="Microsoft YaHei" panose="020B0503020204020204" pitchFamily="34" charset="-122"/>
              </a:rPr>
              <a:t>四服务正常运行。前端构建仍有大 </a:t>
            </a:r>
            <a:r>
              <a:rPr lang="en-US" altLang="zh-CN">
                <a:latin typeface="Microsoft YaHei" panose="020B0503020204020204" pitchFamily="34" charset="-122"/>
                <a:ea typeface="Microsoft YaHei" panose="020B0503020204020204" pitchFamily="34" charset="-122"/>
              </a:rPr>
              <a:t>chunk </a:t>
            </a:r>
            <a:r>
              <a:rPr lang="zh-CN" altLang="en-US">
                <a:latin typeface="Microsoft YaHei" panose="020B0503020204020204" pitchFamily="34" charset="-122"/>
                <a:ea typeface="Microsoft YaHei" panose="020B0503020204020204" pitchFamily="34" charset="-122"/>
              </a:rPr>
              <a:t>警告，这一局限在第</a:t>
            </a:r>
            <a:r>
              <a:rPr lang="en-US" altLang="zh-CN">
                <a:latin typeface="Microsoft YaHei" panose="020B0503020204020204" pitchFamily="34" charset="-122"/>
                <a:ea typeface="Microsoft YaHei" panose="020B0503020204020204" pitchFamily="34" charset="-122"/>
              </a:rPr>
              <a:t>18</a:t>
            </a:r>
            <a:r>
              <a:rPr lang="zh-CN" altLang="en-US">
                <a:latin typeface="Microsoft YaHei" panose="020B0503020204020204" pitchFamily="34" charset="-122"/>
                <a:ea typeface="Microsoft YaHei" panose="020B0503020204020204" pitchFamily="34" charset="-122"/>
              </a:rPr>
              <a:t>页如实说明。</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部署时由 </a:t>
            </a:r>
            <a:r>
              <a:rPr lang="en-US">
                <a:latin typeface="Microsoft YaHei" panose="020B0503020204020204" pitchFamily="34" charset="-122"/>
                <a:ea typeface="Microsoft YaHei" panose="020B0503020204020204" pitchFamily="34" charset="-122"/>
              </a:rPr>
              <a:t>Compose </a:t>
            </a:r>
            <a:r>
              <a:rPr lang="zh-CN" altLang="en-US">
                <a:latin typeface="Microsoft YaHei" panose="020B0503020204020204" pitchFamily="34" charset="-122"/>
                <a:ea typeface="Microsoft YaHei" panose="020B0503020204020204" pitchFamily="34" charset="-122"/>
              </a:rPr>
              <a:t>编排 </a:t>
            </a:r>
            <a:r>
              <a:rPr lang="en-US">
                <a:latin typeface="Microsoft YaHei" panose="020B0503020204020204" pitchFamily="34" charset="-122"/>
                <a:ea typeface="Microsoft YaHei" panose="020B0503020204020204" pitchFamily="34" charset="-122"/>
              </a:rPr>
              <a:t>MySQL、</a:t>
            </a:r>
            <a:r>
              <a:rPr lang="zh-CN" altLang="en-US">
                <a:latin typeface="Microsoft YaHei" panose="020B0503020204020204" pitchFamily="34" charset="-122"/>
                <a:ea typeface="Microsoft YaHei" panose="020B0503020204020204" pitchFamily="34" charset="-122"/>
              </a:rPr>
              <a:t>后端、</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Nginx </a:t>
            </a:r>
            <a:r>
              <a:rPr lang="zh-CN" altLang="en-US">
                <a:latin typeface="Microsoft YaHei" panose="020B0503020204020204" pitchFamily="34" charset="-122"/>
                <a:ea typeface="Microsoft YaHei" panose="020B0503020204020204" pitchFamily="34" charset="-122"/>
              </a:rPr>
              <a:t>前端，容器通过服务名互相发现。关键密钥全部从环境变量注入。排障入口也明确：先看 </a:t>
            </a:r>
            <a:r>
              <a:rPr lang="en-US">
                <a:latin typeface="Microsoft YaHei" panose="020B0503020204020204" pitchFamily="34" charset="-122"/>
                <a:ea typeface="Microsoft YaHei" panose="020B0503020204020204" pitchFamily="34" charset="-122"/>
              </a:rPr>
              <a:t>docker compose ps，</a:t>
            </a:r>
            <a:r>
              <a:rPr lang="zh-CN" altLang="en-US">
                <a:latin typeface="Microsoft YaHei" panose="020B0503020204020204" pitchFamily="34" charset="-122"/>
                <a:ea typeface="Microsoft YaHei" panose="020B0503020204020204" pitchFamily="34" charset="-122"/>
              </a:rPr>
              <a:t>再看 </a:t>
            </a:r>
            <a:r>
              <a:rPr lang="en-US">
                <a:latin typeface="Microsoft YaHei" panose="020B0503020204020204" pitchFamily="34" charset="-122"/>
                <a:ea typeface="Microsoft YaHei" panose="020B0503020204020204" pitchFamily="34" charset="-122"/>
              </a:rPr>
              <a:t>backend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agent-service </a:t>
            </a:r>
            <a:r>
              <a:rPr lang="zh-CN" altLang="en-US">
                <a:latin typeface="Microsoft YaHei" panose="020B0503020204020204" pitchFamily="34" charset="-122"/>
                <a:ea typeface="Microsoft YaHei" panose="020B0503020204020204" pitchFamily="34" charset="-122"/>
              </a:rPr>
              <a:t>日志，订单成功失败和工具调用都有 </a:t>
            </a:r>
            <a:r>
              <a:rPr lang="en-US">
                <a:latin typeface="Microsoft YaHei" panose="020B0503020204020204" pitchFamily="34" charset="-122"/>
                <a:ea typeface="Microsoft YaHei" panose="020B0503020204020204" pitchFamily="34" charset="-122"/>
              </a:rPr>
              <a:t>INFO </a:t>
            </a:r>
            <a:r>
              <a:rPr lang="zh-CN" altLang="en-US">
                <a:latin typeface="Microsoft YaHei" panose="020B0503020204020204" pitchFamily="34" charset="-122"/>
                <a:ea typeface="Microsoft YaHei" panose="020B0503020204020204" pitchFamily="34" charset="-122"/>
              </a:rPr>
              <a:t>记录。</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高分答辩不回避局限：主链路和核心验收已经完成，但前端 </a:t>
            </a:r>
            <a:r>
              <a:rPr lang="en-US">
                <a:latin typeface="Microsoft YaHei" panose="020B0503020204020204" pitchFamily="34" charset="-122"/>
                <a:ea typeface="Microsoft YaHei" panose="020B0503020204020204" pitchFamily="34" charset="-122"/>
              </a:rPr>
              <a:t>chunk </a:t>
            </a:r>
            <a:r>
              <a:rPr lang="zh-CN" altLang="en-US">
                <a:latin typeface="Microsoft YaHei" panose="020B0503020204020204" pitchFamily="34" charset="-122"/>
                <a:ea typeface="Microsoft YaHei" panose="020B0503020204020204" pitchFamily="34" charset="-122"/>
              </a:rPr>
              <a:t>仍需拆分，搜索当前主实现是 </a:t>
            </a:r>
            <a:r>
              <a:rPr lang="en-US">
                <a:latin typeface="Microsoft YaHei" panose="020B0503020204020204" pitchFamily="34" charset="-122"/>
                <a:ea typeface="Microsoft YaHei" panose="020B0503020204020204" pitchFamily="34" charset="-122"/>
              </a:rPr>
              <a:t>LIKE，</a:t>
            </a:r>
            <a:r>
              <a:rPr lang="zh-CN" altLang="en-US">
                <a:latin typeface="Microsoft YaHei" panose="020B0503020204020204" pitchFamily="34" charset="-122"/>
                <a:ea typeface="Microsoft YaHei" panose="020B0503020204020204" pitchFamily="34" charset="-122"/>
              </a:rPr>
              <a:t>真实设备性能矩阵尚未补齐，</a:t>
            </a:r>
            <a:r>
              <a:rPr lang="en-US">
                <a:latin typeface="Microsoft YaHei" panose="020B0503020204020204" pitchFamily="34" charset="-122"/>
                <a:ea typeface="Microsoft YaHei" panose="020B0503020204020204" pitchFamily="34" charset="-122"/>
              </a:rPr>
              <a:t>Git </a:t>
            </a:r>
            <a:r>
              <a:rPr lang="zh-CN" altLang="en-US">
                <a:latin typeface="Microsoft YaHei" panose="020B0503020204020204" pitchFamily="34" charset="-122"/>
                <a:ea typeface="Microsoft YaHei" panose="020B0503020204020204" pitchFamily="34" charset="-122"/>
              </a:rPr>
              <a:t>分支和 </a:t>
            </a:r>
            <a:r>
              <a:rPr lang="en-US">
                <a:latin typeface="Microsoft YaHei" panose="020B0503020204020204" pitchFamily="34" charset="-122"/>
                <a:ea typeface="Microsoft YaHei" panose="020B0503020204020204" pitchFamily="34" charset="-122"/>
              </a:rPr>
              <a:t>PR </a:t>
            </a:r>
            <a:r>
              <a:rPr lang="zh-CN" altLang="en-US">
                <a:latin typeface="Microsoft YaHei" panose="020B0503020204020204" pitchFamily="34" charset="-122"/>
                <a:ea typeface="Microsoft YaHei" panose="020B0503020204020204" pitchFamily="34" charset="-122"/>
              </a:rPr>
              <a:t>证据偏弱。说明这些边界能够体现我们知道教学简化和生产化差距在哪里。</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az-Cyrl-AZ"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这一页不虚构成员姓名。现场应按真实团队情况补充每位成员、模块和分支证据。现有可核查的 </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辅助开发记录包括 </a:t>
            </a:r>
            <a:r>
              <a:rPr lang="en-US" altLang="ja-JP">
                <a:latin typeface="Microsoft YaHei" panose="020B0503020204020204" pitchFamily="34" charset="-122"/>
                <a:ea typeface="Microsoft YaHei" panose="020B0503020204020204" pitchFamily="34" charset="-122"/>
              </a:rPr>
              <a:t>CODEX_DEFENSE_PREP.md</a:t>
            </a:r>
            <a:r>
              <a:rPr lang="ja-JP" altLang="en-US">
                <a:latin typeface="Microsoft YaHei" panose="020B0503020204020204" pitchFamily="34" charset="-122"/>
                <a:ea typeface="Microsoft YaHei" panose="020B0503020204020204" pitchFamily="34" charset="-122"/>
              </a:rPr>
              <a:t>、提交历史、缺陷清单、测试日志和 </a:t>
            </a:r>
            <a:r>
              <a:rPr lang="en-US" altLang="ja-JP">
                <a:latin typeface="Microsoft YaHei" panose="020B0503020204020204" pitchFamily="34" charset="-122"/>
                <a:ea typeface="Microsoft YaHei" panose="020B0503020204020204" pitchFamily="34" charset="-122"/>
              </a:rPr>
              <a:t>docs/defense </a:t>
            </a:r>
            <a:r>
              <a:rPr lang="ja-JP" altLang="en-US">
                <a:latin typeface="Microsoft YaHei" panose="020B0503020204020204" pitchFamily="34" charset="-122"/>
                <a:ea typeface="Microsoft YaHei" panose="020B0503020204020204" pitchFamily="34" charset="-122"/>
              </a:rPr>
              <a:t>材料；</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加速产出，人负责边界设计与最终验收。</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收尾一句：我们交付的不是一组孤立页面，而是一条可运行、可解释、可验证的智能商城闭环。建议现场演示顺序是登录、搜索商品、加购下单、</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查询订单、</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生成购买方案并确认加购、后台查看订单和日志。随后进入提问。</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CA461F3D-F280-42E6-B834-DFCE8B68BBC1}"/>
              </a:ext>
            </a:extLst>
          </p:cNvPr>
          <p:cNvSpPr>
            <a:spLocks noGrp="1"/>
          </p:cNvSpPr>
          <p:nvPr/>
        </p:nvSpPr>
        <p:spPr>
          <a:xfrm>
            <a:off x="685800" y="704850"/>
            <a:ext cx="609600" cy="609600"/>
          </a:xfrm>
          <a:prstGeom prst="rect">
            <a:avLst/>
          </a:prstGeom>
          <a:solidFill>
            <a:srgbClr val="FFFFFF"/>
          </a:solidFill>
          <a:ln w="0">
            <a:noFill/>
            <a:prstDash val="solid"/>
          </a:ln>
        </p:spPr>
      </p:sp>
      <p:sp>
        <p:nvSpPr>
          <p:cNvPr id="2" name="矩形 1">
            <a:extLst>
              <a:ext uri="{FF2B5EF4-FFF2-40B4-BE49-F238E27FC236}">
                <a16:creationId xmlns:a16="http://schemas.microsoft.com/office/drawing/2014/main" id="{3F2317C4-F66B-425F-89F5-2086E1849AC9}"/>
              </a:ext>
            </a:extLst>
          </p:cNvPr>
          <p:cNvSpPr>
            <a:spLocks noGrp="1"/>
          </p:cNvSpPr>
          <p:nvPr/>
        </p:nvSpPr>
        <p:spPr>
          <a:xfrm>
            <a:off x="685800" y="914400"/>
            <a:ext cx="609600" cy="228600"/>
          </a:xfrm>
          <a:prstGeom prst="rect">
            <a:avLst/>
          </a:prstGeom>
          <a:noFill/>
          <a:ln w="0">
            <a:noFill/>
            <a:prstDash val="solid"/>
          </a:ln>
        </p:spPr>
        <p:txBody>
          <a:bodyPr/>
          <a:lstStyle/>
          <a:p>
            <a:pPr algn="ctr">
              <a:defRPr sz="1350" b="1">
                <a:solidFill>
                  <a:srgbClr val="111318"/>
                </a:solidFill>
                <a:latin typeface="Microsoft YaHei"/>
                <a:ea typeface="Microsoft YaHei"/>
                <a:cs typeface="Microsoft YaHei"/>
              </a:defRPr>
            </a:pPr>
            <a:r>
              <a:rPr sz="1350" b="1">
                <a:solidFill>
                  <a:srgbClr val="111318"/>
                </a:solidFill>
                <a:latin typeface="Microsoft YaHei"/>
                <a:ea typeface="Microsoft YaHei"/>
                <a:cs typeface="Microsoft YaHei"/>
              </a:rPr>
              <a:t>SM</a:t>
            </a:r>
          </a:p>
        </p:txBody>
      </p:sp>
      <p:sp>
        <p:nvSpPr>
          <p:cNvPr id="3" name="矩形 2">
            <a:extLst>
              <a:ext uri="{FF2B5EF4-FFF2-40B4-BE49-F238E27FC236}">
                <a16:creationId xmlns:a16="http://schemas.microsoft.com/office/drawing/2014/main" id="{426E8221-0411-40DB-863D-6CA77F8D0923}"/>
              </a:ext>
            </a:extLst>
          </p:cNvPr>
          <p:cNvSpPr>
            <a:spLocks noGrp="1"/>
          </p:cNvSpPr>
          <p:nvPr/>
        </p:nvSpPr>
        <p:spPr>
          <a:xfrm>
            <a:off x="685800" y="1695450"/>
            <a:ext cx="4000500" cy="228600"/>
          </a:xfrm>
          <a:prstGeom prst="rect">
            <a:avLst/>
          </a:prstGeom>
          <a:noFill/>
          <a:ln w="0">
            <a:noFill/>
            <a:prstDash val="solid"/>
          </a:ln>
        </p:spPr>
        <p:txBody>
          <a:bodyPr/>
          <a:lstStyle/>
          <a:p>
            <a:pPr algn="l">
              <a:defRPr sz="1200" b="1">
                <a:solidFill>
                  <a:srgbClr val="A9B4D8"/>
                </a:solidFill>
                <a:latin typeface="Consolas"/>
                <a:ea typeface="Consolas"/>
                <a:cs typeface="Consolas"/>
              </a:defRPr>
            </a:pPr>
            <a:r>
              <a:rPr sz="1200" b="1">
                <a:solidFill>
                  <a:srgbClr val="A9B4D8"/>
                </a:solidFill>
                <a:latin typeface="Consolas"/>
                <a:ea typeface="Consolas"/>
                <a:cs typeface="Consolas"/>
              </a:rPr>
              <a:t>SMART MALL</a:t>
            </a:r>
          </a:p>
        </p:txBody>
      </p:sp>
      <p:sp>
        <p:nvSpPr>
          <p:cNvPr id="4" name="矩形 3">
            <a:extLst>
              <a:ext uri="{FF2B5EF4-FFF2-40B4-BE49-F238E27FC236}">
                <a16:creationId xmlns:a16="http://schemas.microsoft.com/office/drawing/2014/main" id="{6714970E-A12C-4E96-BD3B-E02359E8A109}"/>
              </a:ext>
            </a:extLst>
          </p:cNvPr>
          <p:cNvSpPr>
            <a:spLocks noGrp="1"/>
          </p:cNvSpPr>
          <p:nvPr/>
        </p:nvSpPr>
        <p:spPr>
          <a:xfrm>
            <a:off x="685800" y="2076450"/>
            <a:ext cx="8191500" cy="762000"/>
          </a:xfrm>
          <a:prstGeom prst="rect">
            <a:avLst/>
          </a:prstGeom>
          <a:noFill/>
          <a:ln w="0">
            <a:noFill/>
            <a:prstDash val="solid"/>
          </a:ln>
        </p:spPr>
        <p:txBody>
          <a:bodyPr/>
          <a:lstStyle/>
          <a:p>
            <a:pPr algn="l">
              <a:defRPr sz="4350" b="1">
                <a:solidFill>
                  <a:srgbClr val="FFFFFF"/>
                </a:solidFill>
                <a:latin typeface="Microsoft YaHei"/>
                <a:ea typeface="Microsoft YaHei"/>
                <a:cs typeface="Microsoft YaHei"/>
              </a:defRPr>
            </a:pPr>
            <a:r>
              <a:rPr lang="en-US" sz="4200" b="1">
                <a:solidFill>
                  <a:srgbClr val="FFFFFF"/>
                </a:solidFill>
                <a:latin typeface="Microsoft YaHei" panose="020B0503020204020204" pitchFamily="34" charset="-122"/>
                <a:ea typeface="Microsoft YaHei" panose="020B0503020204020204" pitchFamily="34" charset="-122"/>
                <a:cs typeface="Microsoft YaHei"/>
              </a:rPr>
              <a:t>Agent Store </a:t>
            </a:r>
            <a:r>
              <a:rPr lang="zh-CN" altLang="en-US" sz="4200" b="1">
                <a:solidFill>
                  <a:srgbClr val="FFFFFF"/>
                </a:solidFill>
                <a:latin typeface="Microsoft YaHei" panose="020B0503020204020204" pitchFamily="34" charset="-122"/>
                <a:ea typeface="Microsoft YaHei" panose="020B0503020204020204" pitchFamily="34" charset="-122"/>
                <a:cs typeface="Microsoft YaHei"/>
              </a:rPr>
              <a:t>智能商城</a:t>
            </a:r>
            <a:endParaRPr sz="4200" b="1">
              <a:solidFill>
                <a:srgbClr val="FFFFFF"/>
              </a:solidFill>
              <a:latin typeface="Microsoft YaHei" panose="020B0503020204020204" pitchFamily="34" charset="-122"/>
              <a:ea typeface="Microsoft YaHei" panose="020B0503020204020204" pitchFamily="34" charset="-122"/>
              <a:cs typeface="Microsoft YaHei"/>
            </a:endParaRPr>
          </a:p>
        </p:txBody>
      </p:sp>
      <p:sp>
        <p:nvSpPr>
          <p:cNvPr id="5" name="矩形 4">
            <a:extLst>
              <a:ext uri="{FF2B5EF4-FFF2-40B4-BE49-F238E27FC236}">
                <a16:creationId xmlns:a16="http://schemas.microsoft.com/office/drawing/2014/main" id="{BB8BC503-7376-4C40-94D9-C0E35BF88139}"/>
              </a:ext>
            </a:extLst>
          </p:cNvPr>
          <p:cNvSpPr>
            <a:spLocks noGrp="1"/>
          </p:cNvSpPr>
          <p:nvPr/>
        </p:nvSpPr>
        <p:spPr>
          <a:xfrm>
            <a:off x="723900" y="3105150"/>
            <a:ext cx="7048500" cy="361950"/>
          </a:xfrm>
          <a:prstGeom prst="rect">
            <a:avLst/>
          </a:prstGeom>
          <a:noFill/>
          <a:ln w="0">
            <a:noFill/>
            <a:prstDash val="solid"/>
          </a:ln>
        </p:spPr>
        <p:txBody>
          <a:bodyPr/>
          <a:lstStyle/>
          <a:p>
            <a:pPr algn="l">
              <a:defRPr sz="1800" b="0">
                <a:solidFill>
                  <a:srgbClr val="D7DBE4"/>
                </a:solidFill>
                <a:latin typeface="Microsoft YaHei"/>
                <a:ea typeface="Microsoft YaHei"/>
                <a:cs typeface="Microsoft YaHei"/>
              </a:defRPr>
            </a:pPr>
            <a:r>
              <a:rPr lang="zh-CN" altLang="en-US" b="0">
                <a:solidFill>
                  <a:srgbClr val="D7DBE4"/>
                </a:solidFill>
                <a:latin typeface="Microsoft YaHei" panose="020B0503020204020204" pitchFamily="34" charset="-122"/>
                <a:ea typeface="Microsoft YaHei" panose="020B0503020204020204" pitchFamily="34" charset="-122"/>
                <a:cs typeface="Microsoft YaHei"/>
              </a:rPr>
              <a:t>淘宝核心链路 </a:t>
            </a:r>
            <a:r>
              <a:rPr lang="en-US" altLang="zh-CN" b="0">
                <a:solidFill>
                  <a:srgbClr val="D7DBE4"/>
                </a:solidFill>
                <a:latin typeface="Microsoft YaHei" panose="020B0503020204020204" pitchFamily="34" charset="-122"/>
                <a:ea typeface="Microsoft YaHei" panose="020B0503020204020204" pitchFamily="34" charset="-122"/>
                <a:cs typeface="Microsoft YaHei"/>
              </a:rPr>
              <a:t>+ AI </a:t>
            </a:r>
            <a:r>
              <a:rPr lang="zh-CN" altLang="en-US" b="0">
                <a:solidFill>
                  <a:srgbClr val="D7DBE4"/>
                </a:solidFill>
                <a:latin typeface="Microsoft YaHei" panose="020B0503020204020204" pitchFamily="34" charset="-122"/>
                <a:ea typeface="Microsoft YaHei" panose="020B0503020204020204" pitchFamily="34" charset="-122"/>
                <a:cs typeface="Microsoft YaHei"/>
              </a:rPr>
              <a:t>导购助手：从真实交易到可执行智能体的微型闭环。</a:t>
            </a:r>
            <a:endParaRPr b="0">
              <a:solidFill>
                <a:srgbClr val="D7DBE4"/>
              </a:solidFill>
              <a:latin typeface="Microsoft YaHei" panose="020B0503020204020204" pitchFamily="34" charset="-122"/>
              <a:ea typeface="Microsoft YaHei" panose="020B0503020204020204" pitchFamily="34" charset="-122"/>
              <a:cs typeface="Microsoft YaHei"/>
            </a:endParaRPr>
          </a:p>
        </p:txBody>
      </p:sp>
      <p:sp>
        <p:nvSpPr>
          <p:cNvPr id="6" name="矩形: 圆角 5">
            <a:extLst>
              <a:ext uri="{FF2B5EF4-FFF2-40B4-BE49-F238E27FC236}">
                <a16:creationId xmlns:a16="http://schemas.microsoft.com/office/drawing/2014/main" id="{E88CC624-FD2E-4708-86BB-21BED3DD78C2}"/>
              </a:ext>
            </a:extLst>
          </p:cNvPr>
          <p:cNvSpPr>
            <a:spLocks noGrp="1"/>
          </p:cNvSpPr>
          <p:nvPr/>
        </p:nvSpPr>
        <p:spPr>
          <a:xfrm>
            <a:off x="7734300" y="1504950"/>
            <a:ext cx="3371850" cy="3238500"/>
          </a:xfrm>
          <a:prstGeom prst="roundRect">
            <a:avLst>
              <a:gd name="adj" fmla="val 588"/>
            </a:avLst>
          </a:prstGeom>
          <a:solidFill>
            <a:srgbClr val="171A21"/>
          </a:solidFill>
          <a:ln w="9525">
            <a:solidFill>
              <a:srgbClr val="2A2E38"/>
            </a:solidFill>
            <a:prstDash val="solid"/>
          </a:ln>
        </p:spPr>
      </p:sp>
      <p:sp>
        <p:nvSpPr>
          <p:cNvPr id="7" name="矩形: 圆角 6">
            <a:extLst>
              <a:ext uri="{FF2B5EF4-FFF2-40B4-BE49-F238E27FC236}">
                <a16:creationId xmlns:a16="http://schemas.microsoft.com/office/drawing/2014/main" id="{F9C277A7-195F-4E2F-9569-7344CC40652D}"/>
              </a:ext>
            </a:extLst>
          </p:cNvPr>
          <p:cNvSpPr>
            <a:spLocks noGrp="1"/>
          </p:cNvSpPr>
          <p:nvPr/>
        </p:nvSpPr>
        <p:spPr>
          <a:xfrm>
            <a:off x="8058150" y="1885950"/>
            <a:ext cx="2724150" cy="1123950"/>
          </a:xfrm>
          <a:prstGeom prst="roundRect">
            <a:avLst>
              <a:gd name="adj" fmla="val 1695"/>
            </a:avLst>
          </a:prstGeom>
          <a:solidFill>
            <a:srgbClr val="F7F8FC"/>
          </a:solidFill>
          <a:ln w="0">
            <a:noFill/>
            <a:prstDash val="solid"/>
          </a:ln>
        </p:spPr>
      </p:sp>
      <p:sp>
        <p:nvSpPr>
          <p:cNvPr id="8" name="矩形 7">
            <a:extLst>
              <a:ext uri="{FF2B5EF4-FFF2-40B4-BE49-F238E27FC236}">
                <a16:creationId xmlns:a16="http://schemas.microsoft.com/office/drawing/2014/main" id="{08F03C40-923A-4B5E-AD32-DEDF36014B35}"/>
              </a:ext>
            </a:extLst>
          </p:cNvPr>
          <p:cNvSpPr>
            <a:spLocks noGrp="1"/>
          </p:cNvSpPr>
          <p:nvPr/>
        </p:nvSpPr>
        <p:spPr>
          <a:xfrm>
            <a:off x="8267700" y="2076450"/>
            <a:ext cx="23050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后端测试</a:t>
            </a:r>
          </a:p>
        </p:txBody>
      </p:sp>
      <p:sp>
        <p:nvSpPr>
          <p:cNvPr id="9" name="矩形 8">
            <a:extLst>
              <a:ext uri="{FF2B5EF4-FFF2-40B4-BE49-F238E27FC236}">
                <a16:creationId xmlns:a16="http://schemas.microsoft.com/office/drawing/2014/main" id="{DF1FC2E0-0E25-4231-AFE2-A3169618B851}"/>
              </a:ext>
            </a:extLst>
          </p:cNvPr>
          <p:cNvSpPr>
            <a:spLocks noGrp="1"/>
          </p:cNvSpPr>
          <p:nvPr/>
        </p:nvSpPr>
        <p:spPr>
          <a:xfrm>
            <a:off x="8267700" y="2343150"/>
            <a:ext cx="2305050" cy="361950"/>
          </a:xfrm>
          <a:prstGeom prst="rect">
            <a:avLst/>
          </a:prstGeom>
          <a:noFill/>
          <a:ln w="0">
            <a:noFill/>
            <a:prstDash val="solid"/>
          </a:ln>
        </p:spPr>
        <p:txBody>
          <a:bodyPr/>
          <a:lstStyle/>
          <a:p>
            <a:pPr algn="l">
              <a:defRPr sz="2325" b="1">
                <a:solidFill>
                  <a:srgbClr val="111318"/>
                </a:solidFill>
                <a:latin typeface="Consolas"/>
                <a:ea typeface="Consolas"/>
                <a:cs typeface="Consolas"/>
              </a:defRPr>
            </a:pPr>
            <a:r>
              <a:rPr sz="2325" b="1">
                <a:solidFill>
                  <a:srgbClr val="111318"/>
                </a:solidFill>
                <a:latin typeface="Consolas"/>
                <a:ea typeface="Consolas"/>
                <a:cs typeface="Consolas"/>
              </a:rPr>
              <a:t>20</a:t>
            </a:r>
          </a:p>
        </p:txBody>
      </p:sp>
      <p:sp>
        <p:nvSpPr>
          <p:cNvPr id="10" name="矩形 9">
            <a:extLst>
              <a:ext uri="{FF2B5EF4-FFF2-40B4-BE49-F238E27FC236}">
                <a16:creationId xmlns:a16="http://schemas.microsoft.com/office/drawing/2014/main" id="{371D84C2-0316-428F-A19D-7C91C3212B4C}"/>
              </a:ext>
            </a:extLst>
          </p:cNvPr>
          <p:cNvSpPr>
            <a:spLocks noGrp="1"/>
          </p:cNvSpPr>
          <p:nvPr/>
        </p:nvSpPr>
        <p:spPr>
          <a:xfrm>
            <a:off x="8267700" y="2724150"/>
            <a:ext cx="2305050" cy="209550"/>
          </a:xfrm>
          <a:prstGeom prst="rect">
            <a:avLst/>
          </a:prstGeom>
          <a:noFill/>
          <a:ln w="0">
            <a:noFill/>
            <a:prstDash val="solid"/>
          </a:ln>
        </p:spPr>
        <p:txBody>
          <a:bodyPr/>
          <a:lstStyle/>
          <a:p>
            <a:pPr algn="l">
              <a:defRPr sz="825" b="0">
                <a:solidFill>
                  <a:srgbClr val="6B7280"/>
                </a:solidFill>
                <a:latin typeface="Microsoft YaHei"/>
                <a:ea typeface="Microsoft YaHei"/>
                <a:cs typeface="Microsoft YaHei"/>
              </a:defRPr>
            </a:pPr>
            <a:r>
              <a:rPr sz="825" b="0">
                <a:solidFill>
                  <a:srgbClr val="6B7280"/>
                </a:solidFill>
                <a:latin typeface="Microsoft YaHei"/>
                <a:ea typeface="Microsoft YaHei"/>
                <a:cs typeface="Microsoft YaHei"/>
              </a:rPr>
              <a:t>JUnit / 集成测试全通过</a:t>
            </a:r>
          </a:p>
        </p:txBody>
      </p:sp>
      <p:sp>
        <p:nvSpPr>
          <p:cNvPr id="11" name="矩形: 圆角 10">
            <a:extLst>
              <a:ext uri="{FF2B5EF4-FFF2-40B4-BE49-F238E27FC236}">
                <a16:creationId xmlns:a16="http://schemas.microsoft.com/office/drawing/2014/main" id="{41850A73-747C-493C-ACD4-FE8F876AE3E9}"/>
              </a:ext>
            </a:extLst>
          </p:cNvPr>
          <p:cNvSpPr>
            <a:spLocks noGrp="1"/>
          </p:cNvSpPr>
          <p:nvPr/>
        </p:nvSpPr>
        <p:spPr>
          <a:xfrm>
            <a:off x="8058150" y="3219450"/>
            <a:ext cx="2724150" cy="1123950"/>
          </a:xfrm>
          <a:prstGeom prst="roundRect">
            <a:avLst>
              <a:gd name="adj" fmla="val 1695"/>
            </a:avLst>
          </a:prstGeom>
          <a:solidFill>
            <a:srgbClr val="F7F8FC"/>
          </a:solidFill>
          <a:ln w="0">
            <a:noFill/>
            <a:prstDash val="solid"/>
          </a:ln>
        </p:spPr>
      </p:sp>
      <p:sp>
        <p:nvSpPr>
          <p:cNvPr id="12" name="矩形 11">
            <a:extLst>
              <a:ext uri="{FF2B5EF4-FFF2-40B4-BE49-F238E27FC236}">
                <a16:creationId xmlns:a16="http://schemas.microsoft.com/office/drawing/2014/main" id="{80524A47-4D82-4B73-A4C9-123F886A40B9}"/>
              </a:ext>
            </a:extLst>
          </p:cNvPr>
          <p:cNvSpPr>
            <a:spLocks noGrp="1"/>
          </p:cNvSpPr>
          <p:nvPr/>
        </p:nvSpPr>
        <p:spPr>
          <a:xfrm>
            <a:off x="8267700" y="3409950"/>
            <a:ext cx="23050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知识库块</a:t>
            </a:r>
          </a:p>
        </p:txBody>
      </p:sp>
      <p:sp>
        <p:nvSpPr>
          <p:cNvPr id="13" name="矩形 12">
            <a:extLst>
              <a:ext uri="{FF2B5EF4-FFF2-40B4-BE49-F238E27FC236}">
                <a16:creationId xmlns:a16="http://schemas.microsoft.com/office/drawing/2014/main" id="{6DCCC6F9-C700-4CBE-83D3-4BD0A53CB49C}"/>
              </a:ext>
            </a:extLst>
          </p:cNvPr>
          <p:cNvSpPr>
            <a:spLocks noGrp="1"/>
          </p:cNvSpPr>
          <p:nvPr/>
        </p:nvSpPr>
        <p:spPr>
          <a:xfrm>
            <a:off x="8267700" y="3676650"/>
            <a:ext cx="2305050" cy="361950"/>
          </a:xfrm>
          <a:prstGeom prst="rect">
            <a:avLst/>
          </a:prstGeom>
          <a:noFill/>
          <a:ln w="0">
            <a:noFill/>
            <a:prstDash val="solid"/>
          </a:ln>
        </p:spPr>
        <p:txBody>
          <a:bodyPr/>
          <a:lstStyle/>
          <a:p>
            <a:pPr algn="l">
              <a:defRPr sz="2325" b="1">
                <a:solidFill>
                  <a:srgbClr val="111318"/>
                </a:solidFill>
                <a:latin typeface="Consolas"/>
                <a:ea typeface="Consolas"/>
                <a:cs typeface="Consolas"/>
              </a:defRPr>
            </a:pPr>
            <a:r>
              <a:rPr sz="2325" b="1">
                <a:solidFill>
                  <a:srgbClr val="111318"/>
                </a:solidFill>
                <a:latin typeface="Consolas"/>
                <a:ea typeface="Consolas"/>
                <a:cs typeface="Consolas"/>
              </a:rPr>
              <a:t>88</a:t>
            </a:r>
          </a:p>
        </p:txBody>
      </p:sp>
      <p:sp>
        <p:nvSpPr>
          <p:cNvPr id="14" name="矩形 13">
            <a:extLst>
              <a:ext uri="{FF2B5EF4-FFF2-40B4-BE49-F238E27FC236}">
                <a16:creationId xmlns:a16="http://schemas.microsoft.com/office/drawing/2014/main" id="{249D995D-A619-46F1-BAE4-96D1478BF4E2}"/>
              </a:ext>
            </a:extLst>
          </p:cNvPr>
          <p:cNvSpPr>
            <a:spLocks noGrp="1"/>
          </p:cNvSpPr>
          <p:nvPr/>
        </p:nvSpPr>
        <p:spPr>
          <a:xfrm>
            <a:off x="8267700" y="4057650"/>
            <a:ext cx="2305050" cy="209550"/>
          </a:xfrm>
          <a:prstGeom prst="rect">
            <a:avLst/>
          </a:prstGeom>
          <a:noFill/>
          <a:ln w="0">
            <a:noFill/>
            <a:prstDash val="solid"/>
          </a:ln>
        </p:spPr>
        <p:txBody>
          <a:bodyPr/>
          <a:lstStyle/>
          <a:p>
            <a:pPr algn="l">
              <a:defRPr sz="825" b="0">
                <a:solidFill>
                  <a:srgbClr val="6B7280"/>
                </a:solidFill>
                <a:latin typeface="Microsoft YaHei"/>
                <a:ea typeface="Microsoft YaHei"/>
                <a:cs typeface="Microsoft YaHei"/>
              </a:defRPr>
            </a:pPr>
            <a:r>
              <a:rPr sz="825" b="0">
                <a:solidFill>
                  <a:srgbClr val="6B7280"/>
                </a:solidFill>
                <a:latin typeface="Microsoft YaHei"/>
                <a:ea typeface="Microsoft YaHei"/>
                <a:cs typeface="Microsoft YaHei"/>
              </a:rPr>
              <a:t>product 60 / review 16 / faq 12</a:t>
            </a:r>
          </a:p>
        </p:txBody>
      </p:sp>
      <p:sp>
        <p:nvSpPr>
          <p:cNvPr id="15" name="矩形 14">
            <a:extLst>
              <a:ext uri="{FF2B5EF4-FFF2-40B4-BE49-F238E27FC236}">
                <a16:creationId xmlns:a16="http://schemas.microsoft.com/office/drawing/2014/main" id="{B8ED0989-41CE-4DAC-8AAC-9DF3F932C454}"/>
              </a:ext>
            </a:extLst>
          </p:cNvPr>
          <p:cNvSpPr>
            <a:spLocks noGrp="1"/>
          </p:cNvSpPr>
          <p:nvPr/>
        </p:nvSpPr>
        <p:spPr>
          <a:xfrm>
            <a:off x="723900" y="6096000"/>
            <a:ext cx="5143500" cy="228600"/>
          </a:xfrm>
          <a:prstGeom prst="rect">
            <a:avLst/>
          </a:prstGeom>
          <a:noFill/>
          <a:ln w="0">
            <a:noFill/>
            <a:prstDash val="solid"/>
          </a:ln>
        </p:spPr>
        <p:txBody>
          <a:bodyPr/>
          <a:lstStyle/>
          <a:p>
            <a:pPr algn="l">
              <a:defRPr sz="1125" b="0">
                <a:solidFill>
                  <a:srgbClr val="AEB4C0"/>
                </a:solidFill>
                <a:latin typeface="Microsoft YaHei"/>
                <a:ea typeface="Microsoft YaHei"/>
                <a:cs typeface="Microsoft YaHei"/>
              </a:defRPr>
            </a:pPr>
            <a:r>
              <a:rPr lang="zh-CN" altLang="en-US" sz="1100" b="0">
                <a:solidFill>
                  <a:srgbClr val="AEB4C0"/>
                </a:solidFill>
                <a:latin typeface="Microsoft YaHei" panose="020B0503020204020204" pitchFamily="34" charset="-122"/>
                <a:ea typeface="Microsoft YaHei" panose="020B0503020204020204" pitchFamily="34" charset="-122"/>
                <a:cs typeface="Microsoft YaHei"/>
              </a:rPr>
              <a:t>大模型与软件工程企业实训项目答辩 </a:t>
            </a:r>
            <a:r>
              <a:rPr lang="en-US" altLang="zh-CN" sz="1100" b="0">
                <a:solidFill>
                  <a:srgbClr val="AEB4C0"/>
                </a:solidFill>
                <a:latin typeface="Microsoft YaHei" panose="020B0503020204020204" pitchFamily="34" charset="-122"/>
                <a:ea typeface="Microsoft YaHei" panose="020B0503020204020204" pitchFamily="34" charset="-122"/>
                <a:cs typeface="Microsoft YaHei"/>
              </a:rPr>
              <a:t>· 2026-07-10</a:t>
            </a:r>
            <a:endParaRPr sz="1100" b="0">
              <a:solidFill>
                <a:srgbClr val="AEB4C0"/>
              </a:solidFill>
              <a:latin typeface="Microsoft YaHei" panose="020B0503020204020204" pitchFamily="34" charset="-122"/>
              <a:ea typeface="Microsoft YaHei" panose="020B0503020204020204" pitchFamily="34" charset="-122"/>
              <a:cs typeface="Microsoft YaHei"/>
            </a:endParaRPr>
          </a:p>
        </p:txBody>
      </p:sp>
      <p:sp>
        <p:nvSpPr>
          <p:cNvPr id="16" name="矩形 15">
            <a:extLst>
              <a:ext uri="{FF2B5EF4-FFF2-40B4-BE49-F238E27FC236}">
                <a16:creationId xmlns:a16="http://schemas.microsoft.com/office/drawing/2014/main" id="{4319133E-CBF6-4A17-ADEF-67535DD17DC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AEB4C0"/>
                </a:solidFill>
                <a:latin typeface="Microsoft YaHei"/>
                <a:ea typeface="Microsoft YaHei"/>
                <a:cs typeface="Microsoft YaHei"/>
              </a:defRPr>
            </a:pPr>
            <a:r>
              <a:rPr sz="900" b="0">
                <a:solidFill>
                  <a:srgbClr val="AEB4C0"/>
                </a:solidFill>
                <a:latin typeface="Microsoft YaHei"/>
                <a:ea typeface="Microsoft YaHei"/>
                <a:cs typeface="Microsoft YaHei"/>
              </a:rPr>
              <a:t>Smart Mall 智能商城答辩</a:t>
            </a:r>
          </a:p>
        </p:txBody>
      </p:sp>
      <p:sp>
        <p:nvSpPr>
          <p:cNvPr id="17" name="矩形 16">
            <a:extLst>
              <a:ext uri="{FF2B5EF4-FFF2-40B4-BE49-F238E27FC236}">
                <a16:creationId xmlns:a16="http://schemas.microsoft.com/office/drawing/2014/main" id="{387F9E71-CC5E-405A-9364-77D609B79E23}"/>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FFFFFF"/>
                </a:solidFill>
                <a:latin typeface="Consolas"/>
                <a:ea typeface="Consolas"/>
                <a:cs typeface="Consolas"/>
              </a:defRPr>
            </a:pPr>
            <a:r>
              <a:rPr sz="1125" b="0">
                <a:solidFill>
                  <a:srgbClr val="FFFFFF"/>
                </a:solidFill>
                <a:latin typeface="Consolas"/>
                <a:ea typeface="Consolas"/>
                <a:cs typeface="Consolas"/>
              </a:rPr>
              <a:t>01</a:t>
            </a:r>
          </a:p>
        </p:txBody>
      </p:sp>
    </p:spTree>
    <p:extLst>
      <p:ext uri="{BB962C8B-B14F-4D97-AF65-F5344CB8AC3E}">
        <p14:creationId xmlns:p14="http://schemas.microsoft.com/office/powerpoint/2010/main" val="733437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4CA602CE-99E5-4EB9-AF2E-C7B956DB15E6}"/>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CONTENTS</a:t>
            </a:r>
          </a:p>
        </p:txBody>
      </p:sp>
      <p:sp>
        <p:nvSpPr>
          <p:cNvPr id="2" name="矩形 1">
            <a:extLst>
              <a:ext uri="{FF2B5EF4-FFF2-40B4-BE49-F238E27FC236}">
                <a16:creationId xmlns:a16="http://schemas.microsoft.com/office/drawing/2014/main" id="{596128B9-CE28-4DC6-9B2D-6896F3B6EEBD}"/>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今天讲清楚一个闭环，而不是一堆页面</a:t>
            </a:r>
          </a:p>
        </p:txBody>
      </p:sp>
      <p:sp>
        <p:nvSpPr>
          <p:cNvPr id="3" name="矩形 2">
            <a:extLst>
              <a:ext uri="{FF2B5EF4-FFF2-40B4-BE49-F238E27FC236}">
                <a16:creationId xmlns:a16="http://schemas.microsoft.com/office/drawing/2014/main" id="{135C935E-A31C-4246-9A2C-FB88562B72EC}"/>
              </a:ext>
            </a:extLst>
          </p:cNvPr>
          <p:cNvSpPr>
            <a:spLocks noGrp="1"/>
          </p:cNvSpPr>
          <p:nvPr/>
        </p:nvSpPr>
        <p:spPr>
          <a:xfrm>
            <a:off x="838200" y="16764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01</a:t>
            </a:r>
          </a:p>
        </p:txBody>
      </p:sp>
      <p:sp>
        <p:nvSpPr>
          <p:cNvPr id="4" name="矩形 3">
            <a:extLst>
              <a:ext uri="{FF2B5EF4-FFF2-40B4-BE49-F238E27FC236}">
                <a16:creationId xmlns:a16="http://schemas.microsoft.com/office/drawing/2014/main" id="{D476E1A5-77B6-4143-A624-2AA636821948}"/>
              </a:ext>
            </a:extLst>
          </p:cNvPr>
          <p:cNvSpPr>
            <a:spLocks noGrp="1"/>
          </p:cNvSpPr>
          <p:nvPr/>
        </p:nvSpPr>
        <p:spPr>
          <a:xfrm>
            <a:off x="1695450" y="17049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项目定位</a:t>
            </a:r>
          </a:p>
        </p:txBody>
      </p:sp>
      <p:sp>
        <p:nvSpPr>
          <p:cNvPr id="5" name="矩形 4">
            <a:extLst>
              <a:ext uri="{FF2B5EF4-FFF2-40B4-BE49-F238E27FC236}">
                <a16:creationId xmlns:a16="http://schemas.microsoft.com/office/drawing/2014/main" id="{E3185FC9-CFD0-44CD-AFD1-604DF9AAFD85}"/>
              </a:ext>
            </a:extLst>
          </p:cNvPr>
          <p:cNvSpPr>
            <a:spLocks noGrp="1"/>
          </p:cNvSpPr>
          <p:nvPr/>
        </p:nvSpPr>
        <p:spPr>
          <a:xfrm>
            <a:off x="4381500" y="17430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为什么是“淘宝 + AI 助手”的实训闭环</a:t>
            </a:r>
          </a:p>
        </p:txBody>
      </p:sp>
      <p:sp>
        <p:nvSpPr>
          <p:cNvPr id="6" name="矩形 5">
            <a:extLst>
              <a:ext uri="{FF2B5EF4-FFF2-40B4-BE49-F238E27FC236}">
                <a16:creationId xmlns:a16="http://schemas.microsoft.com/office/drawing/2014/main" id="{D0904D86-D783-42EA-94E8-95AA46894B4E}"/>
              </a:ext>
            </a:extLst>
          </p:cNvPr>
          <p:cNvSpPr>
            <a:spLocks noGrp="1"/>
          </p:cNvSpPr>
          <p:nvPr/>
        </p:nvSpPr>
        <p:spPr>
          <a:xfrm>
            <a:off x="1695450" y="2209800"/>
            <a:ext cx="8572500" cy="9525"/>
          </a:xfrm>
          <a:prstGeom prst="rect">
            <a:avLst/>
          </a:prstGeom>
          <a:solidFill>
            <a:srgbClr val="E3E6EB"/>
          </a:solidFill>
          <a:ln w="0">
            <a:noFill/>
            <a:prstDash val="solid"/>
          </a:ln>
        </p:spPr>
      </p:sp>
      <p:sp>
        <p:nvSpPr>
          <p:cNvPr id="7" name="矩形 6">
            <a:extLst>
              <a:ext uri="{FF2B5EF4-FFF2-40B4-BE49-F238E27FC236}">
                <a16:creationId xmlns:a16="http://schemas.microsoft.com/office/drawing/2014/main" id="{5E452081-9625-4A16-8FF5-3096178CF0D8}"/>
              </a:ext>
            </a:extLst>
          </p:cNvPr>
          <p:cNvSpPr>
            <a:spLocks noGrp="1"/>
          </p:cNvSpPr>
          <p:nvPr/>
        </p:nvSpPr>
        <p:spPr>
          <a:xfrm>
            <a:off x="838200" y="241935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02</a:t>
            </a:r>
          </a:p>
        </p:txBody>
      </p:sp>
      <p:sp>
        <p:nvSpPr>
          <p:cNvPr id="8" name="矩形 7">
            <a:extLst>
              <a:ext uri="{FF2B5EF4-FFF2-40B4-BE49-F238E27FC236}">
                <a16:creationId xmlns:a16="http://schemas.microsoft.com/office/drawing/2014/main" id="{4318C80A-FE6B-412F-A84E-5224048CDE45}"/>
              </a:ext>
            </a:extLst>
          </p:cNvPr>
          <p:cNvSpPr>
            <a:spLocks noGrp="1"/>
          </p:cNvSpPr>
          <p:nvPr/>
        </p:nvSpPr>
        <p:spPr>
          <a:xfrm>
            <a:off x="1695450" y="244792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架构与数据</a:t>
            </a:r>
          </a:p>
        </p:txBody>
      </p:sp>
      <p:sp>
        <p:nvSpPr>
          <p:cNvPr id="9" name="矩形 8">
            <a:extLst>
              <a:ext uri="{FF2B5EF4-FFF2-40B4-BE49-F238E27FC236}">
                <a16:creationId xmlns:a16="http://schemas.microsoft.com/office/drawing/2014/main" id="{DBAEA573-A272-411F-94D1-2DD0230B21AC}"/>
              </a:ext>
            </a:extLst>
          </p:cNvPr>
          <p:cNvSpPr>
            <a:spLocks noGrp="1"/>
          </p:cNvSpPr>
          <p:nvPr/>
        </p:nvSpPr>
        <p:spPr>
          <a:xfrm>
            <a:off x="4381500" y="248602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前后端分离、独立 Agent、MySQL 边界</a:t>
            </a:r>
          </a:p>
        </p:txBody>
      </p:sp>
      <p:sp>
        <p:nvSpPr>
          <p:cNvPr id="10" name="矩形 9">
            <a:extLst>
              <a:ext uri="{FF2B5EF4-FFF2-40B4-BE49-F238E27FC236}">
                <a16:creationId xmlns:a16="http://schemas.microsoft.com/office/drawing/2014/main" id="{8A3069F1-EE09-4BC4-BE20-A3BBFB1C2D3B}"/>
              </a:ext>
            </a:extLst>
          </p:cNvPr>
          <p:cNvSpPr>
            <a:spLocks noGrp="1"/>
          </p:cNvSpPr>
          <p:nvPr/>
        </p:nvSpPr>
        <p:spPr>
          <a:xfrm>
            <a:off x="1695450" y="2952750"/>
            <a:ext cx="8572500" cy="9525"/>
          </a:xfrm>
          <a:prstGeom prst="rect">
            <a:avLst/>
          </a:prstGeom>
          <a:solidFill>
            <a:srgbClr val="E3E6EB"/>
          </a:solidFill>
          <a:ln w="0">
            <a:noFill/>
            <a:prstDash val="solid"/>
          </a:ln>
        </p:spPr>
      </p:sp>
      <p:sp>
        <p:nvSpPr>
          <p:cNvPr id="11" name="矩形 10">
            <a:extLst>
              <a:ext uri="{FF2B5EF4-FFF2-40B4-BE49-F238E27FC236}">
                <a16:creationId xmlns:a16="http://schemas.microsoft.com/office/drawing/2014/main" id="{149B4D16-CA67-40EA-80B4-89C475CA61C4}"/>
              </a:ext>
            </a:extLst>
          </p:cNvPr>
          <p:cNvSpPr>
            <a:spLocks noGrp="1"/>
          </p:cNvSpPr>
          <p:nvPr/>
        </p:nvSpPr>
        <p:spPr>
          <a:xfrm>
            <a:off x="838200" y="31623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03</a:t>
            </a:r>
          </a:p>
        </p:txBody>
      </p:sp>
      <p:sp>
        <p:nvSpPr>
          <p:cNvPr id="12" name="矩形 11">
            <a:extLst>
              <a:ext uri="{FF2B5EF4-FFF2-40B4-BE49-F238E27FC236}">
                <a16:creationId xmlns:a16="http://schemas.microsoft.com/office/drawing/2014/main" id="{EBC961A5-0AD5-46E8-BE8C-850E6B779667}"/>
              </a:ext>
            </a:extLst>
          </p:cNvPr>
          <p:cNvSpPr>
            <a:spLocks noGrp="1"/>
          </p:cNvSpPr>
          <p:nvPr/>
        </p:nvSpPr>
        <p:spPr>
          <a:xfrm>
            <a:off x="1695450" y="31908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五个亮点</a:t>
            </a:r>
          </a:p>
        </p:txBody>
      </p:sp>
      <p:sp>
        <p:nvSpPr>
          <p:cNvPr id="13" name="矩形 12">
            <a:extLst>
              <a:ext uri="{FF2B5EF4-FFF2-40B4-BE49-F238E27FC236}">
                <a16:creationId xmlns:a16="http://schemas.microsoft.com/office/drawing/2014/main" id="{D542A9E7-B2F0-4149-9973-BB1EFC1DBAAE}"/>
              </a:ext>
            </a:extLst>
          </p:cNvPr>
          <p:cNvSpPr>
            <a:spLocks noGrp="1"/>
          </p:cNvSpPr>
          <p:nvPr/>
        </p:nvSpPr>
        <p:spPr>
          <a:xfrm>
            <a:off x="4381500" y="32289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推荐闭环、</a:t>
            </a:r>
            <a:r>
              <a:rPr lang="en-US" altLang="zh-CN" sz="1250" b="0">
                <a:solidFill>
                  <a:srgbClr val="6B7280"/>
                </a:solidFill>
                <a:latin typeface="Microsoft YaHei" panose="020B0503020204020204" pitchFamily="34" charset="-122"/>
                <a:ea typeface="Microsoft YaHei" panose="020B0503020204020204" pitchFamily="34" charset="-122"/>
                <a:cs typeface="Microsoft YaHei"/>
              </a:rPr>
              <a:t>RAG</a:t>
            </a: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、结构化 </a:t>
            </a:r>
            <a:r>
              <a:rPr lang="en-US" altLang="zh-CN" sz="1250" b="0">
                <a:solidFill>
                  <a:srgbClr val="6B7280"/>
                </a:solidFill>
                <a:latin typeface="Microsoft YaHei" panose="020B0503020204020204" pitchFamily="34" charset="-122"/>
                <a:ea typeface="Microsoft YaHei" panose="020B0503020204020204" pitchFamily="34" charset="-122"/>
                <a:cs typeface="Microsoft YaHei"/>
              </a:rPr>
              <a:t>Agent</a:t>
            </a: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、性能诊断、并发事务</a:t>
            </a:r>
            <a:endParaRPr sz="12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C76381E2-82C8-4B26-B0CD-D91A7DDE8C66}"/>
              </a:ext>
            </a:extLst>
          </p:cNvPr>
          <p:cNvSpPr>
            <a:spLocks noGrp="1"/>
          </p:cNvSpPr>
          <p:nvPr/>
        </p:nvSpPr>
        <p:spPr>
          <a:xfrm>
            <a:off x="1695450" y="3695700"/>
            <a:ext cx="8572500" cy="9525"/>
          </a:xfrm>
          <a:prstGeom prst="rect">
            <a:avLst/>
          </a:prstGeom>
          <a:solidFill>
            <a:srgbClr val="E3E6EB"/>
          </a:solidFill>
          <a:ln w="0">
            <a:noFill/>
            <a:prstDash val="solid"/>
          </a:ln>
        </p:spPr>
      </p:sp>
      <p:sp>
        <p:nvSpPr>
          <p:cNvPr id="15" name="矩形 14">
            <a:extLst>
              <a:ext uri="{FF2B5EF4-FFF2-40B4-BE49-F238E27FC236}">
                <a16:creationId xmlns:a16="http://schemas.microsoft.com/office/drawing/2014/main" id="{1E7E25C7-6D80-4FE7-9BB9-93E7E7020A18}"/>
              </a:ext>
            </a:extLst>
          </p:cNvPr>
          <p:cNvSpPr>
            <a:spLocks noGrp="1"/>
          </p:cNvSpPr>
          <p:nvPr/>
        </p:nvSpPr>
        <p:spPr>
          <a:xfrm>
            <a:off x="838200" y="390525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04</a:t>
            </a:r>
          </a:p>
        </p:txBody>
      </p:sp>
      <p:sp>
        <p:nvSpPr>
          <p:cNvPr id="16" name="矩形 15">
            <a:extLst>
              <a:ext uri="{FF2B5EF4-FFF2-40B4-BE49-F238E27FC236}">
                <a16:creationId xmlns:a16="http://schemas.microsoft.com/office/drawing/2014/main" id="{EBACE217-65FF-4F1C-9C06-4773594A883E}"/>
              </a:ext>
            </a:extLst>
          </p:cNvPr>
          <p:cNvSpPr>
            <a:spLocks noGrp="1"/>
          </p:cNvSpPr>
          <p:nvPr/>
        </p:nvSpPr>
        <p:spPr>
          <a:xfrm>
            <a:off x="1695450" y="393382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真实界面</a:t>
            </a:r>
          </a:p>
        </p:txBody>
      </p:sp>
      <p:sp>
        <p:nvSpPr>
          <p:cNvPr id="17" name="矩形 16">
            <a:extLst>
              <a:ext uri="{FF2B5EF4-FFF2-40B4-BE49-F238E27FC236}">
                <a16:creationId xmlns:a16="http://schemas.microsoft.com/office/drawing/2014/main" id="{6C896513-E606-4412-9BC5-DEFF4F299E79}"/>
              </a:ext>
            </a:extLst>
          </p:cNvPr>
          <p:cNvSpPr>
            <a:spLocks noGrp="1"/>
          </p:cNvSpPr>
          <p:nvPr/>
        </p:nvSpPr>
        <p:spPr>
          <a:xfrm>
            <a:off x="4381500" y="397192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商品、聊天、购物车、订单、运营后台</a:t>
            </a:r>
          </a:p>
        </p:txBody>
      </p:sp>
      <p:sp>
        <p:nvSpPr>
          <p:cNvPr id="18" name="矩形 17">
            <a:extLst>
              <a:ext uri="{FF2B5EF4-FFF2-40B4-BE49-F238E27FC236}">
                <a16:creationId xmlns:a16="http://schemas.microsoft.com/office/drawing/2014/main" id="{E04BCA1C-56B0-47C4-82CF-06A2E6461DC5}"/>
              </a:ext>
            </a:extLst>
          </p:cNvPr>
          <p:cNvSpPr>
            <a:spLocks noGrp="1"/>
          </p:cNvSpPr>
          <p:nvPr/>
        </p:nvSpPr>
        <p:spPr>
          <a:xfrm>
            <a:off x="1695450" y="4438650"/>
            <a:ext cx="8572500" cy="9525"/>
          </a:xfrm>
          <a:prstGeom prst="rect">
            <a:avLst/>
          </a:prstGeom>
          <a:solidFill>
            <a:srgbClr val="E3E6EB"/>
          </a:solidFill>
          <a:ln w="0">
            <a:noFill/>
            <a:prstDash val="solid"/>
          </a:ln>
        </p:spPr>
      </p:sp>
      <p:sp>
        <p:nvSpPr>
          <p:cNvPr id="19" name="矩形 18">
            <a:extLst>
              <a:ext uri="{FF2B5EF4-FFF2-40B4-BE49-F238E27FC236}">
                <a16:creationId xmlns:a16="http://schemas.microsoft.com/office/drawing/2014/main" id="{BCC38B73-B1F8-4054-9116-C1345786D3BB}"/>
              </a:ext>
            </a:extLst>
          </p:cNvPr>
          <p:cNvSpPr>
            <a:spLocks noGrp="1"/>
          </p:cNvSpPr>
          <p:nvPr/>
        </p:nvSpPr>
        <p:spPr>
          <a:xfrm>
            <a:off x="838200" y="46482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05</a:t>
            </a:r>
          </a:p>
        </p:txBody>
      </p:sp>
      <p:sp>
        <p:nvSpPr>
          <p:cNvPr id="20" name="矩形 19">
            <a:extLst>
              <a:ext uri="{FF2B5EF4-FFF2-40B4-BE49-F238E27FC236}">
                <a16:creationId xmlns:a16="http://schemas.microsoft.com/office/drawing/2014/main" id="{46DCA810-3083-42DC-8CE1-A13A1CDCD8B3}"/>
              </a:ext>
            </a:extLst>
          </p:cNvPr>
          <p:cNvSpPr>
            <a:spLocks noGrp="1"/>
          </p:cNvSpPr>
          <p:nvPr/>
        </p:nvSpPr>
        <p:spPr>
          <a:xfrm>
            <a:off x="1695450" y="46767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验证与复盘</a:t>
            </a:r>
          </a:p>
        </p:txBody>
      </p:sp>
      <p:sp>
        <p:nvSpPr>
          <p:cNvPr id="21" name="矩形 20">
            <a:extLst>
              <a:ext uri="{FF2B5EF4-FFF2-40B4-BE49-F238E27FC236}">
                <a16:creationId xmlns:a16="http://schemas.microsoft.com/office/drawing/2014/main" id="{308E1AF5-1FE5-4CEF-B15E-08D5652F7C1A}"/>
              </a:ext>
            </a:extLst>
          </p:cNvPr>
          <p:cNvSpPr>
            <a:spLocks noGrp="1"/>
          </p:cNvSpPr>
          <p:nvPr/>
        </p:nvSpPr>
        <p:spPr>
          <a:xfrm>
            <a:off x="4381500" y="47148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测试、Docker、日志、已完成与待改进</a:t>
            </a:r>
          </a:p>
        </p:txBody>
      </p:sp>
      <p:sp>
        <p:nvSpPr>
          <p:cNvPr id="22" name="矩形 21">
            <a:extLst>
              <a:ext uri="{FF2B5EF4-FFF2-40B4-BE49-F238E27FC236}">
                <a16:creationId xmlns:a16="http://schemas.microsoft.com/office/drawing/2014/main" id="{AF9A9E13-684A-492E-9699-8DEE98205131}"/>
              </a:ext>
            </a:extLst>
          </p:cNvPr>
          <p:cNvSpPr>
            <a:spLocks noGrp="1"/>
          </p:cNvSpPr>
          <p:nvPr/>
        </p:nvSpPr>
        <p:spPr>
          <a:xfrm>
            <a:off x="1695450" y="5181600"/>
            <a:ext cx="8572500" cy="9525"/>
          </a:xfrm>
          <a:prstGeom prst="rect">
            <a:avLst/>
          </a:prstGeom>
          <a:solidFill>
            <a:srgbClr val="E3E6EB"/>
          </a:solidFill>
          <a:ln w="0">
            <a:noFill/>
            <a:prstDash val="solid"/>
          </a:ln>
        </p:spPr>
      </p:sp>
      <p:sp>
        <p:nvSpPr>
          <p:cNvPr id="23" name="矩形 22">
            <a:extLst>
              <a:ext uri="{FF2B5EF4-FFF2-40B4-BE49-F238E27FC236}">
                <a16:creationId xmlns:a16="http://schemas.microsoft.com/office/drawing/2014/main" id="{B27A6E6A-0E66-4B7B-8887-3C80C2EE503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49F35EA7-5E78-4121-973B-AE67528BAD31}"/>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02</a:t>
            </a:r>
          </a:p>
        </p:txBody>
      </p:sp>
      <p:sp>
        <p:nvSpPr>
          <p:cNvPr id="26" name="ScoreRibbonBand">
            <a:extLst>
              <a:ext uri="{FF2B5EF4-FFF2-40B4-BE49-F238E27FC236}">
                <a16:creationId xmlns:a16="http://schemas.microsoft.com/office/drawing/2014/main" id="{444F6C4E-8F71-59F7-31DA-76B306E6B5B4}"/>
              </a:ext>
            </a:extLst>
          </p:cNvPr>
          <p:cNvSpPr/>
          <p:nvPr/>
        </p:nvSpPr>
        <p:spPr>
          <a:xfrm>
            <a:off x="838200" y="5346700"/>
            <a:ext cx="10515600" cy="736600"/>
          </a:xfrm>
          <a:prstGeom prst="rect">
            <a:avLst/>
          </a:prstGeom>
          <a:solidFill>
            <a:srgbClr val="FFFFFF"/>
          </a:solidFill>
          <a:ln w="9525">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ScoreRibbonLabel">
            <a:extLst>
              <a:ext uri="{FF2B5EF4-FFF2-40B4-BE49-F238E27FC236}">
                <a16:creationId xmlns:a16="http://schemas.microsoft.com/office/drawing/2014/main" id="{31CB2D16-33C4-17E5-A3E0-836DC11662A4}"/>
              </a:ext>
            </a:extLst>
          </p:cNvPr>
          <p:cNvSpPr txBox="1"/>
          <p:nvPr/>
        </p:nvSpPr>
        <p:spPr>
          <a:xfrm>
            <a:off x="1016000" y="5575300"/>
            <a:ext cx="1117600" cy="415498"/>
          </a:xfrm>
          <a:prstGeom prst="rect">
            <a:avLst/>
          </a:prstGeom>
          <a:noFill/>
        </p:spPr>
        <p:txBody>
          <a:bodyPr vert="horz" rtlCol="0">
            <a:spAutoFit/>
          </a:bodyPr>
          <a:lstStyle/>
          <a:p>
            <a:r>
              <a:rPr lang="zh-TW" altLang="en-US" sz="1050" b="1">
                <a:solidFill>
                  <a:srgbClr val="2F46DC"/>
                </a:solidFill>
                <a:latin typeface="Microsoft YaHei" panose="020B0503020204020204" pitchFamily="34" charset="-122"/>
                <a:ea typeface="Microsoft YaHei" panose="020B0503020204020204" pitchFamily="34" charset="-122"/>
              </a:rPr>
              <a:t>鍏」璇勫垎瑕嗙洊</a:t>
            </a:r>
            <a:endParaRPr lang="zh-CN" altLang="en-US" sz="1050" b="1">
              <a:solidFill>
                <a:srgbClr val="2F46DC"/>
              </a:solidFill>
              <a:latin typeface="Microsoft YaHei" panose="020B0503020204020204" pitchFamily="34" charset="-122"/>
              <a:ea typeface="Microsoft YaHei" panose="020B0503020204020204" pitchFamily="34" charset="-122"/>
            </a:endParaRPr>
          </a:p>
        </p:txBody>
      </p:sp>
      <p:sp>
        <p:nvSpPr>
          <p:cNvPr id="28" name="ScoreRibbonChip1">
            <a:extLst>
              <a:ext uri="{FF2B5EF4-FFF2-40B4-BE49-F238E27FC236}">
                <a16:creationId xmlns:a16="http://schemas.microsoft.com/office/drawing/2014/main" id="{E07A0F67-F308-AB12-6175-EC8B3EBF119A}"/>
              </a:ext>
            </a:extLst>
          </p:cNvPr>
          <p:cNvSpPr/>
          <p:nvPr/>
        </p:nvSpPr>
        <p:spPr>
          <a:xfrm>
            <a:off x="22352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50">
                <a:solidFill>
                  <a:srgbClr val="374151"/>
                </a:solidFill>
                <a:latin typeface="Microsoft YaHei" panose="020B0503020204020204" pitchFamily="34" charset="-122"/>
                <a:ea typeface="Microsoft YaHei" panose="020B0503020204020204" pitchFamily="34" charset="-122"/>
              </a:rPr>
              <a:t>项目完整度</a:t>
            </a:r>
          </a:p>
        </p:txBody>
      </p:sp>
      <p:sp>
        <p:nvSpPr>
          <p:cNvPr id="29" name="ScoreRibbonChip2">
            <a:extLst>
              <a:ext uri="{FF2B5EF4-FFF2-40B4-BE49-F238E27FC236}">
                <a16:creationId xmlns:a16="http://schemas.microsoft.com/office/drawing/2014/main" id="{DC7D8F12-1132-8161-CF4D-881649D09A65}"/>
              </a:ext>
            </a:extLst>
          </p:cNvPr>
          <p:cNvSpPr/>
          <p:nvPr/>
        </p:nvSpPr>
        <p:spPr>
          <a:xfrm>
            <a:off x="37084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50">
                <a:solidFill>
                  <a:srgbClr val="374151"/>
                </a:solidFill>
                <a:latin typeface="Microsoft YaHei" panose="020B0503020204020204" pitchFamily="34" charset="-122"/>
                <a:ea typeface="Microsoft YaHei" panose="020B0503020204020204" pitchFamily="34" charset="-122"/>
              </a:rPr>
              <a:t>功能完整度</a:t>
            </a:r>
          </a:p>
        </p:txBody>
      </p:sp>
      <p:sp>
        <p:nvSpPr>
          <p:cNvPr id="30" name="ScoreRibbonChip3">
            <a:extLst>
              <a:ext uri="{FF2B5EF4-FFF2-40B4-BE49-F238E27FC236}">
                <a16:creationId xmlns:a16="http://schemas.microsoft.com/office/drawing/2014/main" id="{67C8EA3C-7663-1A29-D9C4-843EDAFF9716}"/>
              </a:ext>
            </a:extLst>
          </p:cNvPr>
          <p:cNvSpPr/>
          <p:nvPr/>
        </p:nvSpPr>
        <p:spPr>
          <a:xfrm>
            <a:off x="51816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50">
                <a:solidFill>
                  <a:srgbClr val="374151"/>
                </a:solidFill>
                <a:latin typeface="Microsoft YaHei" panose="020B0503020204020204" pitchFamily="34" charset="-122"/>
                <a:ea typeface="Microsoft YaHei" panose="020B0503020204020204" pitchFamily="34" charset="-122"/>
              </a:rPr>
              <a:t>技术突破</a:t>
            </a:r>
          </a:p>
        </p:txBody>
      </p:sp>
      <p:sp>
        <p:nvSpPr>
          <p:cNvPr id="31" name="ScoreRibbonChip4">
            <a:extLst>
              <a:ext uri="{FF2B5EF4-FFF2-40B4-BE49-F238E27FC236}">
                <a16:creationId xmlns:a16="http://schemas.microsoft.com/office/drawing/2014/main" id="{3B721A3A-3E59-4A48-EC48-88E717DB0309}"/>
              </a:ext>
            </a:extLst>
          </p:cNvPr>
          <p:cNvSpPr/>
          <p:nvPr/>
        </p:nvSpPr>
        <p:spPr>
          <a:xfrm>
            <a:off x="66548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50">
                <a:solidFill>
                  <a:srgbClr val="374151"/>
                </a:solidFill>
                <a:latin typeface="Microsoft YaHei" panose="020B0503020204020204" pitchFamily="34" charset="-122"/>
                <a:ea typeface="Microsoft YaHei" panose="020B0503020204020204" pitchFamily="34" charset="-122"/>
              </a:rPr>
              <a:t>个人答辩</a:t>
            </a:r>
          </a:p>
        </p:txBody>
      </p:sp>
      <p:sp>
        <p:nvSpPr>
          <p:cNvPr id="32" name="ScoreRibbonChip5">
            <a:extLst>
              <a:ext uri="{FF2B5EF4-FFF2-40B4-BE49-F238E27FC236}">
                <a16:creationId xmlns:a16="http://schemas.microsoft.com/office/drawing/2014/main" id="{ED33F3CB-F545-AF66-08BA-FD5DEE0651B9}"/>
              </a:ext>
            </a:extLst>
          </p:cNvPr>
          <p:cNvSpPr/>
          <p:nvPr/>
        </p:nvSpPr>
        <p:spPr>
          <a:xfrm>
            <a:off x="81280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50">
                <a:solidFill>
                  <a:srgbClr val="374151"/>
                </a:solidFill>
                <a:latin typeface="Microsoft YaHei" panose="020B0503020204020204" pitchFamily="34" charset="-122"/>
                <a:ea typeface="Microsoft YaHei" panose="020B0503020204020204" pitchFamily="34" charset="-122"/>
              </a:rPr>
              <a:t>PPT </a:t>
            </a:r>
            <a:r>
              <a:rPr lang="zh-CN" altLang="en-US" sz="950">
                <a:solidFill>
                  <a:srgbClr val="374151"/>
                </a:solidFill>
                <a:latin typeface="Microsoft YaHei" panose="020B0503020204020204" pitchFamily="34" charset="-122"/>
                <a:ea typeface="Microsoft YaHei" panose="020B0503020204020204" pitchFamily="34" charset="-122"/>
              </a:rPr>
              <a:t>质量</a:t>
            </a:r>
          </a:p>
        </p:txBody>
      </p:sp>
      <p:sp>
        <p:nvSpPr>
          <p:cNvPr id="33" name="ScoreRibbonChip6">
            <a:extLst>
              <a:ext uri="{FF2B5EF4-FFF2-40B4-BE49-F238E27FC236}">
                <a16:creationId xmlns:a16="http://schemas.microsoft.com/office/drawing/2014/main" id="{7F6C074A-3F07-97FB-6895-9EA739CDAFDB}"/>
              </a:ext>
            </a:extLst>
          </p:cNvPr>
          <p:cNvSpPr/>
          <p:nvPr/>
        </p:nvSpPr>
        <p:spPr>
          <a:xfrm>
            <a:off x="9601200" y="5511800"/>
            <a:ext cx="1371600" cy="3810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50">
                <a:solidFill>
                  <a:srgbClr val="374151"/>
                </a:solidFill>
                <a:latin typeface="Microsoft YaHei" panose="020B0503020204020204" pitchFamily="34" charset="-122"/>
                <a:ea typeface="Microsoft YaHei" panose="020B0503020204020204" pitchFamily="34" charset="-122"/>
              </a:rPr>
              <a:t>材料完整度</a:t>
            </a:r>
          </a:p>
        </p:txBody>
      </p:sp>
    </p:spTree>
    <p:extLst>
      <p:ext uri="{BB962C8B-B14F-4D97-AF65-F5344CB8AC3E}">
        <p14:creationId xmlns:p14="http://schemas.microsoft.com/office/powerpoint/2010/main" val="1178940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B1132CA5-F1D1-45A1-B8EF-78CD0BDD01F9}"/>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PROJECT POSITIONING</a:t>
            </a:r>
          </a:p>
        </p:txBody>
      </p:sp>
      <p:sp>
        <p:nvSpPr>
          <p:cNvPr id="2" name="矩形 1">
            <a:extLst>
              <a:ext uri="{FF2B5EF4-FFF2-40B4-BE49-F238E27FC236}">
                <a16:creationId xmlns:a16="http://schemas.microsoft.com/office/drawing/2014/main" id="{8C0B7A06-EF58-4A6D-9FE0-C9B9CB1596B0}"/>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项目目标是把电商主链路和 Agent 能力同时跑通</a:t>
            </a:r>
          </a:p>
        </p:txBody>
      </p:sp>
      <p:sp>
        <p:nvSpPr>
          <p:cNvPr id="3" name="矩形 2">
            <a:extLst>
              <a:ext uri="{FF2B5EF4-FFF2-40B4-BE49-F238E27FC236}">
                <a16:creationId xmlns:a16="http://schemas.microsoft.com/office/drawing/2014/main" id="{472BF671-D85C-4A45-903B-913B85B73FFF}"/>
              </a:ext>
            </a:extLst>
          </p:cNvPr>
          <p:cNvSpPr>
            <a:spLocks noGrp="1"/>
          </p:cNvSpPr>
          <p:nvPr/>
        </p:nvSpPr>
        <p:spPr>
          <a:xfrm>
            <a:off x="704850" y="1504950"/>
            <a:ext cx="9906000" cy="400050"/>
          </a:xfrm>
          <a:prstGeom prst="rect">
            <a:avLst/>
          </a:prstGeom>
          <a:noFill/>
          <a:ln w="0">
            <a:noFill/>
            <a:prstDash val="solid"/>
          </a:ln>
        </p:spPr>
        <p:txBody>
          <a:bodyPr/>
          <a:lstStyle/>
          <a:p>
            <a:pPr algn="l">
              <a:defRPr sz="1500" b="0">
                <a:solidFill>
                  <a:srgbClr val="6B7280"/>
                </a:solidFill>
                <a:latin typeface="Microsoft YaHei"/>
                <a:ea typeface="Microsoft YaHei"/>
                <a:cs typeface="Microsoft YaHei"/>
              </a:defRPr>
            </a:pPr>
            <a:r>
              <a:rPr lang="en-US" altLang="zh-CN" sz="1450" b="0">
                <a:solidFill>
                  <a:srgbClr val="6B7280"/>
                </a:solidFill>
                <a:latin typeface="Microsoft YaHei" panose="020B0503020204020204" pitchFamily="34" charset="-122"/>
                <a:ea typeface="Microsoft YaHei" panose="020B0503020204020204" pitchFamily="34" charset="-122"/>
                <a:cs typeface="Microsoft YaHei"/>
              </a:rPr>
              <a:t>Smart Mall </a:t>
            </a:r>
            <a:r>
              <a:rPr lang="zh-CN" altLang="en-US" sz="1450" b="0">
                <a:solidFill>
                  <a:srgbClr val="6B7280"/>
                </a:solidFill>
                <a:latin typeface="Microsoft YaHei" panose="020B0503020204020204" pitchFamily="34" charset="-122"/>
                <a:ea typeface="Microsoft YaHei" panose="020B0503020204020204" pitchFamily="34" charset="-122"/>
                <a:cs typeface="Microsoft YaHei"/>
              </a:rPr>
              <a:t>面向 </a:t>
            </a:r>
            <a:r>
              <a:rPr lang="en-US" altLang="zh-CN" sz="1450" b="0">
                <a:solidFill>
                  <a:srgbClr val="6B7280"/>
                </a:solidFill>
                <a:latin typeface="Microsoft YaHei" panose="020B0503020204020204" pitchFamily="34" charset="-122"/>
                <a:ea typeface="Microsoft YaHei" panose="020B0503020204020204" pitchFamily="34" charset="-122"/>
                <a:cs typeface="Microsoft YaHei"/>
              </a:rPr>
              <a:t>15 </a:t>
            </a:r>
            <a:r>
              <a:rPr lang="zh-CN" altLang="en-US" sz="1450" b="0">
                <a:solidFill>
                  <a:srgbClr val="6B7280"/>
                </a:solidFill>
                <a:latin typeface="Microsoft YaHei" panose="020B0503020204020204" pitchFamily="34" charset="-122"/>
                <a:ea typeface="Microsoft YaHei" panose="020B0503020204020204" pitchFamily="34" charset="-122"/>
                <a:cs typeface="Microsoft YaHei"/>
              </a:rPr>
              <a:t>个企业实训工作日，不追求生产级大促架构，重点是五大模块可演示、技术栈落地、工程边界讲得清。</a:t>
            </a:r>
            <a:endParaRPr sz="14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4" name="矩形: 圆角 3">
            <a:extLst>
              <a:ext uri="{FF2B5EF4-FFF2-40B4-BE49-F238E27FC236}">
                <a16:creationId xmlns:a16="http://schemas.microsoft.com/office/drawing/2014/main" id="{0258E95C-B3E6-4D6D-9E34-BF801AB29917}"/>
              </a:ext>
            </a:extLst>
          </p:cNvPr>
          <p:cNvSpPr>
            <a:spLocks noGrp="1"/>
          </p:cNvSpPr>
          <p:nvPr/>
        </p:nvSpPr>
        <p:spPr>
          <a:xfrm>
            <a:off x="704850" y="2324100"/>
            <a:ext cx="3257550" cy="1162050"/>
          </a:xfrm>
          <a:prstGeom prst="roundRect">
            <a:avLst>
              <a:gd name="adj" fmla="val 1639"/>
            </a:avLst>
          </a:prstGeom>
          <a:solidFill>
            <a:srgbClr val="FFFFFF"/>
          </a:solidFill>
          <a:ln w="9525">
            <a:solidFill>
              <a:srgbClr val="E3E6EB"/>
            </a:solidFill>
            <a:prstDash val="solid"/>
          </a:ln>
        </p:spPr>
      </p:sp>
      <p:sp>
        <p:nvSpPr>
          <p:cNvPr id="5" name="矩形 4">
            <a:extLst>
              <a:ext uri="{FF2B5EF4-FFF2-40B4-BE49-F238E27FC236}">
                <a16:creationId xmlns:a16="http://schemas.microsoft.com/office/drawing/2014/main" id="{B239E193-DB65-42A4-8343-5EDC2F58486F}"/>
              </a:ext>
            </a:extLst>
          </p:cNvPr>
          <p:cNvSpPr>
            <a:spLocks noGrp="1"/>
          </p:cNvSpPr>
          <p:nvPr/>
        </p:nvSpPr>
        <p:spPr>
          <a:xfrm>
            <a:off x="8953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五大模块</a:t>
            </a:r>
          </a:p>
        </p:txBody>
      </p:sp>
      <p:sp>
        <p:nvSpPr>
          <p:cNvPr id="6" name="矩形 5">
            <a:extLst>
              <a:ext uri="{FF2B5EF4-FFF2-40B4-BE49-F238E27FC236}">
                <a16:creationId xmlns:a16="http://schemas.microsoft.com/office/drawing/2014/main" id="{B4E8AAC7-11B5-4258-869A-AA9815F8517C}"/>
              </a:ext>
            </a:extLst>
          </p:cNvPr>
          <p:cNvSpPr>
            <a:spLocks noGrp="1"/>
          </p:cNvSpPr>
          <p:nvPr/>
        </p:nvSpPr>
        <p:spPr>
          <a:xfrm>
            <a:off x="8953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5</a:t>
            </a:r>
          </a:p>
        </p:txBody>
      </p:sp>
      <p:sp>
        <p:nvSpPr>
          <p:cNvPr id="7" name="矩形 6">
            <a:extLst>
              <a:ext uri="{FF2B5EF4-FFF2-40B4-BE49-F238E27FC236}">
                <a16:creationId xmlns:a16="http://schemas.microsoft.com/office/drawing/2014/main" id="{0131245D-2D2C-4AF2-8DFF-20FD702F2178}"/>
              </a:ext>
            </a:extLst>
          </p:cNvPr>
          <p:cNvSpPr>
            <a:spLocks noGrp="1"/>
          </p:cNvSpPr>
          <p:nvPr/>
        </p:nvSpPr>
        <p:spPr>
          <a:xfrm>
            <a:off x="8953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用户 / 商品 / 订单 / 搜索 / AI 助手</a:t>
            </a:r>
          </a:p>
        </p:txBody>
      </p:sp>
      <p:sp>
        <p:nvSpPr>
          <p:cNvPr id="8" name="矩形: 圆角 7">
            <a:extLst>
              <a:ext uri="{FF2B5EF4-FFF2-40B4-BE49-F238E27FC236}">
                <a16:creationId xmlns:a16="http://schemas.microsoft.com/office/drawing/2014/main" id="{9E51D6F7-8053-4588-9359-6985EECAA650}"/>
              </a:ext>
            </a:extLst>
          </p:cNvPr>
          <p:cNvSpPr>
            <a:spLocks noGrp="1"/>
          </p:cNvSpPr>
          <p:nvPr/>
        </p:nvSpPr>
        <p:spPr>
          <a:xfrm>
            <a:off x="4476750" y="2324100"/>
            <a:ext cx="3257550" cy="1162050"/>
          </a:xfrm>
          <a:prstGeom prst="roundRect">
            <a:avLst>
              <a:gd name="adj" fmla="val 1639"/>
            </a:avLst>
          </a:prstGeom>
          <a:solidFill>
            <a:srgbClr val="FFFFFF"/>
          </a:solidFill>
          <a:ln w="9525">
            <a:solidFill>
              <a:srgbClr val="E3E6EB"/>
            </a:solidFill>
            <a:prstDash val="solid"/>
          </a:ln>
        </p:spPr>
      </p:sp>
      <p:sp>
        <p:nvSpPr>
          <p:cNvPr id="9" name="矩形 8">
            <a:extLst>
              <a:ext uri="{FF2B5EF4-FFF2-40B4-BE49-F238E27FC236}">
                <a16:creationId xmlns:a16="http://schemas.microsoft.com/office/drawing/2014/main" id="{0A808913-C156-4C12-8BFB-AC84C2A2FFCB}"/>
              </a:ext>
            </a:extLst>
          </p:cNvPr>
          <p:cNvSpPr>
            <a:spLocks noGrp="1"/>
          </p:cNvSpPr>
          <p:nvPr/>
        </p:nvSpPr>
        <p:spPr>
          <a:xfrm>
            <a:off x="46672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可部署单元</a:t>
            </a:r>
          </a:p>
        </p:txBody>
      </p:sp>
      <p:sp>
        <p:nvSpPr>
          <p:cNvPr id="10" name="矩形 9">
            <a:extLst>
              <a:ext uri="{FF2B5EF4-FFF2-40B4-BE49-F238E27FC236}">
                <a16:creationId xmlns:a16="http://schemas.microsoft.com/office/drawing/2014/main" id="{A87FC303-5DB0-41A3-91B7-80C71F836FC1}"/>
              </a:ext>
            </a:extLst>
          </p:cNvPr>
          <p:cNvSpPr>
            <a:spLocks noGrp="1"/>
          </p:cNvSpPr>
          <p:nvPr/>
        </p:nvSpPr>
        <p:spPr>
          <a:xfrm>
            <a:off x="46672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4</a:t>
            </a:r>
          </a:p>
        </p:txBody>
      </p:sp>
      <p:sp>
        <p:nvSpPr>
          <p:cNvPr id="11" name="矩形 10">
            <a:extLst>
              <a:ext uri="{FF2B5EF4-FFF2-40B4-BE49-F238E27FC236}">
                <a16:creationId xmlns:a16="http://schemas.microsoft.com/office/drawing/2014/main" id="{09E4A402-555E-4F04-BF71-C0C070CD3BE4}"/>
              </a:ext>
            </a:extLst>
          </p:cNvPr>
          <p:cNvSpPr>
            <a:spLocks noGrp="1"/>
          </p:cNvSpPr>
          <p:nvPr/>
        </p:nvSpPr>
        <p:spPr>
          <a:xfrm>
            <a:off x="46672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frontend / backend / agent / mysql</a:t>
            </a:r>
          </a:p>
        </p:txBody>
      </p:sp>
      <p:sp>
        <p:nvSpPr>
          <p:cNvPr id="12" name="矩形: 圆角 11">
            <a:extLst>
              <a:ext uri="{FF2B5EF4-FFF2-40B4-BE49-F238E27FC236}">
                <a16:creationId xmlns:a16="http://schemas.microsoft.com/office/drawing/2014/main" id="{A2C473A2-0D5E-4053-9DC8-334C34F4D20E}"/>
              </a:ext>
            </a:extLst>
          </p:cNvPr>
          <p:cNvSpPr>
            <a:spLocks noGrp="1"/>
          </p:cNvSpPr>
          <p:nvPr/>
        </p:nvSpPr>
        <p:spPr>
          <a:xfrm>
            <a:off x="8248650" y="2324100"/>
            <a:ext cx="3257550" cy="1162050"/>
          </a:xfrm>
          <a:prstGeom prst="roundRect">
            <a:avLst>
              <a:gd name="adj" fmla="val 1639"/>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F20EC0A4-94A2-4A98-AFF9-DD50ADE9C986}"/>
              </a:ext>
            </a:extLst>
          </p:cNvPr>
          <p:cNvSpPr>
            <a:spLocks noGrp="1"/>
          </p:cNvSpPr>
          <p:nvPr/>
        </p:nvSpPr>
        <p:spPr>
          <a:xfrm>
            <a:off x="84391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验收主线</a:t>
            </a:r>
          </a:p>
        </p:txBody>
      </p:sp>
      <p:sp>
        <p:nvSpPr>
          <p:cNvPr id="14" name="矩形 13">
            <a:extLst>
              <a:ext uri="{FF2B5EF4-FFF2-40B4-BE49-F238E27FC236}">
                <a16:creationId xmlns:a16="http://schemas.microsoft.com/office/drawing/2014/main" id="{7EC15102-F2DE-44E6-889D-CF93AED1AFED}"/>
              </a:ext>
            </a:extLst>
          </p:cNvPr>
          <p:cNvSpPr>
            <a:spLocks noGrp="1"/>
          </p:cNvSpPr>
          <p:nvPr/>
        </p:nvSpPr>
        <p:spPr>
          <a:xfrm>
            <a:off x="84391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a:t>
            </a:r>
          </a:p>
        </p:txBody>
      </p:sp>
      <p:sp>
        <p:nvSpPr>
          <p:cNvPr id="15" name="矩形 14">
            <a:extLst>
              <a:ext uri="{FF2B5EF4-FFF2-40B4-BE49-F238E27FC236}">
                <a16:creationId xmlns:a16="http://schemas.microsoft.com/office/drawing/2014/main" id="{A59FBEDD-B9A3-496B-971C-41AC77BCCB84}"/>
              </a:ext>
            </a:extLst>
          </p:cNvPr>
          <p:cNvSpPr>
            <a:spLocks noGrp="1"/>
          </p:cNvSpPr>
          <p:nvPr/>
        </p:nvSpPr>
        <p:spPr>
          <a:xfrm>
            <a:off x="84391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注册登录到下单再到 AI 推荐</a:t>
            </a:r>
          </a:p>
        </p:txBody>
      </p:sp>
      <p:sp>
        <p:nvSpPr>
          <p:cNvPr id="16" name="矩形 15">
            <a:extLst>
              <a:ext uri="{FF2B5EF4-FFF2-40B4-BE49-F238E27FC236}">
                <a16:creationId xmlns:a16="http://schemas.microsoft.com/office/drawing/2014/main" id="{566B1906-A95A-4096-A7B1-982105C086D2}"/>
              </a:ext>
            </a:extLst>
          </p:cNvPr>
          <p:cNvSpPr>
            <a:spLocks noGrp="1"/>
          </p:cNvSpPr>
          <p:nvPr/>
        </p:nvSpPr>
        <p:spPr>
          <a:xfrm>
            <a:off x="1047750" y="4067175"/>
            <a:ext cx="76200" cy="7620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690E42DE-453E-48EB-BC83-B43DC5F86F7A}"/>
              </a:ext>
            </a:extLst>
          </p:cNvPr>
          <p:cNvSpPr>
            <a:spLocks noGrp="1"/>
          </p:cNvSpPr>
          <p:nvPr/>
        </p:nvSpPr>
        <p:spPr>
          <a:xfrm>
            <a:off x="1257300" y="400050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商城是业务载体，真正考核点是需求、架构、开发、测试、部署和答辩表达。</a:t>
            </a:r>
          </a:p>
        </p:txBody>
      </p:sp>
      <p:sp>
        <p:nvSpPr>
          <p:cNvPr id="18" name="矩形 17">
            <a:extLst>
              <a:ext uri="{FF2B5EF4-FFF2-40B4-BE49-F238E27FC236}">
                <a16:creationId xmlns:a16="http://schemas.microsoft.com/office/drawing/2014/main" id="{C2723491-2FB6-4CBB-AFCA-6965355A85E8}"/>
              </a:ext>
            </a:extLst>
          </p:cNvPr>
          <p:cNvSpPr>
            <a:spLocks noGrp="1"/>
          </p:cNvSpPr>
          <p:nvPr/>
        </p:nvSpPr>
        <p:spPr>
          <a:xfrm>
            <a:off x="1047750" y="4505325"/>
            <a:ext cx="76200" cy="76200"/>
          </a:xfrm>
          <a:prstGeom prst="rect">
            <a:avLst/>
          </a:prstGeom>
          <a:solidFill>
            <a:srgbClr val="2B45D8"/>
          </a:solidFill>
          <a:ln w="0">
            <a:noFill/>
            <a:prstDash val="solid"/>
          </a:ln>
        </p:spPr>
      </p:sp>
      <p:sp>
        <p:nvSpPr>
          <p:cNvPr id="19" name="矩形 18">
            <a:extLst>
              <a:ext uri="{FF2B5EF4-FFF2-40B4-BE49-F238E27FC236}">
                <a16:creationId xmlns:a16="http://schemas.microsoft.com/office/drawing/2014/main" id="{F4852D14-B241-4942-B30B-232529E7C600}"/>
              </a:ext>
            </a:extLst>
          </p:cNvPr>
          <p:cNvSpPr>
            <a:spLocks noGrp="1"/>
          </p:cNvSpPr>
          <p:nvPr/>
        </p:nvSpPr>
        <p:spPr>
          <a:xfrm>
            <a:off x="1257300" y="443865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Agent 独立成 Python 微服务，避免把 LangChain 逻辑塞进主业务后端。</a:t>
            </a:r>
          </a:p>
        </p:txBody>
      </p:sp>
      <p:sp>
        <p:nvSpPr>
          <p:cNvPr id="20" name="矩形 19">
            <a:extLst>
              <a:ext uri="{FF2B5EF4-FFF2-40B4-BE49-F238E27FC236}">
                <a16:creationId xmlns:a16="http://schemas.microsoft.com/office/drawing/2014/main" id="{BFC9DBCD-B433-43D4-91F6-11FEF42000B5}"/>
              </a:ext>
            </a:extLst>
          </p:cNvPr>
          <p:cNvSpPr>
            <a:spLocks noGrp="1"/>
          </p:cNvSpPr>
          <p:nvPr/>
        </p:nvSpPr>
        <p:spPr>
          <a:xfrm>
            <a:off x="1047750" y="4943475"/>
            <a:ext cx="76200" cy="7620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1C9EC91F-DBFD-4784-98C9-074B53185391}"/>
              </a:ext>
            </a:extLst>
          </p:cNvPr>
          <p:cNvSpPr>
            <a:spLocks noGrp="1"/>
          </p:cNvSpPr>
          <p:nvPr/>
        </p:nvSpPr>
        <p:spPr>
          <a:xfrm>
            <a:off x="1257300" y="487680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所有演示都围绕真实商品、真实订单、真实数据库状态展开。</a:t>
            </a:r>
          </a:p>
        </p:txBody>
      </p:sp>
      <p:sp>
        <p:nvSpPr>
          <p:cNvPr id="22" name="矩形 21">
            <a:extLst>
              <a:ext uri="{FF2B5EF4-FFF2-40B4-BE49-F238E27FC236}">
                <a16:creationId xmlns:a16="http://schemas.microsoft.com/office/drawing/2014/main" id="{A4D861C7-229C-4B21-8185-C552FAEA55D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796979D1-1BF1-49A5-B89A-0B3CA98AB6A2}"/>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03</a:t>
            </a:r>
          </a:p>
        </p:txBody>
      </p:sp>
    </p:spTree>
    <p:extLst>
      <p:ext uri="{BB962C8B-B14F-4D97-AF65-F5344CB8AC3E}">
        <p14:creationId xmlns:p14="http://schemas.microsoft.com/office/powerpoint/2010/main" val="565399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893E4766-7F0F-41E1-ADA2-908AD59A616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ARCHITECTURE</a:t>
            </a:r>
          </a:p>
        </p:txBody>
      </p:sp>
      <p:sp>
        <p:nvSpPr>
          <p:cNvPr id="2" name="矩形 1">
            <a:extLst>
              <a:ext uri="{FF2B5EF4-FFF2-40B4-BE49-F238E27FC236}">
                <a16:creationId xmlns:a16="http://schemas.microsoft.com/office/drawing/2014/main" id="{56AD63AE-1F78-47E4-9FBD-720035C2429E}"/>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四层架构让业务系统和智能体边界清晰</a:t>
            </a:r>
          </a:p>
        </p:txBody>
      </p:sp>
      <p:sp>
        <p:nvSpPr>
          <p:cNvPr id="3" name="矩形: 圆角 2">
            <a:extLst>
              <a:ext uri="{FF2B5EF4-FFF2-40B4-BE49-F238E27FC236}">
                <a16:creationId xmlns:a16="http://schemas.microsoft.com/office/drawing/2014/main" id="{DB63C528-3704-4261-9839-A91A21FF8553}"/>
              </a:ext>
            </a:extLst>
          </p:cNvPr>
          <p:cNvSpPr>
            <a:spLocks noGrp="1"/>
          </p:cNvSpPr>
          <p:nvPr/>
        </p:nvSpPr>
        <p:spPr>
          <a:xfrm>
            <a:off x="876300" y="2476500"/>
            <a:ext cx="2000250" cy="876300"/>
          </a:xfrm>
          <a:prstGeom prst="roundRect">
            <a:avLst>
              <a:gd name="adj" fmla="val 2174"/>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EB89F447-1AFC-43A9-8DDC-43D9F2032DC5}"/>
              </a:ext>
            </a:extLst>
          </p:cNvPr>
          <p:cNvSpPr>
            <a:spLocks noGrp="1"/>
          </p:cNvSpPr>
          <p:nvPr/>
        </p:nvSpPr>
        <p:spPr>
          <a:xfrm>
            <a:off x="1047750" y="26479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Vue3 前端</a:t>
            </a:r>
          </a:p>
        </p:txBody>
      </p:sp>
      <p:sp>
        <p:nvSpPr>
          <p:cNvPr id="5" name="矩形 4">
            <a:extLst>
              <a:ext uri="{FF2B5EF4-FFF2-40B4-BE49-F238E27FC236}">
                <a16:creationId xmlns:a16="http://schemas.microsoft.com/office/drawing/2014/main" id="{AD46318A-86CD-4D0B-961F-C6D2C7067533}"/>
              </a:ext>
            </a:extLst>
          </p:cNvPr>
          <p:cNvSpPr>
            <a:spLocks noGrp="1"/>
          </p:cNvSpPr>
          <p:nvPr/>
        </p:nvSpPr>
        <p:spPr>
          <a:xfrm>
            <a:off x="1047750" y="29527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Nginx 静态站点 / axios</a:t>
            </a:r>
          </a:p>
        </p:txBody>
      </p:sp>
      <p:sp>
        <p:nvSpPr>
          <p:cNvPr id="6" name="矩形 5">
            <a:extLst>
              <a:ext uri="{FF2B5EF4-FFF2-40B4-BE49-F238E27FC236}">
                <a16:creationId xmlns:a16="http://schemas.microsoft.com/office/drawing/2014/main" id="{BF291ADF-2DFF-4510-8A2C-760909C7D4E2}"/>
              </a:ext>
            </a:extLst>
          </p:cNvPr>
          <p:cNvSpPr>
            <a:spLocks noGrp="1"/>
          </p:cNvSpPr>
          <p:nvPr/>
        </p:nvSpPr>
        <p:spPr>
          <a:xfrm>
            <a:off x="3028950" y="2867025"/>
            <a:ext cx="400050" cy="19050"/>
          </a:xfrm>
          <a:prstGeom prst="rect">
            <a:avLst/>
          </a:prstGeom>
          <a:solidFill>
            <a:srgbClr val="2B45D8"/>
          </a:solidFill>
          <a:ln w="0">
            <a:noFill/>
            <a:prstDash val="solid"/>
          </a:ln>
        </p:spPr>
      </p:sp>
      <p:sp>
        <p:nvSpPr>
          <p:cNvPr id="7" name="矩形 6">
            <a:extLst>
              <a:ext uri="{FF2B5EF4-FFF2-40B4-BE49-F238E27FC236}">
                <a16:creationId xmlns:a16="http://schemas.microsoft.com/office/drawing/2014/main" id="{A02F41F1-700A-49E0-AF55-25675B4487AB}"/>
              </a:ext>
            </a:extLst>
          </p:cNvPr>
          <p:cNvSpPr>
            <a:spLocks noGrp="1"/>
          </p:cNvSpPr>
          <p:nvPr/>
        </p:nvSpPr>
        <p:spPr>
          <a:xfrm>
            <a:off x="3409950" y="27622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8" name="矩形: 圆角 7">
            <a:extLst>
              <a:ext uri="{FF2B5EF4-FFF2-40B4-BE49-F238E27FC236}">
                <a16:creationId xmlns:a16="http://schemas.microsoft.com/office/drawing/2014/main" id="{56D8463E-402A-4631-B2AB-2B2E575CDCFC}"/>
              </a:ext>
            </a:extLst>
          </p:cNvPr>
          <p:cNvSpPr>
            <a:spLocks noGrp="1"/>
          </p:cNvSpPr>
          <p:nvPr/>
        </p:nvSpPr>
        <p:spPr>
          <a:xfrm>
            <a:off x="3695700" y="2476500"/>
            <a:ext cx="2190750" cy="876300"/>
          </a:xfrm>
          <a:prstGeom prst="roundRect">
            <a:avLst>
              <a:gd name="adj" fmla="val 2174"/>
            </a:avLst>
          </a:prstGeom>
          <a:solidFill>
            <a:srgbClr val="2B45D8"/>
          </a:solidFill>
          <a:ln w="9525">
            <a:solidFill>
              <a:srgbClr val="2B45D8"/>
            </a:solidFill>
            <a:prstDash val="solid"/>
          </a:ln>
        </p:spPr>
      </p:sp>
      <p:sp>
        <p:nvSpPr>
          <p:cNvPr id="9" name="矩形 8">
            <a:extLst>
              <a:ext uri="{FF2B5EF4-FFF2-40B4-BE49-F238E27FC236}">
                <a16:creationId xmlns:a16="http://schemas.microsoft.com/office/drawing/2014/main" id="{1815BDB5-3740-4294-8E0E-6E3EFE9E3CEC}"/>
              </a:ext>
            </a:extLst>
          </p:cNvPr>
          <p:cNvSpPr>
            <a:spLocks noGrp="1"/>
          </p:cNvSpPr>
          <p:nvPr/>
        </p:nvSpPr>
        <p:spPr>
          <a:xfrm>
            <a:off x="3867150" y="2647950"/>
            <a:ext cx="18478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Spring Boot</a:t>
            </a:r>
          </a:p>
        </p:txBody>
      </p:sp>
      <p:sp>
        <p:nvSpPr>
          <p:cNvPr id="10" name="矩形 9">
            <a:extLst>
              <a:ext uri="{FF2B5EF4-FFF2-40B4-BE49-F238E27FC236}">
                <a16:creationId xmlns:a16="http://schemas.microsoft.com/office/drawing/2014/main" id="{F99170F7-2628-4A48-A699-8C353964302A}"/>
              </a:ext>
            </a:extLst>
          </p:cNvPr>
          <p:cNvSpPr>
            <a:spLocks noGrp="1"/>
          </p:cNvSpPr>
          <p:nvPr/>
        </p:nvSpPr>
        <p:spPr>
          <a:xfrm>
            <a:off x="3867150" y="2952750"/>
            <a:ext cx="18478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REST API / JWT / JPA</a:t>
            </a:r>
          </a:p>
        </p:txBody>
      </p:sp>
      <p:sp>
        <p:nvSpPr>
          <p:cNvPr id="11" name="矩形 10">
            <a:extLst>
              <a:ext uri="{FF2B5EF4-FFF2-40B4-BE49-F238E27FC236}">
                <a16:creationId xmlns:a16="http://schemas.microsoft.com/office/drawing/2014/main" id="{41906D16-F899-4A5A-93F5-CB5137A79628}"/>
              </a:ext>
            </a:extLst>
          </p:cNvPr>
          <p:cNvSpPr>
            <a:spLocks noGrp="1"/>
          </p:cNvSpPr>
          <p:nvPr/>
        </p:nvSpPr>
        <p:spPr>
          <a:xfrm>
            <a:off x="6057900" y="2867025"/>
            <a:ext cx="400050" cy="1905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0AD15597-83CE-492E-8907-24EE3AD2D8C4}"/>
              </a:ext>
            </a:extLst>
          </p:cNvPr>
          <p:cNvSpPr>
            <a:spLocks noGrp="1"/>
          </p:cNvSpPr>
          <p:nvPr/>
        </p:nvSpPr>
        <p:spPr>
          <a:xfrm>
            <a:off x="6438900" y="27622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3" name="矩形: 圆角 12">
            <a:extLst>
              <a:ext uri="{FF2B5EF4-FFF2-40B4-BE49-F238E27FC236}">
                <a16:creationId xmlns:a16="http://schemas.microsoft.com/office/drawing/2014/main" id="{7ECDD2E1-28C2-462F-8F1B-82C073C60C30}"/>
              </a:ext>
            </a:extLst>
          </p:cNvPr>
          <p:cNvSpPr>
            <a:spLocks noGrp="1"/>
          </p:cNvSpPr>
          <p:nvPr/>
        </p:nvSpPr>
        <p:spPr>
          <a:xfrm>
            <a:off x="6724650" y="2476500"/>
            <a:ext cx="2000250" cy="876300"/>
          </a:xfrm>
          <a:prstGeom prst="roundRect">
            <a:avLst>
              <a:gd name="adj" fmla="val 2174"/>
            </a:avLst>
          </a:prstGeom>
          <a:solidFill>
            <a:srgbClr val="FFFFFF"/>
          </a:solidFill>
          <a:ln w="9525">
            <a:solidFill>
              <a:srgbClr val="E3E6EB"/>
            </a:solidFill>
            <a:prstDash val="solid"/>
          </a:ln>
        </p:spPr>
      </p:sp>
      <p:sp>
        <p:nvSpPr>
          <p:cNvPr id="14" name="矩形 13">
            <a:extLst>
              <a:ext uri="{FF2B5EF4-FFF2-40B4-BE49-F238E27FC236}">
                <a16:creationId xmlns:a16="http://schemas.microsoft.com/office/drawing/2014/main" id="{7C4E8159-13D7-41BE-B7FA-52CD2AEEE522}"/>
              </a:ext>
            </a:extLst>
          </p:cNvPr>
          <p:cNvSpPr>
            <a:spLocks noGrp="1"/>
          </p:cNvSpPr>
          <p:nvPr/>
        </p:nvSpPr>
        <p:spPr>
          <a:xfrm>
            <a:off x="6896100" y="26479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MySQL 8</a:t>
            </a:r>
          </a:p>
        </p:txBody>
      </p:sp>
      <p:sp>
        <p:nvSpPr>
          <p:cNvPr id="15" name="矩形 14">
            <a:extLst>
              <a:ext uri="{FF2B5EF4-FFF2-40B4-BE49-F238E27FC236}">
                <a16:creationId xmlns:a16="http://schemas.microsoft.com/office/drawing/2014/main" id="{337A4D47-E74D-4F3A-9480-90FCFA58AC74}"/>
              </a:ext>
            </a:extLst>
          </p:cNvPr>
          <p:cNvSpPr>
            <a:spLocks noGrp="1"/>
          </p:cNvSpPr>
          <p:nvPr/>
        </p:nvSpPr>
        <p:spPr>
          <a:xfrm>
            <a:off x="6896100" y="29527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主业务唯一数据源</a:t>
            </a:r>
          </a:p>
        </p:txBody>
      </p:sp>
      <p:sp>
        <p:nvSpPr>
          <p:cNvPr id="16" name="矩形: 圆角 15">
            <a:extLst>
              <a:ext uri="{FF2B5EF4-FFF2-40B4-BE49-F238E27FC236}">
                <a16:creationId xmlns:a16="http://schemas.microsoft.com/office/drawing/2014/main" id="{5F01FF70-FAA6-4DA4-ABD9-381BC6662BA1}"/>
              </a:ext>
            </a:extLst>
          </p:cNvPr>
          <p:cNvSpPr>
            <a:spLocks noGrp="1"/>
          </p:cNvSpPr>
          <p:nvPr/>
        </p:nvSpPr>
        <p:spPr>
          <a:xfrm>
            <a:off x="3695700" y="4095750"/>
            <a:ext cx="2190750" cy="876300"/>
          </a:xfrm>
          <a:prstGeom prst="roundRect">
            <a:avLst>
              <a:gd name="adj" fmla="val 2174"/>
            </a:avLst>
          </a:prstGeom>
          <a:solidFill>
            <a:srgbClr val="FFFFFF"/>
          </a:solidFill>
          <a:ln w="9525">
            <a:solidFill>
              <a:srgbClr val="E3E6EB"/>
            </a:solidFill>
            <a:prstDash val="solid"/>
          </a:ln>
        </p:spPr>
      </p:sp>
      <p:sp>
        <p:nvSpPr>
          <p:cNvPr id="17" name="矩形 16">
            <a:extLst>
              <a:ext uri="{FF2B5EF4-FFF2-40B4-BE49-F238E27FC236}">
                <a16:creationId xmlns:a16="http://schemas.microsoft.com/office/drawing/2014/main" id="{8EAE178C-4DAF-45D1-8B64-24BAFC76F729}"/>
              </a:ext>
            </a:extLst>
          </p:cNvPr>
          <p:cNvSpPr>
            <a:spLocks noGrp="1"/>
          </p:cNvSpPr>
          <p:nvPr/>
        </p:nvSpPr>
        <p:spPr>
          <a:xfrm>
            <a:off x="3867150" y="4267200"/>
            <a:ext cx="1847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FastAPI Agent</a:t>
            </a:r>
          </a:p>
        </p:txBody>
      </p:sp>
      <p:sp>
        <p:nvSpPr>
          <p:cNvPr id="18" name="矩形 17">
            <a:extLst>
              <a:ext uri="{FF2B5EF4-FFF2-40B4-BE49-F238E27FC236}">
                <a16:creationId xmlns:a16="http://schemas.microsoft.com/office/drawing/2014/main" id="{12955372-6F76-4396-9E52-3032933B2A16}"/>
              </a:ext>
            </a:extLst>
          </p:cNvPr>
          <p:cNvSpPr>
            <a:spLocks noGrp="1"/>
          </p:cNvSpPr>
          <p:nvPr/>
        </p:nvSpPr>
        <p:spPr>
          <a:xfrm>
            <a:off x="3867150" y="4572000"/>
            <a:ext cx="1847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LangChain / Tools / Memory</a:t>
            </a:r>
          </a:p>
        </p:txBody>
      </p:sp>
      <p:sp>
        <p:nvSpPr>
          <p:cNvPr id="19" name="矩形 18">
            <a:extLst>
              <a:ext uri="{FF2B5EF4-FFF2-40B4-BE49-F238E27FC236}">
                <a16:creationId xmlns:a16="http://schemas.microsoft.com/office/drawing/2014/main" id="{83C5AE68-771A-4409-BC2E-A12EE34C7F19}"/>
              </a:ext>
            </a:extLst>
          </p:cNvPr>
          <p:cNvSpPr>
            <a:spLocks noGrp="1"/>
          </p:cNvSpPr>
          <p:nvPr/>
        </p:nvSpPr>
        <p:spPr>
          <a:xfrm>
            <a:off x="4800600" y="3352800"/>
            <a:ext cx="19050" cy="70485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A9CAB40B-ADC8-4A69-AB3A-825C6BCA2481}"/>
              </a:ext>
            </a:extLst>
          </p:cNvPr>
          <p:cNvSpPr>
            <a:spLocks noGrp="1"/>
          </p:cNvSpPr>
          <p:nvPr/>
        </p:nvSpPr>
        <p:spPr>
          <a:xfrm>
            <a:off x="6000750" y="4038600"/>
            <a:ext cx="342900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工具调用通过 REST 回访主后端</a:t>
            </a:r>
          </a:p>
        </p:txBody>
      </p:sp>
      <p:sp>
        <p:nvSpPr>
          <p:cNvPr id="21" name="矩形 20">
            <a:extLst>
              <a:ext uri="{FF2B5EF4-FFF2-40B4-BE49-F238E27FC236}">
                <a16:creationId xmlns:a16="http://schemas.microsoft.com/office/drawing/2014/main" id="{45BC039A-6BAF-4657-BEC7-688BBF7A9244}"/>
              </a:ext>
            </a:extLst>
          </p:cNvPr>
          <p:cNvSpPr>
            <a:spLocks noGrp="1"/>
          </p:cNvSpPr>
          <p:nvPr/>
        </p:nvSpPr>
        <p:spPr>
          <a:xfrm>
            <a:off x="1047750" y="5092700"/>
            <a:ext cx="9334500" cy="55880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身份链：用户 </a:t>
            </a:r>
            <a:r>
              <a:rPr lang="en-US" sz="1150" b="0">
                <a:solidFill>
                  <a:srgbClr val="111318"/>
                </a:solidFill>
                <a:latin typeface="Microsoft YaHei" panose="020B0503020204020204" pitchFamily="34" charset="-122"/>
                <a:ea typeface="Microsoft YaHei" panose="020B0503020204020204" pitchFamily="34" charset="-122"/>
                <a:cs typeface="Microsoft YaHei"/>
              </a:rPr>
              <a:t>JWT → /api/user/profile </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校验身份 → 内部服务密钥 → 受限订单</a:t>
            </a:r>
            <a:r>
              <a:rPr lang="en-US" altLang="zh-CN" sz="1150" b="0">
                <a:solidFill>
                  <a:srgbClr val="111318"/>
                </a:solidFill>
                <a:latin typeface="Microsoft YaHei" panose="020B0503020204020204" pitchFamily="34" charset="-122"/>
                <a:ea typeface="Microsoft YaHei" panose="020B0503020204020204" pitchFamily="34" charset="-122"/>
                <a:cs typeface="Microsoft YaHei"/>
              </a:rPr>
              <a:t>/</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购物车接口</a:t>
            </a:r>
          </a:p>
          <a:p>
            <a:pPr algn="ctr">
              <a:defRPr sz="1425" b="0">
                <a:solidFill>
                  <a:srgbClr val="111318"/>
                </a:solidFill>
                <a:latin typeface="Microsoft YaHei"/>
                <a:ea typeface="Microsoft YaHei"/>
                <a:cs typeface="Microsoft YaHei"/>
              </a:defRPr>
            </a:pP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数据边界：</a:t>
            </a:r>
            <a:r>
              <a:rPr lang="en-US" sz="1150" b="0">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只直连 </a:t>
            </a:r>
            <a:r>
              <a:rPr lang="en-US" sz="1150" b="0">
                <a:solidFill>
                  <a:srgbClr val="111318"/>
                </a:solidFill>
                <a:latin typeface="Microsoft YaHei" panose="020B0503020204020204" pitchFamily="34" charset="-122"/>
                <a:ea typeface="Microsoft YaHei" panose="020B0503020204020204" pitchFamily="34" charset="-122"/>
                <a:cs typeface="Microsoft YaHei"/>
              </a:rPr>
              <a:t>agent_conversation / user_preference / knowledge_chunk</a:t>
            </a:r>
            <a:endParaRPr sz="115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16CDE427-5877-4615-8E4D-03BA63076C7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4ABE4680-6347-401D-8B8B-CF404E91FAFF}"/>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04</a:t>
            </a:r>
          </a:p>
        </p:txBody>
      </p:sp>
    </p:spTree>
    <p:extLst>
      <p:ext uri="{BB962C8B-B14F-4D97-AF65-F5344CB8AC3E}">
        <p14:creationId xmlns:p14="http://schemas.microsoft.com/office/powerpoint/2010/main" val="1388152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DF2A72F0-0E55-4828-9FF9-C66F739164C2}"/>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TECH STACK</a:t>
            </a:r>
          </a:p>
        </p:txBody>
      </p:sp>
      <p:sp>
        <p:nvSpPr>
          <p:cNvPr id="2" name="矩形 1">
            <a:extLst>
              <a:ext uri="{FF2B5EF4-FFF2-40B4-BE49-F238E27FC236}">
                <a16:creationId xmlns:a16="http://schemas.microsoft.com/office/drawing/2014/main" id="{3F978251-3237-47A4-BA8A-58F514D61054}"/>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技术栈选择围绕课程要求收敛，没有引入重型治理组件</a:t>
            </a:r>
          </a:p>
        </p:txBody>
      </p:sp>
      <p:sp>
        <p:nvSpPr>
          <p:cNvPr id="3" name="矩形 2">
            <a:extLst>
              <a:ext uri="{FF2B5EF4-FFF2-40B4-BE49-F238E27FC236}">
                <a16:creationId xmlns:a16="http://schemas.microsoft.com/office/drawing/2014/main" id="{A67908E8-C096-45DF-9E74-E18DB6E14D67}"/>
              </a:ext>
            </a:extLst>
          </p:cNvPr>
          <p:cNvSpPr>
            <a:spLocks noGrp="1"/>
          </p:cNvSpPr>
          <p:nvPr/>
        </p:nvSpPr>
        <p:spPr>
          <a:xfrm>
            <a:off x="685800" y="1924050"/>
            <a:ext cx="10287000" cy="9525"/>
          </a:xfrm>
          <a:prstGeom prst="rect">
            <a:avLst/>
          </a:prstGeom>
          <a:solidFill>
            <a:srgbClr val="E3E6EB"/>
          </a:solidFill>
          <a:ln w="0">
            <a:noFill/>
            <a:prstDash val="solid"/>
          </a:ln>
        </p:spPr>
      </p:sp>
      <p:sp>
        <p:nvSpPr>
          <p:cNvPr id="4" name="矩形 3">
            <a:extLst>
              <a:ext uri="{FF2B5EF4-FFF2-40B4-BE49-F238E27FC236}">
                <a16:creationId xmlns:a16="http://schemas.microsoft.com/office/drawing/2014/main" id="{74C33E1D-C138-46BB-AB4C-0DCF48553CBA}"/>
              </a:ext>
            </a:extLst>
          </p:cNvPr>
          <p:cNvSpPr>
            <a:spLocks noGrp="1"/>
          </p:cNvSpPr>
          <p:nvPr/>
        </p:nvSpPr>
        <p:spPr>
          <a:xfrm>
            <a:off x="876300" y="15621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前端</a:t>
            </a:r>
          </a:p>
        </p:txBody>
      </p:sp>
      <p:sp>
        <p:nvSpPr>
          <p:cNvPr id="5" name="矩形 4">
            <a:extLst>
              <a:ext uri="{FF2B5EF4-FFF2-40B4-BE49-F238E27FC236}">
                <a16:creationId xmlns:a16="http://schemas.microsoft.com/office/drawing/2014/main" id="{D51B2BE1-5BDB-4A46-BB28-E12E1AA108A8}"/>
              </a:ext>
            </a:extLst>
          </p:cNvPr>
          <p:cNvSpPr>
            <a:spLocks noGrp="1"/>
          </p:cNvSpPr>
          <p:nvPr/>
        </p:nvSpPr>
        <p:spPr>
          <a:xfrm>
            <a:off x="2476500" y="15621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Vue3 + Vite + Vue Router + axios</a:t>
            </a:r>
          </a:p>
        </p:txBody>
      </p:sp>
      <p:sp>
        <p:nvSpPr>
          <p:cNvPr id="6" name="矩形 5">
            <a:extLst>
              <a:ext uri="{FF2B5EF4-FFF2-40B4-BE49-F238E27FC236}">
                <a16:creationId xmlns:a16="http://schemas.microsoft.com/office/drawing/2014/main" id="{3099ECE4-F7C2-4A25-A9CA-F60234FC250D}"/>
              </a:ext>
            </a:extLst>
          </p:cNvPr>
          <p:cNvSpPr>
            <a:spLocks noGrp="1"/>
          </p:cNvSpPr>
          <p:nvPr/>
        </p:nvSpPr>
        <p:spPr>
          <a:xfrm>
            <a:off x="7239000" y="15906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组件化页面、路由守卫、统一请求拦截</a:t>
            </a:r>
          </a:p>
        </p:txBody>
      </p:sp>
      <p:sp>
        <p:nvSpPr>
          <p:cNvPr id="7" name="矩形 6">
            <a:extLst>
              <a:ext uri="{FF2B5EF4-FFF2-40B4-BE49-F238E27FC236}">
                <a16:creationId xmlns:a16="http://schemas.microsoft.com/office/drawing/2014/main" id="{1CC0F654-3D02-4370-82F6-5C93112E0514}"/>
              </a:ext>
            </a:extLst>
          </p:cNvPr>
          <p:cNvSpPr>
            <a:spLocks noGrp="1"/>
          </p:cNvSpPr>
          <p:nvPr/>
        </p:nvSpPr>
        <p:spPr>
          <a:xfrm>
            <a:off x="685800" y="2724150"/>
            <a:ext cx="10287000" cy="9525"/>
          </a:xfrm>
          <a:prstGeom prst="rect">
            <a:avLst/>
          </a:prstGeom>
          <a:solidFill>
            <a:srgbClr val="E3E6EB"/>
          </a:solidFill>
          <a:ln w="0">
            <a:noFill/>
            <a:prstDash val="solid"/>
          </a:ln>
        </p:spPr>
      </p:sp>
      <p:sp>
        <p:nvSpPr>
          <p:cNvPr id="8" name="矩形 7">
            <a:extLst>
              <a:ext uri="{FF2B5EF4-FFF2-40B4-BE49-F238E27FC236}">
                <a16:creationId xmlns:a16="http://schemas.microsoft.com/office/drawing/2014/main" id="{161A7D34-BD04-4E84-BE70-AAC7E8EDA406}"/>
              </a:ext>
            </a:extLst>
          </p:cNvPr>
          <p:cNvSpPr>
            <a:spLocks noGrp="1"/>
          </p:cNvSpPr>
          <p:nvPr/>
        </p:nvSpPr>
        <p:spPr>
          <a:xfrm>
            <a:off x="876300" y="23622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后端</a:t>
            </a:r>
          </a:p>
        </p:txBody>
      </p:sp>
      <p:sp>
        <p:nvSpPr>
          <p:cNvPr id="9" name="矩形 8">
            <a:extLst>
              <a:ext uri="{FF2B5EF4-FFF2-40B4-BE49-F238E27FC236}">
                <a16:creationId xmlns:a16="http://schemas.microsoft.com/office/drawing/2014/main" id="{26824D52-833E-458D-A129-C1FE89454191}"/>
              </a:ext>
            </a:extLst>
          </p:cNvPr>
          <p:cNvSpPr>
            <a:spLocks noGrp="1"/>
          </p:cNvSpPr>
          <p:nvPr/>
        </p:nvSpPr>
        <p:spPr>
          <a:xfrm>
            <a:off x="2476500" y="23622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Spring Boot 3.3 + Security + JWT + JPA</a:t>
            </a:r>
          </a:p>
        </p:txBody>
      </p:sp>
      <p:sp>
        <p:nvSpPr>
          <p:cNvPr id="10" name="矩形 9">
            <a:extLst>
              <a:ext uri="{FF2B5EF4-FFF2-40B4-BE49-F238E27FC236}">
                <a16:creationId xmlns:a16="http://schemas.microsoft.com/office/drawing/2014/main" id="{DC4BE321-7C3E-40A7-82C0-1996C16085CB}"/>
              </a:ext>
            </a:extLst>
          </p:cNvPr>
          <p:cNvSpPr>
            <a:spLocks noGrp="1"/>
          </p:cNvSpPr>
          <p:nvPr/>
        </p:nvSpPr>
        <p:spPr>
          <a:xfrm>
            <a:off x="7239000" y="23907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RESTful API、权限控制、事务与领域服务</a:t>
            </a:r>
          </a:p>
        </p:txBody>
      </p:sp>
      <p:sp>
        <p:nvSpPr>
          <p:cNvPr id="11" name="矩形 10">
            <a:extLst>
              <a:ext uri="{FF2B5EF4-FFF2-40B4-BE49-F238E27FC236}">
                <a16:creationId xmlns:a16="http://schemas.microsoft.com/office/drawing/2014/main" id="{BE5C1CB3-B3BC-4B28-B3F0-B0BDAC36572C}"/>
              </a:ext>
            </a:extLst>
          </p:cNvPr>
          <p:cNvSpPr>
            <a:spLocks noGrp="1"/>
          </p:cNvSpPr>
          <p:nvPr/>
        </p:nvSpPr>
        <p:spPr>
          <a:xfrm>
            <a:off x="685800" y="3524250"/>
            <a:ext cx="10287000" cy="9525"/>
          </a:xfrm>
          <a:prstGeom prst="rect">
            <a:avLst/>
          </a:prstGeom>
          <a:solidFill>
            <a:srgbClr val="E3E6EB"/>
          </a:solidFill>
          <a:ln w="0">
            <a:noFill/>
            <a:prstDash val="solid"/>
          </a:ln>
        </p:spPr>
      </p:sp>
      <p:sp>
        <p:nvSpPr>
          <p:cNvPr id="12" name="矩形 11">
            <a:extLst>
              <a:ext uri="{FF2B5EF4-FFF2-40B4-BE49-F238E27FC236}">
                <a16:creationId xmlns:a16="http://schemas.microsoft.com/office/drawing/2014/main" id="{73492C3D-9FE1-4F88-ABCB-CEC7F80507AA}"/>
              </a:ext>
            </a:extLst>
          </p:cNvPr>
          <p:cNvSpPr>
            <a:spLocks noGrp="1"/>
          </p:cNvSpPr>
          <p:nvPr/>
        </p:nvSpPr>
        <p:spPr>
          <a:xfrm>
            <a:off x="876300" y="31623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数据库</a:t>
            </a:r>
          </a:p>
        </p:txBody>
      </p:sp>
      <p:sp>
        <p:nvSpPr>
          <p:cNvPr id="13" name="矩形 12">
            <a:extLst>
              <a:ext uri="{FF2B5EF4-FFF2-40B4-BE49-F238E27FC236}">
                <a16:creationId xmlns:a16="http://schemas.microsoft.com/office/drawing/2014/main" id="{50C5A5EF-2EDA-40A1-B2C2-3D4B235C6368}"/>
              </a:ext>
            </a:extLst>
          </p:cNvPr>
          <p:cNvSpPr>
            <a:spLocks noGrp="1"/>
          </p:cNvSpPr>
          <p:nvPr/>
        </p:nvSpPr>
        <p:spPr>
          <a:xfrm>
            <a:off x="2476500" y="31623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MySQL 8.0 + InnoDB + utf8mb4</a:t>
            </a:r>
          </a:p>
        </p:txBody>
      </p:sp>
      <p:sp>
        <p:nvSpPr>
          <p:cNvPr id="14" name="矩形 13">
            <a:extLst>
              <a:ext uri="{FF2B5EF4-FFF2-40B4-BE49-F238E27FC236}">
                <a16:creationId xmlns:a16="http://schemas.microsoft.com/office/drawing/2014/main" id="{40077327-86FF-4475-BE91-C13F120E497E}"/>
              </a:ext>
            </a:extLst>
          </p:cNvPr>
          <p:cNvSpPr>
            <a:spLocks noGrp="1"/>
          </p:cNvSpPr>
          <p:nvPr/>
        </p:nvSpPr>
        <p:spPr>
          <a:xfrm>
            <a:off x="7239000" y="31908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三范式建模、索引、乐观锁库存</a:t>
            </a:r>
          </a:p>
        </p:txBody>
      </p:sp>
      <p:sp>
        <p:nvSpPr>
          <p:cNvPr id="15" name="矩形 14">
            <a:extLst>
              <a:ext uri="{FF2B5EF4-FFF2-40B4-BE49-F238E27FC236}">
                <a16:creationId xmlns:a16="http://schemas.microsoft.com/office/drawing/2014/main" id="{DDF596DD-BF2D-4B1E-B54C-74DD7B508C00}"/>
              </a:ext>
            </a:extLst>
          </p:cNvPr>
          <p:cNvSpPr>
            <a:spLocks noGrp="1"/>
          </p:cNvSpPr>
          <p:nvPr/>
        </p:nvSpPr>
        <p:spPr>
          <a:xfrm>
            <a:off x="685800" y="4324350"/>
            <a:ext cx="10287000" cy="9525"/>
          </a:xfrm>
          <a:prstGeom prst="rect">
            <a:avLst/>
          </a:prstGeom>
          <a:solidFill>
            <a:srgbClr val="E3E6EB"/>
          </a:solidFill>
          <a:ln w="0">
            <a:noFill/>
            <a:prstDash val="solid"/>
          </a:ln>
        </p:spPr>
      </p:sp>
      <p:sp>
        <p:nvSpPr>
          <p:cNvPr id="16" name="矩形 15">
            <a:extLst>
              <a:ext uri="{FF2B5EF4-FFF2-40B4-BE49-F238E27FC236}">
                <a16:creationId xmlns:a16="http://schemas.microsoft.com/office/drawing/2014/main" id="{95D55AC0-2404-4A7A-92B5-50B1497ACC91}"/>
              </a:ext>
            </a:extLst>
          </p:cNvPr>
          <p:cNvSpPr>
            <a:spLocks noGrp="1"/>
          </p:cNvSpPr>
          <p:nvPr/>
        </p:nvSpPr>
        <p:spPr>
          <a:xfrm>
            <a:off x="876300" y="39624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AI 服务</a:t>
            </a:r>
          </a:p>
        </p:txBody>
      </p:sp>
      <p:sp>
        <p:nvSpPr>
          <p:cNvPr id="17" name="矩形 16">
            <a:extLst>
              <a:ext uri="{FF2B5EF4-FFF2-40B4-BE49-F238E27FC236}">
                <a16:creationId xmlns:a16="http://schemas.microsoft.com/office/drawing/2014/main" id="{59821493-0DD3-4849-928E-0083732777D8}"/>
              </a:ext>
            </a:extLst>
          </p:cNvPr>
          <p:cNvSpPr>
            <a:spLocks noGrp="1"/>
          </p:cNvSpPr>
          <p:nvPr/>
        </p:nvSpPr>
        <p:spPr>
          <a:xfrm>
            <a:off x="2476500" y="39624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FastAPI + LangChain + SQLAlchemy + httpx</a:t>
            </a:r>
          </a:p>
        </p:txBody>
      </p:sp>
      <p:sp>
        <p:nvSpPr>
          <p:cNvPr id="18" name="矩形 17">
            <a:extLst>
              <a:ext uri="{FF2B5EF4-FFF2-40B4-BE49-F238E27FC236}">
                <a16:creationId xmlns:a16="http://schemas.microsoft.com/office/drawing/2014/main" id="{3E524CD3-8990-4BC9-8F22-1C6712161A87}"/>
              </a:ext>
            </a:extLst>
          </p:cNvPr>
          <p:cNvSpPr>
            <a:spLocks noGrp="1"/>
          </p:cNvSpPr>
          <p:nvPr/>
        </p:nvSpPr>
        <p:spPr>
          <a:xfrm>
            <a:off x="7239000" y="39909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工具调用、短期/长期记忆、服务间认证</a:t>
            </a:r>
          </a:p>
        </p:txBody>
      </p:sp>
      <p:sp>
        <p:nvSpPr>
          <p:cNvPr id="19" name="矩形 18">
            <a:extLst>
              <a:ext uri="{FF2B5EF4-FFF2-40B4-BE49-F238E27FC236}">
                <a16:creationId xmlns:a16="http://schemas.microsoft.com/office/drawing/2014/main" id="{BA1CDF74-5CC4-48D1-8B2B-0C2C4811CC25}"/>
              </a:ext>
            </a:extLst>
          </p:cNvPr>
          <p:cNvSpPr>
            <a:spLocks noGrp="1"/>
          </p:cNvSpPr>
          <p:nvPr/>
        </p:nvSpPr>
        <p:spPr>
          <a:xfrm>
            <a:off x="685800" y="5124450"/>
            <a:ext cx="10287000" cy="9525"/>
          </a:xfrm>
          <a:prstGeom prst="rect">
            <a:avLst/>
          </a:prstGeom>
          <a:solidFill>
            <a:srgbClr val="E3E6EB"/>
          </a:solidFill>
          <a:ln w="0">
            <a:noFill/>
            <a:prstDash val="solid"/>
          </a:ln>
        </p:spPr>
      </p:sp>
      <p:sp>
        <p:nvSpPr>
          <p:cNvPr id="20" name="矩形 19">
            <a:extLst>
              <a:ext uri="{FF2B5EF4-FFF2-40B4-BE49-F238E27FC236}">
                <a16:creationId xmlns:a16="http://schemas.microsoft.com/office/drawing/2014/main" id="{9B3033D1-64C4-45CF-993C-517E26965A51}"/>
              </a:ext>
            </a:extLst>
          </p:cNvPr>
          <p:cNvSpPr>
            <a:spLocks noGrp="1"/>
          </p:cNvSpPr>
          <p:nvPr/>
        </p:nvSpPr>
        <p:spPr>
          <a:xfrm>
            <a:off x="876300" y="47625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部署测试</a:t>
            </a:r>
          </a:p>
        </p:txBody>
      </p:sp>
      <p:sp>
        <p:nvSpPr>
          <p:cNvPr id="21" name="矩形 20">
            <a:extLst>
              <a:ext uri="{FF2B5EF4-FFF2-40B4-BE49-F238E27FC236}">
                <a16:creationId xmlns:a16="http://schemas.microsoft.com/office/drawing/2014/main" id="{15998C50-E724-45BD-A1DD-96B162908A60}"/>
              </a:ext>
            </a:extLst>
          </p:cNvPr>
          <p:cNvSpPr>
            <a:spLocks noGrp="1"/>
          </p:cNvSpPr>
          <p:nvPr/>
        </p:nvSpPr>
        <p:spPr>
          <a:xfrm>
            <a:off x="2476500" y="47625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Docker Compose + JUnit5 + 并发脚本</a:t>
            </a:r>
          </a:p>
        </p:txBody>
      </p:sp>
      <p:sp>
        <p:nvSpPr>
          <p:cNvPr id="22" name="矩形 21">
            <a:extLst>
              <a:ext uri="{FF2B5EF4-FFF2-40B4-BE49-F238E27FC236}">
                <a16:creationId xmlns:a16="http://schemas.microsoft.com/office/drawing/2014/main" id="{3C1C8CBF-616C-46CA-BF97-A05293C03F33}"/>
              </a:ext>
            </a:extLst>
          </p:cNvPr>
          <p:cNvSpPr>
            <a:spLocks noGrp="1"/>
          </p:cNvSpPr>
          <p:nvPr/>
        </p:nvSpPr>
        <p:spPr>
          <a:xfrm>
            <a:off x="7239000" y="47910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四服务一键启动、回归和验收脚本</a:t>
            </a:r>
          </a:p>
        </p:txBody>
      </p:sp>
      <p:sp>
        <p:nvSpPr>
          <p:cNvPr id="23" name="矩形 22">
            <a:extLst>
              <a:ext uri="{FF2B5EF4-FFF2-40B4-BE49-F238E27FC236}">
                <a16:creationId xmlns:a16="http://schemas.microsoft.com/office/drawing/2014/main" id="{25B92C20-2BC4-4C68-BE34-5A3F2CB78BED}"/>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EA4EACAC-DFC9-4924-9FCB-8C617387C862}"/>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05</a:t>
            </a:r>
          </a:p>
        </p:txBody>
      </p:sp>
    </p:spTree>
    <p:extLst>
      <p:ext uri="{BB962C8B-B14F-4D97-AF65-F5344CB8AC3E}">
        <p14:creationId xmlns:p14="http://schemas.microsoft.com/office/powerpoint/2010/main" val="170908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341380E1-E6A2-4E93-9E56-45A3CC76573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DATABASE DESIGN</a:t>
            </a:r>
          </a:p>
        </p:txBody>
      </p:sp>
      <p:sp>
        <p:nvSpPr>
          <p:cNvPr id="2" name="矩形 1">
            <a:extLst>
              <a:ext uri="{FF2B5EF4-FFF2-40B4-BE49-F238E27FC236}">
                <a16:creationId xmlns:a16="http://schemas.microsoft.com/office/drawing/2014/main" id="{3B799E2B-C9CC-4074-84F2-F093FF755B7B}"/>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数据库按业务事实拆表，订单快照只保存历史事实</a:t>
            </a:r>
          </a:p>
        </p:txBody>
      </p:sp>
      <p:sp>
        <p:nvSpPr>
          <p:cNvPr id="3" name="矩形: 圆角 2">
            <a:extLst>
              <a:ext uri="{FF2B5EF4-FFF2-40B4-BE49-F238E27FC236}">
                <a16:creationId xmlns:a16="http://schemas.microsoft.com/office/drawing/2014/main" id="{2692748B-05F7-424B-825D-D284B816CB7F}"/>
              </a:ext>
            </a:extLst>
          </p:cNvPr>
          <p:cNvSpPr>
            <a:spLocks noGrp="1"/>
          </p:cNvSpPr>
          <p:nvPr/>
        </p:nvSpPr>
        <p:spPr>
          <a:xfrm>
            <a:off x="685800" y="1657350"/>
            <a:ext cx="1866900" cy="2247900"/>
          </a:xfrm>
          <a:prstGeom prst="roundRect">
            <a:avLst>
              <a:gd name="adj" fmla="val 1020"/>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3C1AD619-E9CF-4663-9328-9CD64E5867E2}"/>
              </a:ext>
            </a:extLst>
          </p:cNvPr>
          <p:cNvSpPr>
            <a:spLocks noGrp="1"/>
          </p:cNvSpPr>
          <p:nvPr/>
        </p:nvSpPr>
        <p:spPr>
          <a:xfrm>
            <a:off x="85725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用户域</a:t>
            </a:r>
          </a:p>
        </p:txBody>
      </p:sp>
      <p:sp>
        <p:nvSpPr>
          <p:cNvPr id="5" name="矩形 4">
            <a:extLst>
              <a:ext uri="{FF2B5EF4-FFF2-40B4-BE49-F238E27FC236}">
                <a16:creationId xmlns:a16="http://schemas.microsoft.com/office/drawing/2014/main" id="{7191FC19-DFE4-4A0D-9092-1F54042E78BF}"/>
              </a:ext>
            </a:extLst>
          </p:cNvPr>
          <p:cNvSpPr>
            <a:spLocks noGrp="1"/>
          </p:cNvSpPr>
          <p:nvPr/>
        </p:nvSpPr>
        <p:spPr>
          <a:xfrm>
            <a:off x="9144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user</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shipping_address</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point_record</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6" name="矩形: 圆角 5">
            <a:extLst>
              <a:ext uri="{FF2B5EF4-FFF2-40B4-BE49-F238E27FC236}">
                <a16:creationId xmlns:a16="http://schemas.microsoft.com/office/drawing/2014/main" id="{7B942E81-63F4-4DC9-A41A-445D4A3B1BBF}"/>
              </a:ext>
            </a:extLst>
          </p:cNvPr>
          <p:cNvSpPr>
            <a:spLocks noGrp="1"/>
          </p:cNvSpPr>
          <p:nvPr/>
        </p:nvSpPr>
        <p:spPr>
          <a:xfrm>
            <a:off x="2876550" y="1657350"/>
            <a:ext cx="1866900" cy="2247900"/>
          </a:xfrm>
          <a:prstGeom prst="roundRect">
            <a:avLst>
              <a:gd name="adj" fmla="val 1020"/>
            </a:avLst>
          </a:prstGeom>
          <a:solidFill>
            <a:srgbClr val="FFFFFF"/>
          </a:solidFill>
          <a:ln w="9525">
            <a:solidFill>
              <a:srgbClr val="E3E6EB"/>
            </a:solidFill>
            <a:prstDash val="solid"/>
          </a:ln>
        </p:spPr>
      </p:sp>
      <p:sp>
        <p:nvSpPr>
          <p:cNvPr id="7" name="矩形 6">
            <a:extLst>
              <a:ext uri="{FF2B5EF4-FFF2-40B4-BE49-F238E27FC236}">
                <a16:creationId xmlns:a16="http://schemas.microsoft.com/office/drawing/2014/main" id="{8389C6DE-3525-448C-833F-3760DA0F55B7}"/>
              </a:ext>
            </a:extLst>
          </p:cNvPr>
          <p:cNvSpPr>
            <a:spLocks noGrp="1"/>
          </p:cNvSpPr>
          <p:nvPr/>
        </p:nvSpPr>
        <p:spPr>
          <a:xfrm>
            <a:off x="304800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商品域</a:t>
            </a:r>
          </a:p>
        </p:txBody>
      </p:sp>
      <p:sp>
        <p:nvSpPr>
          <p:cNvPr id="8" name="矩形 7">
            <a:extLst>
              <a:ext uri="{FF2B5EF4-FFF2-40B4-BE49-F238E27FC236}">
                <a16:creationId xmlns:a16="http://schemas.microsoft.com/office/drawing/2014/main" id="{C530E8AA-5E24-40F0-B8B8-C1DB139C3DDA}"/>
              </a:ext>
            </a:extLst>
          </p:cNvPr>
          <p:cNvSpPr>
            <a:spLocks noGrp="1"/>
          </p:cNvSpPr>
          <p:nvPr/>
        </p:nvSpPr>
        <p:spPr>
          <a:xfrm>
            <a:off x="310515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category</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product_tag</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product_review</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9" name="矩形: 圆角 8">
            <a:extLst>
              <a:ext uri="{FF2B5EF4-FFF2-40B4-BE49-F238E27FC236}">
                <a16:creationId xmlns:a16="http://schemas.microsoft.com/office/drawing/2014/main" id="{90EB2C5B-8A1F-48AF-A16A-54F99B4B14C0}"/>
              </a:ext>
            </a:extLst>
          </p:cNvPr>
          <p:cNvSpPr>
            <a:spLocks noGrp="1"/>
          </p:cNvSpPr>
          <p:nvPr/>
        </p:nvSpPr>
        <p:spPr>
          <a:xfrm>
            <a:off x="5067300" y="1657350"/>
            <a:ext cx="1866900" cy="2247900"/>
          </a:xfrm>
          <a:prstGeom prst="roundRect">
            <a:avLst>
              <a:gd name="adj" fmla="val 1020"/>
            </a:avLst>
          </a:prstGeom>
          <a:solidFill>
            <a:srgbClr val="FFFFFF"/>
          </a:solidFill>
          <a:ln w="9525">
            <a:solidFill>
              <a:srgbClr val="E3E6EB"/>
            </a:solidFill>
            <a:prstDash val="solid"/>
          </a:ln>
        </p:spPr>
      </p:sp>
      <p:sp>
        <p:nvSpPr>
          <p:cNvPr id="10" name="矩形 9">
            <a:extLst>
              <a:ext uri="{FF2B5EF4-FFF2-40B4-BE49-F238E27FC236}">
                <a16:creationId xmlns:a16="http://schemas.microsoft.com/office/drawing/2014/main" id="{CBEC22C8-E2E5-4C24-A58E-DB2FF92F27C4}"/>
              </a:ext>
            </a:extLst>
          </p:cNvPr>
          <p:cNvSpPr>
            <a:spLocks noGrp="1"/>
          </p:cNvSpPr>
          <p:nvPr/>
        </p:nvSpPr>
        <p:spPr>
          <a:xfrm>
            <a:off x="523875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交易域</a:t>
            </a:r>
          </a:p>
        </p:txBody>
      </p:sp>
      <p:sp>
        <p:nvSpPr>
          <p:cNvPr id="11" name="矩形 10">
            <a:extLst>
              <a:ext uri="{FF2B5EF4-FFF2-40B4-BE49-F238E27FC236}">
                <a16:creationId xmlns:a16="http://schemas.microsoft.com/office/drawing/2014/main" id="{18CE8087-F92C-4626-B83E-C0DB0F0351BD}"/>
              </a:ext>
            </a:extLst>
          </p:cNvPr>
          <p:cNvSpPr>
            <a:spLocks noGrp="1"/>
          </p:cNvSpPr>
          <p:nvPr/>
        </p:nvSpPr>
        <p:spPr>
          <a:xfrm>
            <a:off x="52959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cart</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order</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order_item</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after_sale_request</a:t>
            </a:r>
            <a:endParaRPr sz="97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2" name="矩形: 圆角 11">
            <a:extLst>
              <a:ext uri="{FF2B5EF4-FFF2-40B4-BE49-F238E27FC236}">
                <a16:creationId xmlns:a16="http://schemas.microsoft.com/office/drawing/2014/main" id="{6F844842-9B61-4F7E-AF92-EA488C58C226}"/>
              </a:ext>
            </a:extLst>
          </p:cNvPr>
          <p:cNvSpPr>
            <a:spLocks noGrp="1"/>
          </p:cNvSpPr>
          <p:nvPr/>
        </p:nvSpPr>
        <p:spPr>
          <a:xfrm>
            <a:off x="7258050" y="1657350"/>
            <a:ext cx="1866900" cy="2247900"/>
          </a:xfrm>
          <a:prstGeom prst="roundRect">
            <a:avLst>
              <a:gd name="adj" fmla="val 1020"/>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1DD6F1F2-E196-4967-9B45-7A22FF0E61B1}"/>
              </a:ext>
            </a:extLst>
          </p:cNvPr>
          <p:cNvSpPr>
            <a:spLocks noGrp="1"/>
          </p:cNvSpPr>
          <p:nvPr/>
        </p:nvSpPr>
        <p:spPr>
          <a:xfrm>
            <a:off x="742950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运营与行为</a:t>
            </a:r>
          </a:p>
        </p:txBody>
      </p:sp>
      <p:sp>
        <p:nvSpPr>
          <p:cNvPr id="14" name="矩形 13">
            <a:extLst>
              <a:ext uri="{FF2B5EF4-FFF2-40B4-BE49-F238E27FC236}">
                <a16:creationId xmlns:a16="http://schemas.microsoft.com/office/drawing/2014/main" id="{2EBDFEF8-C3F3-4B46-AF97-2797BFFA098F}"/>
              </a:ext>
            </a:extLst>
          </p:cNvPr>
          <p:cNvSpPr>
            <a:spLocks noGrp="1"/>
          </p:cNvSpPr>
          <p:nvPr/>
        </p:nvSpPr>
        <p:spPr>
          <a:xfrm>
            <a:off x="748665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banner_slot</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search_keyword_log</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product_favorite</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product_view_log</a:t>
            </a:r>
            <a:endParaRPr sz="92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945218B6-AA69-4503-809A-15E8BB03DA15}"/>
              </a:ext>
            </a:extLst>
          </p:cNvPr>
          <p:cNvSpPr>
            <a:spLocks noGrp="1"/>
          </p:cNvSpPr>
          <p:nvPr/>
        </p:nvSpPr>
        <p:spPr>
          <a:xfrm>
            <a:off x="9448800" y="1657350"/>
            <a:ext cx="1866900" cy="2247900"/>
          </a:xfrm>
          <a:prstGeom prst="roundRect">
            <a:avLst>
              <a:gd name="adj" fmla="val 1020"/>
            </a:avLst>
          </a:prstGeom>
          <a:solidFill>
            <a:srgbClr val="EBEEFC"/>
          </a:solidFill>
          <a:ln w="9525">
            <a:solidFill>
              <a:srgbClr val="2B45D8"/>
            </a:solidFill>
            <a:prstDash val="solid"/>
          </a:ln>
        </p:spPr>
      </p:sp>
      <p:sp>
        <p:nvSpPr>
          <p:cNvPr id="16" name="矩形 15">
            <a:extLst>
              <a:ext uri="{FF2B5EF4-FFF2-40B4-BE49-F238E27FC236}">
                <a16:creationId xmlns:a16="http://schemas.microsoft.com/office/drawing/2014/main" id="{7B4E1C91-9A27-4FC0-B044-A5289BA8CEE8}"/>
              </a:ext>
            </a:extLst>
          </p:cNvPr>
          <p:cNvSpPr>
            <a:spLocks noGrp="1"/>
          </p:cNvSpPr>
          <p:nvPr/>
        </p:nvSpPr>
        <p:spPr>
          <a:xfrm>
            <a:off x="9620250" y="1885950"/>
            <a:ext cx="1524000" cy="285750"/>
          </a:xfrm>
          <a:prstGeom prst="rect">
            <a:avLst/>
          </a:prstGeom>
          <a:noFill/>
          <a:ln w="0">
            <a:noFill/>
            <a:prstDash val="solid"/>
          </a:ln>
        </p:spPr>
        <p:txBody>
          <a:bodyPr/>
          <a:lstStyle/>
          <a:p>
            <a:pPr algn="ctr">
              <a:defRPr sz="1575" b="1">
                <a:solidFill>
                  <a:srgbClr val="2B45D8"/>
                </a:solidFill>
                <a:latin typeface="Microsoft YaHei"/>
                <a:ea typeface="Microsoft YaHei"/>
                <a:cs typeface="Microsoft YaHei"/>
              </a:defRPr>
            </a:pPr>
            <a:r>
              <a:rPr sz="1575" b="1">
                <a:solidFill>
                  <a:srgbClr val="2B45D8"/>
                </a:solidFill>
                <a:latin typeface="Microsoft YaHei"/>
                <a:ea typeface="Microsoft YaHei"/>
                <a:cs typeface="Microsoft YaHei"/>
              </a:rPr>
              <a:t>Agent 记忆</a:t>
            </a:r>
          </a:p>
        </p:txBody>
      </p:sp>
      <p:sp>
        <p:nvSpPr>
          <p:cNvPr id="17" name="矩形 16">
            <a:extLst>
              <a:ext uri="{FF2B5EF4-FFF2-40B4-BE49-F238E27FC236}">
                <a16:creationId xmlns:a16="http://schemas.microsoft.com/office/drawing/2014/main" id="{2DDD4665-C27D-40A4-A5E5-DC2BCF9AA2BF}"/>
              </a:ext>
            </a:extLst>
          </p:cNvPr>
          <p:cNvSpPr>
            <a:spLocks noGrp="1"/>
          </p:cNvSpPr>
          <p:nvPr/>
        </p:nvSpPr>
        <p:spPr>
          <a:xfrm>
            <a:off x="96774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agent_conversation</a:t>
            </a:r>
          </a:p>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user_preference</a:t>
            </a:r>
          </a:p>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knowledge_chunk</a:t>
            </a:r>
            <a:endParaRPr sz="9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8" name="矩形 17">
            <a:extLst>
              <a:ext uri="{FF2B5EF4-FFF2-40B4-BE49-F238E27FC236}">
                <a16:creationId xmlns:a16="http://schemas.microsoft.com/office/drawing/2014/main" id="{0ADFF893-0514-43B8-A39F-D1B20143C19F}"/>
              </a:ext>
            </a:extLst>
          </p:cNvPr>
          <p:cNvSpPr>
            <a:spLocks noGrp="1"/>
          </p:cNvSpPr>
          <p:nvPr/>
        </p:nvSpPr>
        <p:spPr>
          <a:xfrm>
            <a:off x="1085850" y="4562475"/>
            <a:ext cx="76200" cy="76200"/>
          </a:xfrm>
          <a:prstGeom prst="rect">
            <a:avLst/>
          </a:prstGeom>
          <a:solidFill>
            <a:srgbClr val="2B45D8"/>
          </a:solidFill>
          <a:ln w="0">
            <a:noFill/>
            <a:prstDash val="solid"/>
          </a:ln>
        </p:spPr>
      </p:sp>
      <p:sp>
        <p:nvSpPr>
          <p:cNvPr id="19" name="矩形 18">
            <a:extLst>
              <a:ext uri="{FF2B5EF4-FFF2-40B4-BE49-F238E27FC236}">
                <a16:creationId xmlns:a16="http://schemas.microsoft.com/office/drawing/2014/main" id="{CEA4D370-63E2-4298-BC19-912F903979BA}"/>
              </a:ext>
            </a:extLst>
          </p:cNvPr>
          <p:cNvSpPr>
            <a:spLocks noGrp="1"/>
          </p:cNvSpPr>
          <p:nvPr/>
        </p:nvSpPr>
        <p:spPr>
          <a:xfrm>
            <a:off x="1295400" y="44958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商品、购物车、订单主表、订单明细分离，避免展示字段在多个表里重复。</a:t>
            </a:r>
          </a:p>
        </p:txBody>
      </p:sp>
      <p:sp>
        <p:nvSpPr>
          <p:cNvPr id="20" name="矩形 19">
            <a:extLst>
              <a:ext uri="{FF2B5EF4-FFF2-40B4-BE49-F238E27FC236}">
                <a16:creationId xmlns:a16="http://schemas.microsoft.com/office/drawing/2014/main" id="{DDB71B25-4E79-470D-8721-04EDD7D0D9E3}"/>
              </a:ext>
            </a:extLst>
          </p:cNvPr>
          <p:cNvSpPr>
            <a:spLocks noGrp="1"/>
          </p:cNvSpPr>
          <p:nvPr/>
        </p:nvSpPr>
        <p:spPr>
          <a:xfrm>
            <a:off x="1085850" y="4962525"/>
            <a:ext cx="76200" cy="7620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D1EEEDD8-0BE4-4D4F-82F5-793E3379233F}"/>
              </a:ext>
            </a:extLst>
          </p:cNvPr>
          <p:cNvSpPr>
            <a:spLocks noGrp="1"/>
          </p:cNvSpPr>
          <p:nvPr/>
        </p:nvSpPr>
        <p:spPr>
          <a:xfrm>
            <a:off x="1295400" y="48958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order_item 的商品名和价格是下单时刻快照，用于历史订单，不属于随商品表可推导的当前字段。</a:t>
            </a:r>
          </a:p>
        </p:txBody>
      </p:sp>
      <p:sp>
        <p:nvSpPr>
          <p:cNvPr id="22" name="矩形 21">
            <a:extLst>
              <a:ext uri="{FF2B5EF4-FFF2-40B4-BE49-F238E27FC236}">
                <a16:creationId xmlns:a16="http://schemas.microsoft.com/office/drawing/2014/main" id="{26A5AF25-5DED-423F-88EA-55C90CE308DA}"/>
              </a:ext>
            </a:extLst>
          </p:cNvPr>
          <p:cNvSpPr>
            <a:spLocks noGrp="1"/>
          </p:cNvSpPr>
          <p:nvPr/>
        </p:nvSpPr>
        <p:spPr>
          <a:xfrm>
            <a:off x="1085850" y="5362575"/>
            <a:ext cx="76200" cy="7620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092BA48E-7016-4905-A4EA-7E9405A014E5}"/>
              </a:ext>
            </a:extLst>
          </p:cNvPr>
          <p:cNvSpPr>
            <a:spLocks noGrp="1"/>
          </p:cNvSpPr>
          <p:nvPr/>
        </p:nvSpPr>
        <p:spPr>
          <a:xfrm>
            <a:off x="1295400" y="52959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knowledge_chunk 是 Agent 轻量 RAG 的运行时知识表，当前共有 88 条块。</a:t>
            </a:r>
          </a:p>
        </p:txBody>
      </p:sp>
      <p:sp>
        <p:nvSpPr>
          <p:cNvPr id="24" name="矩形 23">
            <a:extLst>
              <a:ext uri="{FF2B5EF4-FFF2-40B4-BE49-F238E27FC236}">
                <a16:creationId xmlns:a16="http://schemas.microsoft.com/office/drawing/2014/main" id="{0195939D-78D7-4D7D-A5AB-946FB127F62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5" name="矩形 24">
            <a:extLst>
              <a:ext uri="{FF2B5EF4-FFF2-40B4-BE49-F238E27FC236}">
                <a16:creationId xmlns:a16="http://schemas.microsoft.com/office/drawing/2014/main" id="{7D40FB82-5F1D-4581-B58D-58CF226A97D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06</a:t>
            </a:r>
          </a:p>
        </p:txBody>
      </p:sp>
    </p:spTree>
    <p:extLst>
      <p:ext uri="{BB962C8B-B14F-4D97-AF65-F5344CB8AC3E}">
        <p14:creationId xmlns:p14="http://schemas.microsoft.com/office/powerpoint/2010/main" val="63030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9275817C-6A24-4B80-86BB-E4C8E2D6CE6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FUNCTION MAP</a:t>
            </a:r>
          </a:p>
        </p:txBody>
      </p:sp>
      <p:sp>
        <p:nvSpPr>
          <p:cNvPr id="2" name="矩形 1">
            <a:extLst>
              <a:ext uri="{FF2B5EF4-FFF2-40B4-BE49-F238E27FC236}">
                <a16:creationId xmlns:a16="http://schemas.microsoft.com/office/drawing/2014/main" id="{1565B831-EF4A-423D-B334-E158E74E16C0}"/>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功能不是孤立堆叠，而是围绕购买链路组织</a:t>
            </a:r>
          </a:p>
        </p:txBody>
      </p:sp>
      <p:sp>
        <p:nvSpPr>
          <p:cNvPr id="3" name="矩形: 圆角 2">
            <a:extLst>
              <a:ext uri="{FF2B5EF4-FFF2-40B4-BE49-F238E27FC236}">
                <a16:creationId xmlns:a16="http://schemas.microsoft.com/office/drawing/2014/main" id="{1F394C34-E844-4E83-87E3-B9AF1C1E364C}"/>
              </a:ext>
            </a:extLst>
          </p:cNvPr>
          <p:cNvSpPr>
            <a:spLocks noGrp="1"/>
          </p:cNvSpPr>
          <p:nvPr/>
        </p:nvSpPr>
        <p:spPr>
          <a:xfrm>
            <a:off x="914400" y="1657350"/>
            <a:ext cx="3028950" cy="838200"/>
          </a:xfrm>
          <a:prstGeom prst="roundRect">
            <a:avLst>
              <a:gd name="adj" fmla="val 227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7AC6100-26A9-460D-BB54-050EB8018507}"/>
              </a:ext>
            </a:extLst>
          </p:cNvPr>
          <p:cNvSpPr>
            <a:spLocks noGrp="1"/>
          </p:cNvSpPr>
          <p:nvPr/>
        </p:nvSpPr>
        <p:spPr>
          <a:xfrm>
            <a:off x="1085850" y="1866900"/>
            <a:ext cx="76200" cy="400050"/>
          </a:xfrm>
          <a:prstGeom prst="rect">
            <a:avLst/>
          </a:prstGeom>
          <a:solidFill>
            <a:srgbClr val="2B45D8"/>
          </a:solidFill>
          <a:ln w="0">
            <a:noFill/>
            <a:prstDash val="solid"/>
          </a:ln>
        </p:spPr>
      </p:sp>
      <p:sp>
        <p:nvSpPr>
          <p:cNvPr id="5" name="矩形 4">
            <a:extLst>
              <a:ext uri="{FF2B5EF4-FFF2-40B4-BE49-F238E27FC236}">
                <a16:creationId xmlns:a16="http://schemas.microsoft.com/office/drawing/2014/main" id="{BCC75C04-64C2-49F2-BC68-F1B4FF7E031F}"/>
              </a:ext>
            </a:extLst>
          </p:cNvPr>
          <p:cNvSpPr>
            <a:spLocks noGrp="1"/>
          </p:cNvSpPr>
          <p:nvPr/>
        </p:nvSpPr>
        <p:spPr>
          <a:xfrm>
            <a:off x="131445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认证</a:t>
            </a:r>
          </a:p>
        </p:txBody>
      </p:sp>
      <p:sp>
        <p:nvSpPr>
          <p:cNvPr id="6" name="矩形 5">
            <a:extLst>
              <a:ext uri="{FF2B5EF4-FFF2-40B4-BE49-F238E27FC236}">
                <a16:creationId xmlns:a16="http://schemas.microsoft.com/office/drawing/2014/main" id="{3169B16D-69D0-4836-8195-5D61D63A1B33}"/>
              </a:ext>
            </a:extLst>
          </p:cNvPr>
          <p:cNvSpPr>
            <a:spLocks noGrp="1"/>
          </p:cNvSpPr>
          <p:nvPr/>
        </p:nvSpPr>
        <p:spPr>
          <a:xfrm>
            <a:off x="131445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必验收：</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401 / </a:t>
            </a:r>
            <a:r>
              <a:rPr lang="en-US" sz="1150" b="0">
                <a:solidFill>
                  <a:srgbClr val="6B7280"/>
                </a:solidFill>
                <a:latin typeface="Microsoft YaHei" panose="020B0503020204020204" pitchFamily="34" charset="-122"/>
                <a:ea typeface="Microsoft YaHei" panose="020B0503020204020204" pitchFamily="34" charset="-122"/>
                <a:cs typeface="Microsoft YaHei"/>
              </a:rPr>
              <a:t>JWT / BCrypt /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刷新 </a:t>
            </a:r>
            <a:r>
              <a:rPr lang="en-US" sz="1150" b="0">
                <a:solidFill>
                  <a:srgbClr val="6B7280"/>
                </a:solidFill>
                <a:latin typeface="Microsoft YaHei" panose="020B0503020204020204" pitchFamily="34" charset="-122"/>
                <a:ea typeface="Microsoft YaHei" panose="020B0503020204020204" pitchFamily="34" charset="-122"/>
                <a:cs typeface="Microsoft YaHei"/>
              </a:rPr>
              <a:t>Token</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7" name="矩形: 圆角 6">
            <a:extLst>
              <a:ext uri="{FF2B5EF4-FFF2-40B4-BE49-F238E27FC236}">
                <a16:creationId xmlns:a16="http://schemas.microsoft.com/office/drawing/2014/main" id="{26978D47-F463-4AB7-98E9-1B252E4C54A5}"/>
              </a:ext>
            </a:extLst>
          </p:cNvPr>
          <p:cNvSpPr>
            <a:spLocks noGrp="1"/>
          </p:cNvSpPr>
          <p:nvPr/>
        </p:nvSpPr>
        <p:spPr>
          <a:xfrm>
            <a:off x="4438650" y="1657350"/>
            <a:ext cx="3028950" cy="838200"/>
          </a:xfrm>
          <a:prstGeom prst="roundRect">
            <a:avLst>
              <a:gd name="adj" fmla="val 2273"/>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3883C18F-32D3-4B33-AAA0-C8F530910AC9}"/>
              </a:ext>
            </a:extLst>
          </p:cNvPr>
          <p:cNvSpPr>
            <a:spLocks noGrp="1"/>
          </p:cNvSpPr>
          <p:nvPr/>
        </p:nvSpPr>
        <p:spPr>
          <a:xfrm>
            <a:off x="4610100" y="1866900"/>
            <a:ext cx="76200" cy="400050"/>
          </a:xfrm>
          <a:prstGeom prst="rect">
            <a:avLst/>
          </a:prstGeom>
          <a:solidFill>
            <a:srgbClr val="2B45D8"/>
          </a:solidFill>
          <a:ln w="0">
            <a:noFill/>
            <a:prstDash val="solid"/>
          </a:ln>
        </p:spPr>
      </p:sp>
      <p:sp>
        <p:nvSpPr>
          <p:cNvPr id="9" name="矩形 8">
            <a:extLst>
              <a:ext uri="{FF2B5EF4-FFF2-40B4-BE49-F238E27FC236}">
                <a16:creationId xmlns:a16="http://schemas.microsoft.com/office/drawing/2014/main" id="{5AA0A092-302C-4FAD-B08A-71D19547780E}"/>
              </a:ext>
            </a:extLst>
          </p:cNvPr>
          <p:cNvSpPr>
            <a:spLocks noGrp="1"/>
          </p:cNvSpPr>
          <p:nvPr/>
        </p:nvSpPr>
        <p:spPr>
          <a:xfrm>
            <a:off x="483870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商品</a:t>
            </a:r>
          </a:p>
        </p:txBody>
      </p:sp>
      <p:sp>
        <p:nvSpPr>
          <p:cNvPr id="10" name="矩形 9">
            <a:extLst>
              <a:ext uri="{FF2B5EF4-FFF2-40B4-BE49-F238E27FC236}">
                <a16:creationId xmlns:a16="http://schemas.microsoft.com/office/drawing/2014/main" id="{FF177F2F-7724-4290-971D-8666EF787BEF}"/>
              </a:ext>
            </a:extLst>
          </p:cNvPr>
          <p:cNvSpPr>
            <a:spLocks noGrp="1"/>
          </p:cNvSpPr>
          <p:nvPr/>
        </p:nvSpPr>
        <p:spPr>
          <a:xfrm>
            <a:off x="483870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必验收：分类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CRUD /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库存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管理端</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1" name="矩形: 圆角 10">
            <a:extLst>
              <a:ext uri="{FF2B5EF4-FFF2-40B4-BE49-F238E27FC236}">
                <a16:creationId xmlns:a16="http://schemas.microsoft.com/office/drawing/2014/main" id="{0F006873-A362-4D94-B3D2-9E14973729E5}"/>
              </a:ext>
            </a:extLst>
          </p:cNvPr>
          <p:cNvSpPr>
            <a:spLocks noGrp="1"/>
          </p:cNvSpPr>
          <p:nvPr/>
        </p:nvSpPr>
        <p:spPr>
          <a:xfrm>
            <a:off x="7962900" y="1657350"/>
            <a:ext cx="3028950" cy="838200"/>
          </a:xfrm>
          <a:prstGeom prst="roundRect">
            <a:avLst>
              <a:gd name="adj" fmla="val 2273"/>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88A32AC3-6692-4653-87EC-4103AC6CC07E}"/>
              </a:ext>
            </a:extLst>
          </p:cNvPr>
          <p:cNvSpPr>
            <a:spLocks noGrp="1"/>
          </p:cNvSpPr>
          <p:nvPr/>
        </p:nvSpPr>
        <p:spPr>
          <a:xfrm>
            <a:off x="8134350" y="1866900"/>
            <a:ext cx="76200" cy="400050"/>
          </a:xfrm>
          <a:prstGeom prst="rect">
            <a:avLst/>
          </a:prstGeom>
          <a:solidFill>
            <a:srgbClr val="2B45D8"/>
          </a:solidFill>
          <a:ln w="0">
            <a:noFill/>
            <a:prstDash val="solid"/>
          </a:ln>
        </p:spPr>
      </p:sp>
      <p:sp>
        <p:nvSpPr>
          <p:cNvPr id="13" name="矩形 12">
            <a:extLst>
              <a:ext uri="{FF2B5EF4-FFF2-40B4-BE49-F238E27FC236}">
                <a16:creationId xmlns:a16="http://schemas.microsoft.com/office/drawing/2014/main" id="{40295E4B-EEE9-4FBF-AA98-0F54F6CC87A5}"/>
              </a:ext>
            </a:extLst>
          </p:cNvPr>
          <p:cNvSpPr>
            <a:spLocks noGrp="1"/>
          </p:cNvSpPr>
          <p:nvPr/>
        </p:nvSpPr>
        <p:spPr>
          <a:xfrm>
            <a:off x="836295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搜索</a:t>
            </a:r>
          </a:p>
        </p:txBody>
      </p:sp>
      <p:sp>
        <p:nvSpPr>
          <p:cNvPr id="14" name="矩形 13">
            <a:extLst>
              <a:ext uri="{FF2B5EF4-FFF2-40B4-BE49-F238E27FC236}">
                <a16:creationId xmlns:a16="http://schemas.microsoft.com/office/drawing/2014/main" id="{6E0AB250-0AC1-453B-9248-3054534DCB73}"/>
              </a:ext>
            </a:extLst>
          </p:cNvPr>
          <p:cNvSpPr>
            <a:spLocks noGrp="1"/>
          </p:cNvSpPr>
          <p:nvPr/>
        </p:nvSpPr>
        <p:spPr>
          <a:xfrm>
            <a:off x="836295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必验收：关键词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LIKE /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排序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分页</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960C9566-3D09-4D5F-B0F2-9F8A7FADFEF4}"/>
              </a:ext>
            </a:extLst>
          </p:cNvPr>
          <p:cNvSpPr>
            <a:spLocks noGrp="1"/>
          </p:cNvSpPr>
          <p:nvPr/>
        </p:nvSpPr>
        <p:spPr>
          <a:xfrm>
            <a:off x="914400" y="2838450"/>
            <a:ext cx="3028950" cy="838200"/>
          </a:xfrm>
          <a:prstGeom prst="roundRect">
            <a:avLst>
              <a:gd name="adj" fmla="val 2273"/>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8B07F6EA-5A7B-4849-A6FC-A64F91119019}"/>
              </a:ext>
            </a:extLst>
          </p:cNvPr>
          <p:cNvSpPr>
            <a:spLocks noGrp="1"/>
          </p:cNvSpPr>
          <p:nvPr/>
        </p:nvSpPr>
        <p:spPr>
          <a:xfrm>
            <a:off x="1085850" y="3048000"/>
            <a:ext cx="76200" cy="40005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5D8933D8-C3FA-465B-A8C6-5838528475B8}"/>
              </a:ext>
            </a:extLst>
          </p:cNvPr>
          <p:cNvSpPr>
            <a:spLocks noGrp="1"/>
          </p:cNvSpPr>
          <p:nvPr/>
        </p:nvSpPr>
        <p:spPr>
          <a:xfrm>
            <a:off x="131445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购物车</a:t>
            </a:r>
          </a:p>
        </p:txBody>
      </p:sp>
      <p:sp>
        <p:nvSpPr>
          <p:cNvPr id="18" name="矩形 17">
            <a:extLst>
              <a:ext uri="{FF2B5EF4-FFF2-40B4-BE49-F238E27FC236}">
                <a16:creationId xmlns:a16="http://schemas.microsoft.com/office/drawing/2014/main" id="{19B1CD9C-3583-404B-9F14-4CD366B0C197}"/>
              </a:ext>
            </a:extLst>
          </p:cNvPr>
          <p:cNvSpPr>
            <a:spLocks noGrp="1"/>
          </p:cNvSpPr>
          <p:nvPr/>
        </p:nvSpPr>
        <p:spPr>
          <a:xfrm>
            <a:off x="131445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订单模块：加购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数量校验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勾选结算</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9" name="矩形: 圆角 18">
            <a:extLst>
              <a:ext uri="{FF2B5EF4-FFF2-40B4-BE49-F238E27FC236}">
                <a16:creationId xmlns:a16="http://schemas.microsoft.com/office/drawing/2014/main" id="{1F954480-1007-49B4-9835-E41B78CDCF2F}"/>
              </a:ext>
            </a:extLst>
          </p:cNvPr>
          <p:cNvSpPr>
            <a:spLocks noGrp="1"/>
          </p:cNvSpPr>
          <p:nvPr/>
        </p:nvSpPr>
        <p:spPr>
          <a:xfrm>
            <a:off x="4438650" y="2838450"/>
            <a:ext cx="3028950" cy="838200"/>
          </a:xfrm>
          <a:prstGeom prst="roundRect">
            <a:avLst>
              <a:gd name="adj" fmla="val 2273"/>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B942D37B-9774-4DC2-8E31-500D3CB13251}"/>
              </a:ext>
            </a:extLst>
          </p:cNvPr>
          <p:cNvSpPr>
            <a:spLocks noGrp="1"/>
          </p:cNvSpPr>
          <p:nvPr/>
        </p:nvSpPr>
        <p:spPr>
          <a:xfrm>
            <a:off x="4610100" y="3048000"/>
            <a:ext cx="76200" cy="40005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ECE9E095-2EC0-40A0-BDE4-3E6270A884C1}"/>
              </a:ext>
            </a:extLst>
          </p:cNvPr>
          <p:cNvSpPr>
            <a:spLocks noGrp="1"/>
          </p:cNvSpPr>
          <p:nvPr/>
        </p:nvSpPr>
        <p:spPr>
          <a:xfrm>
            <a:off x="483870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订单</a:t>
            </a:r>
          </a:p>
        </p:txBody>
      </p:sp>
      <p:sp>
        <p:nvSpPr>
          <p:cNvPr id="22" name="矩形 21">
            <a:extLst>
              <a:ext uri="{FF2B5EF4-FFF2-40B4-BE49-F238E27FC236}">
                <a16:creationId xmlns:a16="http://schemas.microsoft.com/office/drawing/2014/main" id="{5BF64314-E19C-4127-8C93-E17DAC23857F}"/>
              </a:ext>
            </a:extLst>
          </p:cNvPr>
          <p:cNvSpPr>
            <a:spLocks noGrp="1"/>
          </p:cNvSpPr>
          <p:nvPr/>
        </p:nvSpPr>
        <p:spPr>
          <a:xfrm>
            <a:off x="483870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必验收：事务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状态机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取消回补</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3" name="矩形: 圆角 22">
            <a:extLst>
              <a:ext uri="{FF2B5EF4-FFF2-40B4-BE49-F238E27FC236}">
                <a16:creationId xmlns:a16="http://schemas.microsoft.com/office/drawing/2014/main" id="{D8A17FB3-D1AB-475E-9823-094445686A0F}"/>
              </a:ext>
            </a:extLst>
          </p:cNvPr>
          <p:cNvSpPr>
            <a:spLocks noGrp="1"/>
          </p:cNvSpPr>
          <p:nvPr/>
        </p:nvSpPr>
        <p:spPr>
          <a:xfrm>
            <a:off x="7962900" y="2838450"/>
            <a:ext cx="3028950" cy="838200"/>
          </a:xfrm>
          <a:prstGeom prst="roundRect">
            <a:avLst>
              <a:gd name="adj" fmla="val 2273"/>
            </a:avLst>
          </a:prstGeom>
          <a:solidFill>
            <a:srgbClr val="FFFFFF"/>
          </a:solidFill>
          <a:ln w="9525">
            <a:solidFill>
              <a:srgbClr val="E3E6EB"/>
            </a:solidFill>
            <a:prstDash val="solid"/>
          </a:ln>
        </p:spPr>
      </p:sp>
      <p:sp>
        <p:nvSpPr>
          <p:cNvPr id="24" name="矩形 23">
            <a:extLst>
              <a:ext uri="{FF2B5EF4-FFF2-40B4-BE49-F238E27FC236}">
                <a16:creationId xmlns:a16="http://schemas.microsoft.com/office/drawing/2014/main" id="{938174AA-80B9-45BD-919D-D73B8D2546F7}"/>
              </a:ext>
            </a:extLst>
          </p:cNvPr>
          <p:cNvSpPr>
            <a:spLocks noGrp="1"/>
          </p:cNvSpPr>
          <p:nvPr/>
        </p:nvSpPr>
        <p:spPr>
          <a:xfrm>
            <a:off x="8134350" y="3048000"/>
            <a:ext cx="76200" cy="400050"/>
          </a:xfrm>
          <a:prstGeom prst="rect">
            <a:avLst/>
          </a:prstGeom>
          <a:solidFill>
            <a:srgbClr val="2B45D8"/>
          </a:solidFill>
          <a:ln w="0">
            <a:noFill/>
            <a:prstDash val="solid"/>
          </a:ln>
        </p:spPr>
      </p:sp>
      <p:sp>
        <p:nvSpPr>
          <p:cNvPr id="25" name="矩形 24">
            <a:extLst>
              <a:ext uri="{FF2B5EF4-FFF2-40B4-BE49-F238E27FC236}">
                <a16:creationId xmlns:a16="http://schemas.microsoft.com/office/drawing/2014/main" id="{E5DCED3E-FC55-4B4C-9E55-1F72F08351FF}"/>
              </a:ext>
            </a:extLst>
          </p:cNvPr>
          <p:cNvSpPr>
            <a:spLocks noGrp="1"/>
          </p:cNvSpPr>
          <p:nvPr/>
        </p:nvSpPr>
        <p:spPr>
          <a:xfrm>
            <a:off x="836295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售后</a:t>
            </a:r>
          </a:p>
        </p:txBody>
      </p:sp>
      <p:sp>
        <p:nvSpPr>
          <p:cNvPr id="26" name="矩形 25">
            <a:extLst>
              <a:ext uri="{FF2B5EF4-FFF2-40B4-BE49-F238E27FC236}">
                <a16:creationId xmlns:a16="http://schemas.microsoft.com/office/drawing/2014/main" id="{7DCB9A67-37CD-4511-AE62-5A3DE0193C5D}"/>
              </a:ext>
            </a:extLst>
          </p:cNvPr>
          <p:cNvSpPr>
            <a:spLocks noGrp="1"/>
          </p:cNvSpPr>
          <p:nvPr/>
        </p:nvSpPr>
        <p:spPr>
          <a:xfrm>
            <a:off x="836295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增强：退款申请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审核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库存回补</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7" name="矩形: 圆角 26">
            <a:extLst>
              <a:ext uri="{FF2B5EF4-FFF2-40B4-BE49-F238E27FC236}">
                <a16:creationId xmlns:a16="http://schemas.microsoft.com/office/drawing/2014/main" id="{9BB8D6F1-0E1B-43FF-9027-C7B8B086630D}"/>
              </a:ext>
            </a:extLst>
          </p:cNvPr>
          <p:cNvSpPr>
            <a:spLocks noGrp="1"/>
          </p:cNvSpPr>
          <p:nvPr/>
        </p:nvSpPr>
        <p:spPr>
          <a:xfrm>
            <a:off x="914400" y="4019550"/>
            <a:ext cx="3028950" cy="838200"/>
          </a:xfrm>
          <a:prstGeom prst="roundRect">
            <a:avLst>
              <a:gd name="adj" fmla="val 2273"/>
            </a:avLst>
          </a:prstGeom>
          <a:solidFill>
            <a:srgbClr val="FFFFFF"/>
          </a:solidFill>
          <a:ln w="9525">
            <a:solidFill>
              <a:srgbClr val="E3E6EB"/>
            </a:solidFill>
            <a:prstDash val="solid"/>
          </a:ln>
        </p:spPr>
      </p:sp>
      <p:sp>
        <p:nvSpPr>
          <p:cNvPr id="28" name="矩形 27">
            <a:extLst>
              <a:ext uri="{FF2B5EF4-FFF2-40B4-BE49-F238E27FC236}">
                <a16:creationId xmlns:a16="http://schemas.microsoft.com/office/drawing/2014/main" id="{310D3776-A675-4248-9BA0-4C572CA85F16}"/>
              </a:ext>
            </a:extLst>
          </p:cNvPr>
          <p:cNvSpPr>
            <a:spLocks noGrp="1"/>
          </p:cNvSpPr>
          <p:nvPr/>
        </p:nvSpPr>
        <p:spPr>
          <a:xfrm>
            <a:off x="1085850" y="4229100"/>
            <a:ext cx="76200" cy="400050"/>
          </a:xfrm>
          <a:prstGeom prst="rect">
            <a:avLst/>
          </a:prstGeom>
          <a:solidFill>
            <a:srgbClr val="2B45D8"/>
          </a:solidFill>
          <a:ln w="0">
            <a:noFill/>
            <a:prstDash val="solid"/>
          </a:ln>
        </p:spPr>
      </p:sp>
      <p:sp>
        <p:nvSpPr>
          <p:cNvPr id="29" name="矩形 28">
            <a:extLst>
              <a:ext uri="{FF2B5EF4-FFF2-40B4-BE49-F238E27FC236}">
                <a16:creationId xmlns:a16="http://schemas.microsoft.com/office/drawing/2014/main" id="{B0FDAAC4-1059-4CD0-8B66-56A1CEF8DB80}"/>
              </a:ext>
            </a:extLst>
          </p:cNvPr>
          <p:cNvSpPr>
            <a:spLocks noGrp="1"/>
          </p:cNvSpPr>
          <p:nvPr/>
        </p:nvSpPr>
        <p:spPr>
          <a:xfrm>
            <a:off x="131445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用户体验</a:t>
            </a:r>
          </a:p>
        </p:txBody>
      </p:sp>
      <p:sp>
        <p:nvSpPr>
          <p:cNvPr id="30" name="矩形 29">
            <a:extLst>
              <a:ext uri="{FF2B5EF4-FFF2-40B4-BE49-F238E27FC236}">
                <a16:creationId xmlns:a16="http://schemas.microsoft.com/office/drawing/2014/main" id="{38411A7A-C8D2-4D5C-8731-9ECB75562145}"/>
              </a:ext>
            </a:extLst>
          </p:cNvPr>
          <p:cNvSpPr>
            <a:spLocks noGrp="1"/>
          </p:cNvSpPr>
          <p:nvPr/>
        </p:nvSpPr>
        <p:spPr>
          <a:xfrm>
            <a:off x="131445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增强：收藏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足迹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评价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优惠积分</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1" name="矩形: 圆角 30">
            <a:extLst>
              <a:ext uri="{FF2B5EF4-FFF2-40B4-BE49-F238E27FC236}">
                <a16:creationId xmlns:a16="http://schemas.microsoft.com/office/drawing/2014/main" id="{44A3AF77-81FF-4EA6-9C7C-BF5732BA57EC}"/>
              </a:ext>
            </a:extLst>
          </p:cNvPr>
          <p:cNvSpPr>
            <a:spLocks noGrp="1"/>
          </p:cNvSpPr>
          <p:nvPr/>
        </p:nvSpPr>
        <p:spPr>
          <a:xfrm>
            <a:off x="4438650" y="4019550"/>
            <a:ext cx="3028950" cy="838200"/>
          </a:xfrm>
          <a:prstGeom prst="roundRect">
            <a:avLst>
              <a:gd name="adj" fmla="val 2273"/>
            </a:avLst>
          </a:prstGeom>
          <a:solidFill>
            <a:srgbClr val="FFFFFF"/>
          </a:solidFill>
          <a:ln w="9525">
            <a:solidFill>
              <a:srgbClr val="E3E6EB"/>
            </a:solidFill>
            <a:prstDash val="solid"/>
          </a:ln>
        </p:spPr>
      </p:sp>
      <p:sp>
        <p:nvSpPr>
          <p:cNvPr id="32" name="矩形 31">
            <a:extLst>
              <a:ext uri="{FF2B5EF4-FFF2-40B4-BE49-F238E27FC236}">
                <a16:creationId xmlns:a16="http://schemas.microsoft.com/office/drawing/2014/main" id="{43E6FBD4-6C59-4855-BDD1-4D069A465BAE}"/>
              </a:ext>
            </a:extLst>
          </p:cNvPr>
          <p:cNvSpPr>
            <a:spLocks noGrp="1"/>
          </p:cNvSpPr>
          <p:nvPr/>
        </p:nvSpPr>
        <p:spPr>
          <a:xfrm>
            <a:off x="4610100" y="4229100"/>
            <a:ext cx="76200" cy="400050"/>
          </a:xfrm>
          <a:prstGeom prst="rect">
            <a:avLst/>
          </a:prstGeom>
          <a:solidFill>
            <a:srgbClr val="2B45D8"/>
          </a:solidFill>
          <a:ln w="0">
            <a:noFill/>
            <a:prstDash val="solid"/>
          </a:ln>
        </p:spPr>
      </p:sp>
      <p:sp>
        <p:nvSpPr>
          <p:cNvPr id="33" name="矩形 32">
            <a:extLst>
              <a:ext uri="{FF2B5EF4-FFF2-40B4-BE49-F238E27FC236}">
                <a16:creationId xmlns:a16="http://schemas.microsoft.com/office/drawing/2014/main" id="{1AB81EE7-9933-4F19-BAA8-2E3068EC62C4}"/>
              </a:ext>
            </a:extLst>
          </p:cNvPr>
          <p:cNvSpPr>
            <a:spLocks noGrp="1"/>
          </p:cNvSpPr>
          <p:nvPr/>
        </p:nvSpPr>
        <p:spPr>
          <a:xfrm>
            <a:off x="483870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AI 助手</a:t>
            </a:r>
          </a:p>
        </p:txBody>
      </p:sp>
      <p:sp>
        <p:nvSpPr>
          <p:cNvPr id="34" name="矩形 33">
            <a:extLst>
              <a:ext uri="{FF2B5EF4-FFF2-40B4-BE49-F238E27FC236}">
                <a16:creationId xmlns:a16="http://schemas.microsoft.com/office/drawing/2014/main" id="{EE950A74-7590-4A89-B75E-A0761ADF9246}"/>
              </a:ext>
            </a:extLst>
          </p:cNvPr>
          <p:cNvSpPr>
            <a:spLocks noGrp="1"/>
          </p:cNvSpPr>
          <p:nvPr/>
        </p:nvSpPr>
        <p:spPr>
          <a:xfrm>
            <a:off x="483870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必验收：</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8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工具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双层记忆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结构化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UI</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5" name="矩形: 圆角 34">
            <a:extLst>
              <a:ext uri="{FF2B5EF4-FFF2-40B4-BE49-F238E27FC236}">
                <a16:creationId xmlns:a16="http://schemas.microsoft.com/office/drawing/2014/main" id="{0C6A7975-9CFE-41FB-B61F-590D375204E4}"/>
              </a:ext>
            </a:extLst>
          </p:cNvPr>
          <p:cNvSpPr>
            <a:spLocks noGrp="1"/>
          </p:cNvSpPr>
          <p:nvPr/>
        </p:nvSpPr>
        <p:spPr>
          <a:xfrm>
            <a:off x="7962900" y="4019550"/>
            <a:ext cx="3028950" cy="838200"/>
          </a:xfrm>
          <a:prstGeom prst="roundRect">
            <a:avLst>
              <a:gd name="adj" fmla="val 2273"/>
            </a:avLst>
          </a:prstGeom>
          <a:solidFill>
            <a:srgbClr val="FFFFFF"/>
          </a:solidFill>
          <a:ln w="9525">
            <a:solidFill>
              <a:srgbClr val="E3E6EB"/>
            </a:solidFill>
            <a:prstDash val="solid"/>
          </a:ln>
        </p:spPr>
      </p:sp>
      <p:sp>
        <p:nvSpPr>
          <p:cNvPr id="36" name="矩形 35">
            <a:extLst>
              <a:ext uri="{FF2B5EF4-FFF2-40B4-BE49-F238E27FC236}">
                <a16:creationId xmlns:a16="http://schemas.microsoft.com/office/drawing/2014/main" id="{5AE13213-F9C7-45B0-A633-D07C365C5FA8}"/>
              </a:ext>
            </a:extLst>
          </p:cNvPr>
          <p:cNvSpPr>
            <a:spLocks noGrp="1"/>
          </p:cNvSpPr>
          <p:nvPr/>
        </p:nvSpPr>
        <p:spPr>
          <a:xfrm>
            <a:off x="8134350" y="4229100"/>
            <a:ext cx="76200" cy="400050"/>
          </a:xfrm>
          <a:prstGeom prst="rect">
            <a:avLst/>
          </a:prstGeom>
          <a:solidFill>
            <a:srgbClr val="2B45D8"/>
          </a:solidFill>
          <a:ln w="0">
            <a:noFill/>
            <a:prstDash val="solid"/>
          </a:ln>
        </p:spPr>
      </p:sp>
      <p:sp>
        <p:nvSpPr>
          <p:cNvPr id="37" name="矩形 36">
            <a:extLst>
              <a:ext uri="{FF2B5EF4-FFF2-40B4-BE49-F238E27FC236}">
                <a16:creationId xmlns:a16="http://schemas.microsoft.com/office/drawing/2014/main" id="{1AB2F66C-9B02-446F-82CF-08916151FDF6}"/>
              </a:ext>
            </a:extLst>
          </p:cNvPr>
          <p:cNvSpPr>
            <a:spLocks noGrp="1"/>
          </p:cNvSpPr>
          <p:nvPr/>
        </p:nvSpPr>
        <p:spPr>
          <a:xfrm>
            <a:off x="836295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后台</a:t>
            </a:r>
          </a:p>
        </p:txBody>
      </p:sp>
      <p:sp>
        <p:nvSpPr>
          <p:cNvPr id="38" name="矩形 37">
            <a:extLst>
              <a:ext uri="{FF2B5EF4-FFF2-40B4-BE49-F238E27FC236}">
                <a16:creationId xmlns:a16="http://schemas.microsoft.com/office/drawing/2014/main" id="{EFA25368-E6A1-4AB5-80FD-EB3192E5DDFB}"/>
              </a:ext>
            </a:extLst>
          </p:cNvPr>
          <p:cNvSpPr>
            <a:spLocks noGrp="1"/>
          </p:cNvSpPr>
          <p:nvPr/>
        </p:nvSpPr>
        <p:spPr>
          <a:xfrm>
            <a:off x="836295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增强：看板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商品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订单 </a:t>
            </a:r>
            <a:r>
              <a:rPr lang="en-US" altLang="zh-CN" sz="11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150" b="0">
                <a:solidFill>
                  <a:srgbClr val="6B7280"/>
                </a:solidFill>
                <a:latin typeface="Microsoft YaHei" panose="020B0503020204020204" pitchFamily="34" charset="-122"/>
                <a:ea typeface="Microsoft YaHei" panose="020B0503020204020204" pitchFamily="34" charset="-122"/>
                <a:cs typeface="Microsoft YaHei"/>
              </a:rPr>
              <a:t>日志</a:t>
            </a:r>
            <a:endParaRPr sz="11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9" name="矩形 38">
            <a:extLst>
              <a:ext uri="{FF2B5EF4-FFF2-40B4-BE49-F238E27FC236}">
                <a16:creationId xmlns:a16="http://schemas.microsoft.com/office/drawing/2014/main" id="{9D76BF21-6D42-4C9B-A786-4D5057616504}"/>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40" name="矩形 39">
            <a:extLst>
              <a:ext uri="{FF2B5EF4-FFF2-40B4-BE49-F238E27FC236}">
                <a16:creationId xmlns:a16="http://schemas.microsoft.com/office/drawing/2014/main" id="{855CA287-6933-4E34-BDD3-ECE66AF196EE}"/>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07</a:t>
            </a:r>
          </a:p>
        </p:txBody>
      </p:sp>
    </p:spTree>
    <p:extLst>
      <p:ext uri="{BB962C8B-B14F-4D97-AF65-F5344CB8AC3E}">
        <p14:creationId xmlns:p14="http://schemas.microsoft.com/office/powerpoint/2010/main" val="71848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19A7DB2B-12A3-449E-A864-2654205C244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01</a:t>
            </a:r>
          </a:p>
        </p:txBody>
      </p:sp>
      <p:sp>
        <p:nvSpPr>
          <p:cNvPr id="2" name="矩形 1">
            <a:extLst>
              <a:ext uri="{FF2B5EF4-FFF2-40B4-BE49-F238E27FC236}">
                <a16:creationId xmlns:a16="http://schemas.microsoft.com/office/drawing/2014/main" id="{34DF7C2E-3E5A-4792-8D96-5DED0099D9D8}"/>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个性化推荐形成从对话到首页的闭环</a:t>
            </a:r>
          </a:p>
        </p:txBody>
      </p:sp>
      <p:sp>
        <p:nvSpPr>
          <p:cNvPr id="3" name="矩形: 圆角 2">
            <a:extLst>
              <a:ext uri="{FF2B5EF4-FFF2-40B4-BE49-F238E27FC236}">
                <a16:creationId xmlns:a16="http://schemas.microsoft.com/office/drawing/2014/main" id="{0FC62249-6802-4D3C-BAEE-17CBC107C12A}"/>
              </a:ext>
            </a:extLst>
          </p:cNvPr>
          <p:cNvSpPr>
            <a:spLocks noGrp="1"/>
          </p:cNvSpPr>
          <p:nvPr/>
        </p:nvSpPr>
        <p:spPr>
          <a:xfrm>
            <a:off x="762000" y="2343150"/>
            <a:ext cx="2000250" cy="876300"/>
          </a:xfrm>
          <a:prstGeom prst="roundRect">
            <a:avLst>
              <a:gd name="adj" fmla="val 2174"/>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AE614D9-00E8-4BCD-AE90-C3CDA7B37FC5}"/>
              </a:ext>
            </a:extLst>
          </p:cNvPr>
          <p:cNvSpPr>
            <a:spLocks noGrp="1"/>
          </p:cNvSpPr>
          <p:nvPr/>
        </p:nvSpPr>
        <p:spPr>
          <a:xfrm>
            <a:off x="933450" y="251460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用户表达偏好</a:t>
            </a:r>
          </a:p>
        </p:txBody>
      </p:sp>
      <p:sp>
        <p:nvSpPr>
          <p:cNvPr id="5" name="矩形 4">
            <a:extLst>
              <a:ext uri="{FF2B5EF4-FFF2-40B4-BE49-F238E27FC236}">
                <a16:creationId xmlns:a16="http://schemas.microsoft.com/office/drawing/2014/main" id="{9A9A19F1-4AC6-40AF-A672-BE5D5C48A34E}"/>
              </a:ext>
            </a:extLst>
          </p:cNvPr>
          <p:cNvSpPr>
            <a:spLocks noGrp="1"/>
          </p:cNvSpPr>
          <p:nvPr/>
        </p:nvSpPr>
        <p:spPr>
          <a:xfrm>
            <a:off x="933450" y="281940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“我喜欢机械键盘”</a:t>
            </a:r>
          </a:p>
        </p:txBody>
      </p:sp>
      <p:sp>
        <p:nvSpPr>
          <p:cNvPr id="6" name="矩形 5">
            <a:extLst>
              <a:ext uri="{FF2B5EF4-FFF2-40B4-BE49-F238E27FC236}">
                <a16:creationId xmlns:a16="http://schemas.microsoft.com/office/drawing/2014/main" id="{E79F9C9F-3BD0-4DEC-88AF-6CCA0A478A67}"/>
              </a:ext>
            </a:extLst>
          </p:cNvPr>
          <p:cNvSpPr>
            <a:spLocks noGrp="1"/>
          </p:cNvSpPr>
          <p:nvPr/>
        </p:nvSpPr>
        <p:spPr>
          <a:xfrm>
            <a:off x="2895600" y="2743200"/>
            <a:ext cx="400050" cy="19050"/>
          </a:xfrm>
          <a:prstGeom prst="rect">
            <a:avLst/>
          </a:prstGeom>
          <a:solidFill>
            <a:srgbClr val="2B45D8"/>
          </a:solidFill>
          <a:ln w="0">
            <a:noFill/>
            <a:prstDash val="solid"/>
          </a:ln>
        </p:spPr>
      </p:sp>
      <p:sp>
        <p:nvSpPr>
          <p:cNvPr id="7" name="矩形 6">
            <a:extLst>
              <a:ext uri="{FF2B5EF4-FFF2-40B4-BE49-F238E27FC236}">
                <a16:creationId xmlns:a16="http://schemas.microsoft.com/office/drawing/2014/main" id="{715154DB-B9A0-4C0B-9394-E65CFCBB4334}"/>
              </a:ext>
            </a:extLst>
          </p:cNvPr>
          <p:cNvSpPr>
            <a:spLocks noGrp="1"/>
          </p:cNvSpPr>
          <p:nvPr/>
        </p:nvSpPr>
        <p:spPr>
          <a:xfrm>
            <a:off x="327660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8" name="矩形: 圆角 7">
            <a:extLst>
              <a:ext uri="{FF2B5EF4-FFF2-40B4-BE49-F238E27FC236}">
                <a16:creationId xmlns:a16="http://schemas.microsoft.com/office/drawing/2014/main" id="{B723888D-1826-48CF-B22A-A4FBBDBF61AD}"/>
              </a:ext>
            </a:extLst>
          </p:cNvPr>
          <p:cNvSpPr>
            <a:spLocks noGrp="1"/>
          </p:cNvSpPr>
          <p:nvPr/>
        </p:nvSpPr>
        <p:spPr>
          <a:xfrm>
            <a:off x="3562350" y="2343150"/>
            <a:ext cx="2190750" cy="876300"/>
          </a:xfrm>
          <a:prstGeom prst="roundRect">
            <a:avLst>
              <a:gd name="adj" fmla="val 2174"/>
            </a:avLst>
          </a:prstGeom>
          <a:solidFill>
            <a:srgbClr val="FFFFFF"/>
          </a:solidFill>
          <a:ln w="9525">
            <a:solidFill>
              <a:srgbClr val="E3E6EB"/>
            </a:solidFill>
            <a:prstDash val="solid"/>
          </a:ln>
        </p:spPr>
      </p:sp>
      <p:sp>
        <p:nvSpPr>
          <p:cNvPr id="9" name="矩形 8">
            <a:extLst>
              <a:ext uri="{FF2B5EF4-FFF2-40B4-BE49-F238E27FC236}">
                <a16:creationId xmlns:a16="http://schemas.microsoft.com/office/drawing/2014/main" id="{DD47AB5B-5488-4782-B2E4-DA36B09BCB45}"/>
              </a:ext>
            </a:extLst>
          </p:cNvPr>
          <p:cNvSpPr>
            <a:spLocks noGrp="1"/>
          </p:cNvSpPr>
          <p:nvPr/>
        </p:nvSpPr>
        <p:spPr>
          <a:xfrm>
            <a:off x="3733800" y="2514600"/>
            <a:ext cx="1847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Agent 提炼标签</a:t>
            </a:r>
          </a:p>
        </p:txBody>
      </p:sp>
      <p:sp>
        <p:nvSpPr>
          <p:cNvPr id="10" name="矩形 9">
            <a:extLst>
              <a:ext uri="{FF2B5EF4-FFF2-40B4-BE49-F238E27FC236}">
                <a16:creationId xmlns:a16="http://schemas.microsoft.com/office/drawing/2014/main" id="{187AE8C4-3C27-4242-845B-D9CE1DD63BBC}"/>
              </a:ext>
            </a:extLst>
          </p:cNvPr>
          <p:cNvSpPr>
            <a:spLocks noGrp="1"/>
          </p:cNvSpPr>
          <p:nvPr/>
        </p:nvSpPr>
        <p:spPr>
          <a:xfrm>
            <a:off x="3733800" y="2819400"/>
            <a:ext cx="1847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规则 + LLM JSON 提炼</a:t>
            </a:r>
          </a:p>
        </p:txBody>
      </p:sp>
      <p:sp>
        <p:nvSpPr>
          <p:cNvPr id="11" name="矩形 10">
            <a:extLst>
              <a:ext uri="{FF2B5EF4-FFF2-40B4-BE49-F238E27FC236}">
                <a16:creationId xmlns:a16="http://schemas.microsoft.com/office/drawing/2014/main" id="{CBC2193C-B122-4F20-9253-FD26FA5992E0}"/>
              </a:ext>
            </a:extLst>
          </p:cNvPr>
          <p:cNvSpPr>
            <a:spLocks noGrp="1"/>
          </p:cNvSpPr>
          <p:nvPr/>
        </p:nvSpPr>
        <p:spPr>
          <a:xfrm>
            <a:off x="5886450" y="2743200"/>
            <a:ext cx="400050" cy="1905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92470D1B-9788-4FF4-A9DB-63D3AF5DA28D}"/>
              </a:ext>
            </a:extLst>
          </p:cNvPr>
          <p:cNvSpPr>
            <a:spLocks noGrp="1"/>
          </p:cNvSpPr>
          <p:nvPr/>
        </p:nvSpPr>
        <p:spPr>
          <a:xfrm>
            <a:off x="626745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3" name="矩形: 圆角 12">
            <a:extLst>
              <a:ext uri="{FF2B5EF4-FFF2-40B4-BE49-F238E27FC236}">
                <a16:creationId xmlns:a16="http://schemas.microsoft.com/office/drawing/2014/main" id="{8CF52520-0FAB-419A-9A05-644985E22224}"/>
              </a:ext>
            </a:extLst>
          </p:cNvPr>
          <p:cNvSpPr>
            <a:spLocks noGrp="1"/>
          </p:cNvSpPr>
          <p:nvPr/>
        </p:nvSpPr>
        <p:spPr>
          <a:xfrm>
            <a:off x="6553200" y="2343150"/>
            <a:ext cx="2190750" cy="876300"/>
          </a:xfrm>
          <a:prstGeom prst="roundRect">
            <a:avLst>
              <a:gd name="adj" fmla="val 2174"/>
            </a:avLst>
          </a:prstGeom>
          <a:solidFill>
            <a:srgbClr val="2B45D8"/>
          </a:solidFill>
          <a:ln w="9525">
            <a:solidFill>
              <a:srgbClr val="2B45D8"/>
            </a:solidFill>
            <a:prstDash val="solid"/>
          </a:ln>
        </p:spPr>
      </p:sp>
      <p:sp>
        <p:nvSpPr>
          <p:cNvPr id="14" name="矩形 13">
            <a:extLst>
              <a:ext uri="{FF2B5EF4-FFF2-40B4-BE49-F238E27FC236}">
                <a16:creationId xmlns:a16="http://schemas.microsoft.com/office/drawing/2014/main" id="{5B4F166E-14B2-4FEF-A7E3-454AED03A293}"/>
              </a:ext>
            </a:extLst>
          </p:cNvPr>
          <p:cNvSpPr>
            <a:spLocks noGrp="1"/>
          </p:cNvSpPr>
          <p:nvPr/>
        </p:nvSpPr>
        <p:spPr>
          <a:xfrm>
            <a:off x="6724650" y="2514600"/>
            <a:ext cx="18478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user_preference</a:t>
            </a:r>
          </a:p>
        </p:txBody>
      </p:sp>
      <p:sp>
        <p:nvSpPr>
          <p:cNvPr id="15" name="矩形 14">
            <a:extLst>
              <a:ext uri="{FF2B5EF4-FFF2-40B4-BE49-F238E27FC236}">
                <a16:creationId xmlns:a16="http://schemas.microsoft.com/office/drawing/2014/main" id="{E4A078BA-CC2F-4423-9467-49F6F7F28D4F}"/>
              </a:ext>
            </a:extLst>
          </p:cNvPr>
          <p:cNvSpPr>
            <a:spLocks noGrp="1"/>
          </p:cNvSpPr>
          <p:nvPr/>
        </p:nvSpPr>
        <p:spPr>
          <a:xfrm>
            <a:off x="6724650" y="2819400"/>
            <a:ext cx="18478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upsert 权重封顶 2.0</a:t>
            </a:r>
          </a:p>
        </p:txBody>
      </p:sp>
      <p:sp>
        <p:nvSpPr>
          <p:cNvPr id="16" name="矩形 15">
            <a:extLst>
              <a:ext uri="{FF2B5EF4-FFF2-40B4-BE49-F238E27FC236}">
                <a16:creationId xmlns:a16="http://schemas.microsoft.com/office/drawing/2014/main" id="{F681FB0A-ACBE-4EC1-BAD1-4BE8FF8604E7}"/>
              </a:ext>
            </a:extLst>
          </p:cNvPr>
          <p:cNvSpPr>
            <a:spLocks noGrp="1"/>
          </p:cNvSpPr>
          <p:nvPr/>
        </p:nvSpPr>
        <p:spPr>
          <a:xfrm>
            <a:off x="8858250" y="2743200"/>
            <a:ext cx="400050" cy="1905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B960A9AB-92C8-495B-8B33-B0CCA5CFF9EF}"/>
              </a:ext>
            </a:extLst>
          </p:cNvPr>
          <p:cNvSpPr>
            <a:spLocks noGrp="1"/>
          </p:cNvSpPr>
          <p:nvPr/>
        </p:nvSpPr>
        <p:spPr>
          <a:xfrm>
            <a:off x="923925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8" name="矩形: 圆角 17">
            <a:extLst>
              <a:ext uri="{FF2B5EF4-FFF2-40B4-BE49-F238E27FC236}">
                <a16:creationId xmlns:a16="http://schemas.microsoft.com/office/drawing/2014/main" id="{21A4A3C0-AA4B-4DE8-A1D7-815FFBE5756E}"/>
              </a:ext>
            </a:extLst>
          </p:cNvPr>
          <p:cNvSpPr>
            <a:spLocks noGrp="1"/>
          </p:cNvSpPr>
          <p:nvPr/>
        </p:nvSpPr>
        <p:spPr>
          <a:xfrm>
            <a:off x="9525000" y="2343150"/>
            <a:ext cx="2000250" cy="876300"/>
          </a:xfrm>
          <a:prstGeom prst="roundRect">
            <a:avLst>
              <a:gd name="adj" fmla="val 2174"/>
            </a:avLst>
          </a:prstGeom>
          <a:solidFill>
            <a:srgbClr val="FFFFFF"/>
          </a:solidFill>
          <a:ln w="9525">
            <a:solidFill>
              <a:srgbClr val="E3E6EB"/>
            </a:solidFill>
            <a:prstDash val="solid"/>
          </a:ln>
        </p:spPr>
      </p:sp>
      <p:sp>
        <p:nvSpPr>
          <p:cNvPr id="19" name="矩形 18">
            <a:extLst>
              <a:ext uri="{FF2B5EF4-FFF2-40B4-BE49-F238E27FC236}">
                <a16:creationId xmlns:a16="http://schemas.microsoft.com/office/drawing/2014/main" id="{28DC9115-742D-4185-A941-35145B37CCFA}"/>
              </a:ext>
            </a:extLst>
          </p:cNvPr>
          <p:cNvSpPr>
            <a:spLocks noGrp="1"/>
          </p:cNvSpPr>
          <p:nvPr/>
        </p:nvSpPr>
        <p:spPr>
          <a:xfrm>
            <a:off x="9696450" y="251460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推荐注入</a:t>
            </a:r>
          </a:p>
        </p:txBody>
      </p:sp>
      <p:sp>
        <p:nvSpPr>
          <p:cNvPr id="20" name="矩形 19">
            <a:extLst>
              <a:ext uri="{FF2B5EF4-FFF2-40B4-BE49-F238E27FC236}">
                <a16:creationId xmlns:a16="http://schemas.microsoft.com/office/drawing/2014/main" id="{80FA807A-5D9B-4A05-8787-6AE7C9B01AFF}"/>
              </a:ext>
            </a:extLst>
          </p:cNvPr>
          <p:cNvSpPr>
            <a:spLocks noGrp="1"/>
          </p:cNvSpPr>
          <p:nvPr/>
        </p:nvSpPr>
        <p:spPr>
          <a:xfrm>
            <a:off x="9696450" y="281940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下次会话和首页优先考虑</a:t>
            </a:r>
          </a:p>
        </p:txBody>
      </p:sp>
      <p:sp>
        <p:nvSpPr>
          <p:cNvPr id="21" name="矩形: 圆角 20">
            <a:extLst>
              <a:ext uri="{FF2B5EF4-FFF2-40B4-BE49-F238E27FC236}">
                <a16:creationId xmlns:a16="http://schemas.microsoft.com/office/drawing/2014/main" id="{EEE3F3AC-C907-4E99-BFE1-FB1111FB54D7}"/>
              </a:ext>
            </a:extLst>
          </p:cNvPr>
          <p:cNvSpPr>
            <a:spLocks noGrp="1"/>
          </p:cNvSpPr>
          <p:nvPr/>
        </p:nvSpPr>
        <p:spPr>
          <a:xfrm>
            <a:off x="1695450" y="4095750"/>
            <a:ext cx="2667000" cy="1123950"/>
          </a:xfrm>
          <a:prstGeom prst="roundRect">
            <a:avLst>
              <a:gd name="adj" fmla="val 1695"/>
            </a:avLst>
          </a:prstGeom>
          <a:solidFill>
            <a:srgbClr val="FFFFFF"/>
          </a:solidFill>
          <a:ln w="9525">
            <a:solidFill>
              <a:srgbClr val="E3E6EB"/>
            </a:solidFill>
            <a:prstDash val="solid"/>
          </a:ln>
        </p:spPr>
      </p:sp>
      <p:sp>
        <p:nvSpPr>
          <p:cNvPr id="22" name="矩形 21">
            <a:extLst>
              <a:ext uri="{FF2B5EF4-FFF2-40B4-BE49-F238E27FC236}">
                <a16:creationId xmlns:a16="http://schemas.microsoft.com/office/drawing/2014/main" id="{3DF88AE3-DFB3-488B-8243-CCE0FCACD0CF}"/>
              </a:ext>
            </a:extLst>
          </p:cNvPr>
          <p:cNvSpPr>
            <a:spLocks noGrp="1"/>
          </p:cNvSpPr>
          <p:nvPr/>
        </p:nvSpPr>
        <p:spPr>
          <a:xfrm>
            <a:off x="188595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长期偏好读取</a:t>
            </a:r>
          </a:p>
        </p:txBody>
      </p:sp>
      <p:sp>
        <p:nvSpPr>
          <p:cNvPr id="23" name="矩形 22">
            <a:extLst>
              <a:ext uri="{FF2B5EF4-FFF2-40B4-BE49-F238E27FC236}">
                <a16:creationId xmlns:a16="http://schemas.microsoft.com/office/drawing/2014/main" id="{548DC6DE-0DE5-462D-8FBF-7AE81D133209}"/>
              </a:ext>
            </a:extLst>
          </p:cNvPr>
          <p:cNvSpPr>
            <a:spLocks noGrp="1"/>
          </p:cNvSpPr>
          <p:nvPr/>
        </p:nvSpPr>
        <p:spPr>
          <a:xfrm>
            <a:off x="1885950" y="4552950"/>
            <a:ext cx="22860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Top 3</a:t>
            </a:r>
          </a:p>
        </p:txBody>
      </p:sp>
      <p:sp>
        <p:nvSpPr>
          <p:cNvPr id="24" name="矩形 23">
            <a:extLst>
              <a:ext uri="{FF2B5EF4-FFF2-40B4-BE49-F238E27FC236}">
                <a16:creationId xmlns:a16="http://schemas.microsoft.com/office/drawing/2014/main" id="{E39240C0-DA62-432F-9B70-CDA037F6189C}"/>
              </a:ext>
            </a:extLst>
          </p:cNvPr>
          <p:cNvSpPr>
            <a:spLocks noGrp="1"/>
          </p:cNvSpPr>
          <p:nvPr/>
        </p:nvSpPr>
        <p:spPr>
          <a:xfrm>
            <a:off x="188595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system prompt 注入最高权重标签</a:t>
            </a:r>
          </a:p>
        </p:txBody>
      </p:sp>
      <p:sp>
        <p:nvSpPr>
          <p:cNvPr id="25" name="矩形: 圆角 24">
            <a:extLst>
              <a:ext uri="{FF2B5EF4-FFF2-40B4-BE49-F238E27FC236}">
                <a16:creationId xmlns:a16="http://schemas.microsoft.com/office/drawing/2014/main" id="{5CBD7584-E0E2-43C2-BB62-3FEB45F43F51}"/>
              </a:ext>
            </a:extLst>
          </p:cNvPr>
          <p:cNvSpPr>
            <a:spLocks noGrp="1"/>
          </p:cNvSpPr>
          <p:nvPr/>
        </p:nvSpPr>
        <p:spPr>
          <a:xfrm>
            <a:off x="4762500" y="4095750"/>
            <a:ext cx="2667000" cy="1123950"/>
          </a:xfrm>
          <a:prstGeom prst="roundRect">
            <a:avLst>
              <a:gd name="adj" fmla="val 1695"/>
            </a:avLst>
          </a:prstGeom>
          <a:solidFill>
            <a:srgbClr val="FFFFFF"/>
          </a:solidFill>
          <a:ln w="9525">
            <a:solidFill>
              <a:srgbClr val="E3E6EB"/>
            </a:solidFill>
            <a:prstDash val="solid"/>
          </a:ln>
        </p:spPr>
      </p:sp>
      <p:sp>
        <p:nvSpPr>
          <p:cNvPr id="26" name="矩形 25">
            <a:extLst>
              <a:ext uri="{FF2B5EF4-FFF2-40B4-BE49-F238E27FC236}">
                <a16:creationId xmlns:a16="http://schemas.microsoft.com/office/drawing/2014/main" id="{A5CDF4B2-A619-4ED8-B1BA-CB14EFB748EE}"/>
              </a:ext>
            </a:extLst>
          </p:cNvPr>
          <p:cNvSpPr>
            <a:spLocks noGrp="1"/>
          </p:cNvSpPr>
          <p:nvPr/>
        </p:nvSpPr>
        <p:spPr>
          <a:xfrm>
            <a:off x="495300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权重策略</a:t>
            </a:r>
          </a:p>
        </p:txBody>
      </p:sp>
      <p:sp>
        <p:nvSpPr>
          <p:cNvPr id="27" name="矩形 26">
            <a:extLst>
              <a:ext uri="{FF2B5EF4-FFF2-40B4-BE49-F238E27FC236}">
                <a16:creationId xmlns:a16="http://schemas.microsoft.com/office/drawing/2014/main" id="{87467140-0F74-4886-8094-E9B5BE07C0BC}"/>
              </a:ext>
            </a:extLst>
          </p:cNvPr>
          <p:cNvSpPr>
            <a:spLocks noGrp="1"/>
          </p:cNvSpPr>
          <p:nvPr/>
        </p:nvSpPr>
        <p:spPr>
          <a:xfrm>
            <a:off x="4953000" y="4552950"/>
            <a:ext cx="22860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+0.1</a:t>
            </a:r>
          </a:p>
        </p:txBody>
      </p:sp>
      <p:sp>
        <p:nvSpPr>
          <p:cNvPr id="28" name="矩形 27">
            <a:extLst>
              <a:ext uri="{FF2B5EF4-FFF2-40B4-BE49-F238E27FC236}">
                <a16:creationId xmlns:a16="http://schemas.microsoft.com/office/drawing/2014/main" id="{0203113E-5BDD-418F-A189-8FA5003D7E48}"/>
              </a:ext>
            </a:extLst>
          </p:cNvPr>
          <p:cNvSpPr>
            <a:spLocks noGrp="1"/>
          </p:cNvSpPr>
          <p:nvPr/>
        </p:nvSpPr>
        <p:spPr>
          <a:xfrm>
            <a:off x="495300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重复偏好递增，最高 2.0</a:t>
            </a:r>
          </a:p>
        </p:txBody>
      </p:sp>
      <p:sp>
        <p:nvSpPr>
          <p:cNvPr id="29" name="矩形: 圆角 28">
            <a:extLst>
              <a:ext uri="{FF2B5EF4-FFF2-40B4-BE49-F238E27FC236}">
                <a16:creationId xmlns:a16="http://schemas.microsoft.com/office/drawing/2014/main" id="{8F9A3020-6716-49F2-86F5-6A80EFD7A3E1}"/>
              </a:ext>
            </a:extLst>
          </p:cNvPr>
          <p:cNvSpPr>
            <a:spLocks noGrp="1"/>
          </p:cNvSpPr>
          <p:nvPr/>
        </p:nvSpPr>
        <p:spPr>
          <a:xfrm>
            <a:off x="7829550" y="4095750"/>
            <a:ext cx="2667000" cy="1123950"/>
          </a:xfrm>
          <a:prstGeom prst="roundRect">
            <a:avLst>
              <a:gd name="adj" fmla="val 1695"/>
            </a:avLst>
          </a:prstGeom>
          <a:solidFill>
            <a:srgbClr val="FFFFFF"/>
          </a:solidFill>
          <a:ln w="9525">
            <a:solidFill>
              <a:srgbClr val="E3E6EB"/>
            </a:solidFill>
            <a:prstDash val="solid"/>
          </a:ln>
        </p:spPr>
      </p:sp>
      <p:sp>
        <p:nvSpPr>
          <p:cNvPr id="30" name="矩形 29">
            <a:extLst>
              <a:ext uri="{FF2B5EF4-FFF2-40B4-BE49-F238E27FC236}">
                <a16:creationId xmlns:a16="http://schemas.microsoft.com/office/drawing/2014/main" id="{B924F02B-F3B9-47D3-8684-C17F722C87DA}"/>
              </a:ext>
            </a:extLst>
          </p:cNvPr>
          <p:cNvSpPr>
            <a:spLocks noGrp="1"/>
          </p:cNvSpPr>
          <p:nvPr/>
        </p:nvSpPr>
        <p:spPr>
          <a:xfrm>
            <a:off x="802005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演示用户</a:t>
            </a:r>
          </a:p>
        </p:txBody>
      </p:sp>
      <p:sp>
        <p:nvSpPr>
          <p:cNvPr id="31" name="矩形 30">
            <a:extLst>
              <a:ext uri="{FF2B5EF4-FFF2-40B4-BE49-F238E27FC236}">
                <a16:creationId xmlns:a16="http://schemas.microsoft.com/office/drawing/2014/main" id="{D7B725E2-B017-4408-B2D6-0D00DC4129AE}"/>
              </a:ext>
            </a:extLst>
          </p:cNvPr>
          <p:cNvSpPr>
            <a:spLocks noGrp="1"/>
          </p:cNvSpPr>
          <p:nvPr/>
        </p:nvSpPr>
        <p:spPr>
          <a:xfrm>
            <a:off x="8020050" y="4552950"/>
            <a:ext cx="22860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alice</a:t>
            </a:r>
          </a:p>
        </p:txBody>
      </p:sp>
      <p:sp>
        <p:nvSpPr>
          <p:cNvPr id="32" name="矩形 31">
            <a:extLst>
              <a:ext uri="{FF2B5EF4-FFF2-40B4-BE49-F238E27FC236}">
                <a16:creationId xmlns:a16="http://schemas.microsoft.com/office/drawing/2014/main" id="{A25AFF00-B6D5-421E-9B84-C907ABC83717}"/>
              </a:ext>
            </a:extLst>
          </p:cNvPr>
          <p:cNvSpPr>
            <a:spLocks noGrp="1"/>
          </p:cNvSpPr>
          <p:nvPr/>
        </p:nvSpPr>
        <p:spPr>
          <a:xfrm>
            <a:off x="802005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已存在机械键盘等偏好</a:t>
            </a:r>
          </a:p>
        </p:txBody>
      </p:sp>
      <p:sp>
        <p:nvSpPr>
          <p:cNvPr id="33" name="矩形 32">
            <a:extLst>
              <a:ext uri="{FF2B5EF4-FFF2-40B4-BE49-F238E27FC236}">
                <a16:creationId xmlns:a16="http://schemas.microsoft.com/office/drawing/2014/main" id="{CA1073A5-87D9-4406-92E5-83C9C610976B}"/>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34" name="矩形 33">
            <a:extLst>
              <a:ext uri="{FF2B5EF4-FFF2-40B4-BE49-F238E27FC236}">
                <a16:creationId xmlns:a16="http://schemas.microsoft.com/office/drawing/2014/main" id="{C400349C-F617-4030-ADE6-F05CBC0F295A}"/>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08</a:t>
            </a:r>
          </a:p>
        </p:txBody>
      </p:sp>
    </p:spTree>
    <p:extLst>
      <p:ext uri="{BB962C8B-B14F-4D97-AF65-F5344CB8AC3E}">
        <p14:creationId xmlns:p14="http://schemas.microsoft.com/office/powerpoint/2010/main" val="76051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F79706A2-FA3C-4B91-9F11-B0D6C1D15CCA}"/>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02</a:t>
            </a:r>
          </a:p>
        </p:txBody>
      </p:sp>
      <p:sp>
        <p:nvSpPr>
          <p:cNvPr id="2" name="矩形 1">
            <a:extLst>
              <a:ext uri="{FF2B5EF4-FFF2-40B4-BE49-F238E27FC236}">
                <a16:creationId xmlns:a16="http://schemas.microsoft.com/office/drawing/2014/main" id="{74293E68-0808-4773-AFB4-852CC5197C89}"/>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轻量 RAG 让回答受真实商品知识约束</a:t>
            </a:r>
          </a:p>
        </p:txBody>
      </p:sp>
      <p:sp>
        <p:nvSpPr>
          <p:cNvPr id="3" name="矩形: 圆角 2">
            <a:extLst>
              <a:ext uri="{FF2B5EF4-FFF2-40B4-BE49-F238E27FC236}">
                <a16:creationId xmlns:a16="http://schemas.microsoft.com/office/drawing/2014/main" id="{0047207A-151E-4B46-B8A2-8DE774E01520}"/>
              </a:ext>
            </a:extLst>
          </p:cNvPr>
          <p:cNvSpPr>
            <a:spLocks noGrp="1"/>
          </p:cNvSpPr>
          <p:nvPr/>
        </p:nvSpPr>
        <p:spPr>
          <a:xfrm>
            <a:off x="685800" y="1676400"/>
            <a:ext cx="2324100" cy="1123950"/>
          </a:xfrm>
          <a:prstGeom prst="roundRect">
            <a:avLst>
              <a:gd name="adj" fmla="val 1695"/>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FC66E2B-054F-4E5A-9F40-69F56F3CFDBC}"/>
              </a:ext>
            </a:extLst>
          </p:cNvPr>
          <p:cNvSpPr>
            <a:spLocks noGrp="1"/>
          </p:cNvSpPr>
          <p:nvPr/>
        </p:nvSpPr>
        <p:spPr>
          <a:xfrm>
            <a:off x="8763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知识块总量</a:t>
            </a:r>
          </a:p>
        </p:txBody>
      </p:sp>
      <p:sp>
        <p:nvSpPr>
          <p:cNvPr id="5" name="矩形 4">
            <a:extLst>
              <a:ext uri="{FF2B5EF4-FFF2-40B4-BE49-F238E27FC236}">
                <a16:creationId xmlns:a16="http://schemas.microsoft.com/office/drawing/2014/main" id="{A7F06105-B8A0-4D17-A7FF-BD2FE30BDDEC}"/>
              </a:ext>
            </a:extLst>
          </p:cNvPr>
          <p:cNvSpPr>
            <a:spLocks noGrp="1"/>
          </p:cNvSpPr>
          <p:nvPr/>
        </p:nvSpPr>
        <p:spPr>
          <a:xfrm>
            <a:off x="8763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88</a:t>
            </a:r>
          </a:p>
        </p:txBody>
      </p:sp>
      <p:sp>
        <p:nvSpPr>
          <p:cNvPr id="6" name="矩形 5">
            <a:extLst>
              <a:ext uri="{FF2B5EF4-FFF2-40B4-BE49-F238E27FC236}">
                <a16:creationId xmlns:a16="http://schemas.microsoft.com/office/drawing/2014/main" id="{343DB0F6-ACC6-4985-9CE7-74C5AA689FC8}"/>
              </a:ext>
            </a:extLst>
          </p:cNvPr>
          <p:cNvSpPr>
            <a:spLocks noGrp="1"/>
          </p:cNvSpPr>
          <p:nvPr/>
        </p:nvSpPr>
        <p:spPr>
          <a:xfrm>
            <a:off x="8763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当前 MySQL knowledge_chunk 查询</a:t>
            </a:r>
          </a:p>
        </p:txBody>
      </p:sp>
      <p:sp>
        <p:nvSpPr>
          <p:cNvPr id="7" name="矩形: 圆角 6">
            <a:extLst>
              <a:ext uri="{FF2B5EF4-FFF2-40B4-BE49-F238E27FC236}">
                <a16:creationId xmlns:a16="http://schemas.microsoft.com/office/drawing/2014/main" id="{8196B133-A5DF-4EC9-BBCD-00EB48C03409}"/>
              </a:ext>
            </a:extLst>
          </p:cNvPr>
          <p:cNvSpPr>
            <a:spLocks noGrp="1"/>
          </p:cNvSpPr>
          <p:nvPr/>
        </p:nvSpPr>
        <p:spPr>
          <a:xfrm>
            <a:off x="3276600" y="1676400"/>
            <a:ext cx="2324100" cy="1123950"/>
          </a:xfrm>
          <a:prstGeom prst="roundRect">
            <a:avLst>
              <a:gd name="adj" fmla="val 1695"/>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B6B3AC5C-315F-40F8-A0C4-3D150ABE233E}"/>
              </a:ext>
            </a:extLst>
          </p:cNvPr>
          <p:cNvSpPr>
            <a:spLocks noGrp="1"/>
          </p:cNvSpPr>
          <p:nvPr/>
        </p:nvSpPr>
        <p:spPr>
          <a:xfrm>
            <a:off x="34671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商品块</a:t>
            </a:r>
          </a:p>
        </p:txBody>
      </p:sp>
      <p:sp>
        <p:nvSpPr>
          <p:cNvPr id="9" name="矩形 8">
            <a:extLst>
              <a:ext uri="{FF2B5EF4-FFF2-40B4-BE49-F238E27FC236}">
                <a16:creationId xmlns:a16="http://schemas.microsoft.com/office/drawing/2014/main" id="{D8563117-07D6-4BB9-B66A-B711A0AE71FC}"/>
              </a:ext>
            </a:extLst>
          </p:cNvPr>
          <p:cNvSpPr>
            <a:spLocks noGrp="1"/>
          </p:cNvSpPr>
          <p:nvPr/>
        </p:nvSpPr>
        <p:spPr>
          <a:xfrm>
            <a:off x="34671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60</a:t>
            </a:r>
          </a:p>
        </p:txBody>
      </p:sp>
      <p:sp>
        <p:nvSpPr>
          <p:cNvPr id="10" name="矩形 9">
            <a:extLst>
              <a:ext uri="{FF2B5EF4-FFF2-40B4-BE49-F238E27FC236}">
                <a16:creationId xmlns:a16="http://schemas.microsoft.com/office/drawing/2014/main" id="{AA675486-F0CE-4AFD-B580-73F586B9ED32}"/>
              </a:ext>
            </a:extLst>
          </p:cNvPr>
          <p:cNvSpPr>
            <a:spLocks noGrp="1"/>
          </p:cNvSpPr>
          <p:nvPr/>
        </p:nvSpPr>
        <p:spPr>
          <a:xfrm>
            <a:off x="34671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product source_type</a:t>
            </a:r>
          </a:p>
        </p:txBody>
      </p:sp>
      <p:sp>
        <p:nvSpPr>
          <p:cNvPr id="11" name="矩形: 圆角 10">
            <a:extLst>
              <a:ext uri="{FF2B5EF4-FFF2-40B4-BE49-F238E27FC236}">
                <a16:creationId xmlns:a16="http://schemas.microsoft.com/office/drawing/2014/main" id="{8B5CCE47-CFFD-4D75-9E7A-8B5986E06888}"/>
              </a:ext>
            </a:extLst>
          </p:cNvPr>
          <p:cNvSpPr>
            <a:spLocks noGrp="1"/>
          </p:cNvSpPr>
          <p:nvPr/>
        </p:nvSpPr>
        <p:spPr>
          <a:xfrm>
            <a:off x="5867400" y="1676400"/>
            <a:ext cx="2324100" cy="1123950"/>
          </a:xfrm>
          <a:prstGeom prst="roundRect">
            <a:avLst>
              <a:gd name="adj" fmla="val 1695"/>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70FFCC2C-A23B-422B-8217-3D2B1FE15726}"/>
              </a:ext>
            </a:extLst>
          </p:cNvPr>
          <p:cNvSpPr>
            <a:spLocks noGrp="1"/>
          </p:cNvSpPr>
          <p:nvPr/>
        </p:nvSpPr>
        <p:spPr>
          <a:xfrm>
            <a:off x="60579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评价块</a:t>
            </a:r>
          </a:p>
        </p:txBody>
      </p:sp>
      <p:sp>
        <p:nvSpPr>
          <p:cNvPr id="13" name="矩形 12">
            <a:extLst>
              <a:ext uri="{FF2B5EF4-FFF2-40B4-BE49-F238E27FC236}">
                <a16:creationId xmlns:a16="http://schemas.microsoft.com/office/drawing/2014/main" id="{F91F929B-9B81-41C1-A7C5-62B88054DB85}"/>
              </a:ext>
            </a:extLst>
          </p:cNvPr>
          <p:cNvSpPr>
            <a:spLocks noGrp="1"/>
          </p:cNvSpPr>
          <p:nvPr/>
        </p:nvSpPr>
        <p:spPr>
          <a:xfrm>
            <a:off x="60579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16</a:t>
            </a:r>
          </a:p>
        </p:txBody>
      </p:sp>
      <p:sp>
        <p:nvSpPr>
          <p:cNvPr id="14" name="矩形 13">
            <a:extLst>
              <a:ext uri="{FF2B5EF4-FFF2-40B4-BE49-F238E27FC236}">
                <a16:creationId xmlns:a16="http://schemas.microsoft.com/office/drawing/2014/main" id="{9BD370FF-2BF2-4517-999F-9A51C8C39625}"/>
              </a:ext>
            </a:extLst>
          </p:cNvPr>
          <p:cNvSpPr>
            <a:spLocks noGrp="1"/>
          </p:cNvSpPr>
          <p:nvPr/>
        </p:nvSpPr>
        <p:spPr>
          <a:xfrm>
            <a:off x="60579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review source_type</a:t>
            </a:r>
          </a:p>
        </p:txBody>
      </p:sp>
      <p:sp>
        <p:nvSpPr>
          <p:cNvPr id="15" name="矩形: 圆角 14">
            <a:extLst>
              <a:ext uri="{FF2B5EF4-FFF2-40B4-BE49-F238E27FC236}">
                <a16:creationId xmlns:a16="http://schemas.microsoft.com/office/drawing/2014/main" id="{7005A3CF-7C8D-47B5-9270-72640D3FD308}"/>
              </a:ext>
            </a:extLst>
          </p:cNvPr>
          <p:cNvSpPr>
            <a:spLocks noGrp="1"/>
          </p:cNvSpPr>
          <p:nvPr/>
        </p:nvSpPr>
        <p:spPr>
          <a:xfrm>
            <a:off x="8458200" y="1676400"/>
            <a:ext cx="2324100" cy="1123950"/>
          </a:xfrm>
          <a:prstGeom prst="roundRect">
            <a:avLst>
              <a:gd name="adj" fmla="val 1695"/>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1E81E6A1-FB5A-4D15-8D0B-8F41D8BF915A}"/>
              </a:ext>
            </a:extLst>
          </p:cNvPr>
          <p:cNvSpPr>
            <a:spLocks noGrp="1"/>
          </p:cNvSpPr>
          <p:nvPr/>
        </p:nvSpPr>
        <p:spPr>
          <a:xfrm>
            <a:off x="86487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FAQ 块</a:t>
            </a:r>
          </a:p>
        </p:txBody>
      </p:sp>
      <p:sp>
        <p:nvSpPr>
          <p:cNvPr id="17" name="矩形 16">
            <a:extLst>
              <a:ext uri="{FF2B5EF4-FFF2-40B4-BE49-F238E27FC236}">
                <a16:creationId xmlns:a16="http://schemas.microsoft.com/office/drawing/2014/main" id="{0FD858AA-03DE-405A-8747-72C209499C55}"/>
              </a:ext>
            </a:extLst>
          </p:cNvPr>
          <p:cNvSpPr>
            <a:spLocks noGrp="1"/>
          </p:cNvSpPr>
          <p:nvPr/>
        </p:nvSpPr>
        <p:spPr>
          <a:xfrm>
            <a:off x="86487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12</a:t>
            </a:r>
          </a:p>
        </p:txBody>
      </p:sp>
      <p:sp>
        <p:nvSpPr>
          <p:cNvPr id="18" name="矩形 17">
            <a:extLst>
              <a:ext uri="{FF2B5EF4-FFF2-40B4-BE49-F238E27FC236}">
                <a16:creationId xmlns:a16="http://schemas.microsoft.com/office/drawing/2014/main" id="{5E1AC75A-6F4A-435F-BE5E-97AF9AF112D6}"/>
              </a:ext>
            </a:extLst>
          </p:cNvPr>
          <p:cNvSpPr>
            <a:spLocks noGrp="1"/>
          </p:cNvSpPr>
          <p:nvPr/>
        </p:nvSpPr>
        <p:spPr>
          <a:xfrm>
            <a:off x="86487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faq source_type</a:t>
            </a:r>
          </a:p>
        </p:txBody>
      </p:sp>
      <p:sp>
        <p:nvSpPr>
          <p:cNvPr id="19" name="矩形: 圆角 18">
            <a:extLst>
              <a:ext uri="{FF2B5EF4-FFF2-40B4-BE49-F238E27FC236}">
                <a16:creationId xmlns:a16="http://schemas.microsoft.com/office/drawing/2014/main" id="{806E558E-2391-4BD5-B6BA-939CDEDC3160}"/>
              </a:ext>
            </a:extLst>
          </p:cNvPr>
          <p:cNvSpPr>
            <a:spLocks noGrp="1"/>
          </p:cNvSpPr>
          <p:nvPr/>
        </p:nvSpPr>
        <p:spPr>
          <a:xfrm>
            <a:off x="990600" y="3733800"/>
            <a:ext cx="1809750" cy="781050"/>
          </a:xfrm>
          <a:prstGeom prst="roundRect">
            <a:avLst>
              <a:gd name="adj" fmla="val 2439"/>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430EF404-5D33-4081-9991-D826ACF79C3D}"/>
              </a:ext>
            </a:extLst>
          </p:cNvPr>
          <p:cNvSpPr>
            <a:spLocks noGrp="1"/>
          </p:cNvSpPr>
          <p:nvPr/>
        </p:nvSpPr>
        <p:spPr>
          <a:xfrm>
            <a:off x="1162050" y="3905250"/>
            <a:ext cx="1466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商品描述</a:t>
            </a:r>
          </a:p>
        </p:txBody>
      </p:sp>
      <p:sp>
        <p:nvSpPr>
          <p:cNvPr id="21" name="矩形 20">
            <a:extLst>
              <a:ext uri="{FF2B5EF4-FFF2-40B4-BE49-F238E27FC236}">
                <a16:creationId xmlns:a16="http://schemas.microsoft.com/office/drawing/2014/main" id="{1AC65E0A-9EDC-4F5E-88A6-CB4B9732EE76}"/>
              </a:ext>
            </a:extLst>
          </p:cNvPr>
          <p:cNvSpPr>
            <a:spLocks noGrp="1"/>
          </p:cNvSpPr>
          <p:nvPr/>
        </p:nvSpPr>
        <p:spPr>
          <a:xfrm>
            <a:off x="1162050" y="4210050"/>
            <a:ext cx="1466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product</a:t>
            </a:r>
          </a:p>
        </p:txBody>
      </p:sp>
      <p:sp>
        <p:nvSpPr>
          <p:cNvPr id="22" name="矩形 21">
            <a:extLst>
              <a:ext uri="{FF2B5EF4-FFF2-40B4-BE49-F238E27FC236}">
                <a16:creationId xmlns:a16="http://schemas.microsoft.com/office/drawing/2014/main" id="{08492F46-FAF9-4119-949B-1A9092174605}"/>
              </a:ext>
            </a:extLst>
          </p:cNvPr>
          <p:cNvSpPr>
            <a:spLocks noGrp="1"/>
          </p:cNvSpPr>
          <p:nvPr/>
        </p:nvSpPr>
        <p:spPr>
          <a:xfrm>
            <a:off x="2914650" y="4048125"/>
            <a:ext cx="323850" cy="1905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9E812213-4380-48B9-B957-991ECAB2DDA7}"/>
              </a:ext>
            </a:extLst>
          </p:cNvPr>
          <p:cNvSpPr>
            <a:spLocks noGrp="1"/>
          </p:cNvSpPr>
          <p:nvPr/>
        </p:nvSpPr>
        <p:spPr>
          <a:xfrm>
            <a:off x="32194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4" name="矩形: 圆角 23">
            <a:extLst>
              <a:ext uri="{FF2B5EF4-FFF2-40B4-BE49-F238E27FC236}">
                <a16:creationId xmlns:a16="http://schemas.microsoft.com/office/drawing/2014/main" id="{4E4F7A8B-1195-4817-8FE1-8123437D729C}"/>
              </a:ext>
            </a:extLst>
          </p:cNvPr>
          <p:cNvSpPr>
            <a:spLocks noGrp="1"/>
          </p:cNvSpPr>
          <p:nvPr/>
        </p:nvSpPr>
        <p:spPr>
          <a:xfrm>
            <a:off x="3371850" y="3733800"/>
            <a:ext cx="1809750" cy="781050"/>
          </a:xfrm>
          <a:prstGeom prst="roundRect">
            <a:avLst>
              <a:gd name="adj" fmla="val 2439"/>
            </a:avLst>
          </a:prstGeom>
          <a:solidFill>
            <a:srgbClr val="FFFFFF"/>
          </a:solidFill>
          <a:ln w="9525">
            <a:solidFill>
              <a:srgbClr val="E3E6EB"/>
            </a:solidFill>
            <a:prstDash val="solid"/>
          </a:ln>
        </p:spPr>
      </p:sp>
      <p:sp>
        <p:nvSpPr>
          <p:cNvPr id="25" name="矩形 24">
            <a:extLst>
              <a:ext uri="{FF2B5EF4-FFF2-40B4-BE49-F238E27FC236}">
                <a16:creationId xmlns:a16="http://schemas.microsoft.com/office/drawing/2014/main" id="{CE6DF6D1-7A17-4598-9388-11CFB127B601}"/>
              </a:ext>
            </a:extLst>
          </p:cNvPr>
          <p:cNvSpPr>
            <a:spLocks noGrp="1"/>
          </p:cNvSpPr>
          <p:nvPr/>
        </p:nvSpPr>
        <p:spPr>
          <a:xfrm>
            <a:off x="3543300" y="3905250"/>
            <a:ext cx="1466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评价与 FAQ</a:t>
            </a:r>
          </a:p>
        </p:txBody>
      </p:sp>
      <p:sp>
        <p:nvSpPr>
          <p:cNvPr id="26" name="矩形 25">
            <a:extLst>
              <a:ext uri="{FF2B5EF4-FFF2-40B4-BE49-F238E27FC236}">
                <a16:creationId xmlns:a16="http://schemas.microsoft.com/office/drawing/2014/main" id="{264751BE-5815-4C57-9582-77438E75C955}"/>
              </a:ext>
            </a:extLst>
          </p:cNvPr>
          <p:cNvSpPr>
            <a:spLocks noGrp="1"/>
          </p:cNvSpPr>
          <p:nvPr/>
        </p:nvSpPr>
        <p:spPr>
          <a:xfrm>
            <a:off x="3543300" y="4210050"/>
            <a:ext cx="1466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review / faq</a:t>
            </a:r>
          </a:p>
        </p:txBody>
      </p:sp>
      <p:sp>
        <p:nvSpPr>
          <p:cNvPr id="27" name="矩形 26">
            <a:extLst>
              <a:ext uri="{FF2B5EF4-FFF2-40B4-BE49-F238E27FC236}">
                <a16:creationId xmlns:a16="http://schemas.microsoft.com/office/drawing/2014/main" id="{BF515E19-3B4D-4121-A18E-DAB93DCCB6FC}"/>
              </a:ext>
            </a:extLst>
          </p:cNvPr>
          <p:cNvSpPr>
            <a:spLocks noGrp="1"/>
          </p:cNvSpPr>
          <p:nvPr/>
        </p:nvSpPr>
        <p:spPr>
          <a:xfrm>
            <a:off x="5314950" y="4048125"/>
            <a:ext cx="323850" cy="19050"/>
          </a:xfrm>
          <a:prstGeom prst="rect">
            <a:avLst/>
          </a:prstGeom>
          <a:solidFill>
            <a:srgbClr val="2B45D8"/>
          </a:solidFill>
          <a:ln w="0">
            <a:noFill/>
            <a:prstDash val="solid"/>
          </a:ln>
        </p:spPr>
      </p:sp>
      <p:sp>
        <p:nvSpPr>
          <p:cNvPr id="28" name="矩形 27">
            <a:extLst>
              <a:ext uri="{FF2B5EF4-FFF2-40B4-BE49-F238E27FC236}">
                <a16:creationId xmlns:a16="http://schemas.microsoft.com/office/drawing/2014/main" id="{6AE5237A-9DC7-473C-98A8-DCEBF530D579}"/>
              </a:ext>
            </a:extLst>
          </p:cNvPr>
          <p:cNvSpPr>
            <a:spLocks noGrp="1"/>
          </p:cNvSpPr>
          <p:nvPr/>
        </p:nvSpPr>
        <p:spPr>
          <a:xfrm>
            <a:off x="56197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9" name="矩形: 圆角 28">
            <a:extLst>
              <a:ext uri="{FF2B5EF4-FFF2-40B4-BE49-F238E27FC236}">
                <a16:creationId xmlns:a16="http://schemas.microsoft.com/office/drawing/2014/main" id="{D5C9AAFB-0FFC-452B-A966-075678935B90}"/>
              </a:ext>
            </a:extLst>
          </p:cNvPr>
          <p:cNvSpPr>
            <a:spLocks noGrp="1"/>
          </p:cNvSpPr>
          <p:nvPr/>
        </p:nvSpPr>
        <p:spPr>
          <a:xfrm>
            <a:off x="5772150" y="3733800"/>
            <a:ext cx="2095500" cy="781050"/>
          </a:xfrm>
          <a:prstGeom prst="roundRect">
            <a:avLst>
              <a:gd name="adj" fmla="val 2439"/>
            </a:avLst>
          </a:prstGeom>
          <a:solidFill>
            <a:srgbClr val="2B45D8"/>
          </a:solidFill>
          <a:ln w="9525">
            <a:solidFill>
              <a:srgbClr val="2B45D8"/>
            </a:solidFill>
            <a:prstDash val="solid"/>
          </a:ln>
        </p:spPr>
      </p:sp>
      <p:sp>
        <p:nvSpPr>
          <p:cNvPr id="30" name="矩形 29">
            <a:extLst>
              <a:ext uri="{FF2B5EF4-FFF2-40B4-BE49-F238E27FC236}">
                <a16:creationId xmlns:a16="http://schemas.microsoft.com/office/drawing/2014/main" id="{44CA769D-49C8-48F0-9C3E-F566A1788870}"/>
              </a:ext>
            </a:extLst>
          </p:cNvPr>
          <p:cNvSpPr>
            <a:spLocks noGrp="1"/>
          </p:cNvSpPr>
          <p:nvPr/>
        </p:nvSpPr>
        <p:spPr>
          <a:xfrm>
            <a:off x="5943600" y="3905250"/>
            <a:ext cx="175260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lang="en-US" sz="1250" b="1">
                <a:solidFill>
                  <a:srgbClr val="FFFFFF"/>
                </a:solidFill>
                <a:latin typeface="Microsoft YaHei" panose="020B0503020204020204" pitchFamily="34" charset="-122"/>
                <a:ea typeface="Microsoft YaHei" panose="020B0503020204020204" pitchFamily="34" charset="-122"/>
                <a:cs typeface="Microsoft YaHei"/>
              </a:rPr>
              <a:t>knowledge_chunk</a:t>
            </a:r>
            <a:endParaRPr sz="1250" b="1">
              <a:solidFill>
                <a:srgbClr val="FFFFFF"/>
              </a:solidFill>
              <a:latin typeface="Microsoft YaHei" panose="020B0503020204020204" pitchFamily="34" charset="-122"/>
              <a:ea typeface="Microsoft YaHei" panose="020B0503020204020204" pitchFamily="34" charset="-122"/>
              <a:cs typeface="Microsoft YaHei"/>
            </a:endParaRPr>
          </a:p>
        </p:txBody>
      </p:sp>
      <p:sp>
        <p:nvSpPr>
          <p:cNvPr id="31" name="矩形 30">
            <a:extLst>
              <a:ext uri="{FF2B5EF4-FFF2-40B4-BE49-F238E27FC236}">
                <a16:creationId xmlns:a16="http://schemas.microsoft.com/office/drawing/2014/main" id="{C82390C2-DCAE-4C86-9D2C-179A42EA4AFA}"/>
              </a:ext>
            </a:extLst>
          </p:cNvPr>
          <p:cNvSpPr>
            <a:spLocks noGrp="1"/>
          </p:cNvSpPr>
          <p:nvPr/>
        </p:nvSpPr>
        <p:spPr>
          <a:xfrm>
            <a:off x="5943600" y="4210050"/>
            <a:ext cx="175260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lang="zh-CN" altLang="en-US" sz="950" b="0">
                <a:solidFill>
                  <a:srgbClr val="DCE3FF"/>
                </a:solidFill>
                <a:latin typeface="Microsoft YaHei" panose="020B0503020204020204" pitchFamily="34" charset="-122"/>
                <a:ea typeface="Microsoft YaHei" panose="020B0503020204020204" pitchFamily="34" charset="-122"/>
                <a:cs typeface="Microsoft YaHei"/>
              </a:rPr>
              <a:t>轻量知识表</a:t>
            </a:r>
            <a:endParaRPr sz="950" b="0">
              <a:solidFill>
                <a:srgbClr val="DCE3FF"/>
              </a:solidFill>
              <a:latin typeface="Microsoft YaHei" panose="020B0503020204020204" pitchFamily="34" charset="-122"/>
              <a:ea typeface="Microsoft YaHei" panose="020B0503020204020204" pitchFamily="34" charset="-122"/>
              <a:cs typeface="Microsoft YaHei"/>
            </a:endParaRPr>
          </a:p>
        </p:txBody>
      </p:sp>
      <p:sp>
        <p:nvSpPr>
          <p:cNvPr id="32" name="矩形 31">
            <a:extLst>
              <a:ext uri="{FF2B5EF4-FFF2-40B4-BE49-F238E27FC236}">
                <a16:creationId xmlns:a16="http://schemas.microsoft.com/office/drawing/2014/main" id="{FF97F219-B4E7-4FDB-ACA8-2EF6058E5FAB}"/>
              </a:ext>
            </a:extLst>
          </p:cNvPr>
          <p:cNvSpPr>
            <a:spLocks noGrp="1"/>
          </p:cNvSpPr>
          <p:nvPr/>
        </p:nvSpPr>
        <p:spPr>
          <a:xfrm>
            <a:off x="8020050" y="4048125"/>
            <a:ext cx="323850" cy="19050"/>
          </a:xfrm>
          <a:prstGeom prst="rect">
            <a:avLst/>
          </a:prstGeom>
          <a:solidFill>
            <a:srgbClr val="2B45D8"/>
          </a:solidFill>
          <a:ln w="0">
            <a:noFill/>
            <a:prstDash val="solid"/>
          </a:ln>
        </p:spPr>
      </p:sp>
      <p:sp>
        <p:nvSpPr>
          <p:cNvPr id="33" name="矩形 32">
            <a:extLst>
              <a:ext uri="{FF2B5EF4-FFF2-40B4-BE49-F238E27FC236}">
                <a16:creationId xmlns:a16="http://schemas.microsoft.com/office/drawing/2014/main" id="{EE52638D-2AA9-45B4-B823-A97A03577166}"/>
              </a:ext>
            </a:extLst>
          </p:cNvPr>
          <p:cNvSpPr>
            <a:spLocks noGrp="1"/>
          </p:cNvSpPr>
          <p:nvPr/>
        </p:nvSpPr>
        <p:spPr>
          <a:xfrm>
            <a:off x="83248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34" name="矩形: 圆角 33">
            <a:extLst>
              <a:ext uri="{FF2B5EF4-FFF2-40B4-BE49-F238E27FC236}">
                <a16:creationId xmlns:a16="http://schemas.microsoft.com/office/drawing/2014/main" id="{CE578F97-6811-482F-8FA0-B2631B2B3302}"/>
              </a:ext>
            </a:extLst>
          </p:cNvPr>
          <p:cNvSpPr>
            <a:spLocks noGrp="1"/>
          </p:cNvSpPr>
          <p:nvPr/>
        </p:nvSpPr>
        <p:spPr>
          <a:xfrm>
            <a:off x="8496300" y="3733800"/>
            <a:ext cx="2286000" cy="781050"/>
          </a:xfrm>
          <a:prstGeom prst="roundRect">
            <a:avLst>
              <a:gd name="adj" fmla="val 2439"/>
            </a:avLst>
          </a:prstGeom>
          <a:solidFill>
            <a:srgbClr val="FFFFFF"/>
          </a:solidFill>
          <a:ln w="9525">
            <a:solidFill>
              <a:srgbClr val="E3E6EB"/>
            </a:solidFill>
            <a:prstDash val="solid"/>
          </a:ln>
        </p:spPr>
      </p:sp>
      <p:sp>
        <p:nvSpPr>
          <p:cNvPr id="35" name="矩形 34">
            <a:extLst>
              <a:ext uri="{FF2B5EF4-FFF2-40B4-BE49-F238E27FC236}">
                <a16:creationId xmlns:a16="http://schemas.microsoft.com/office/drawing/2014/main" id="{B3982BC1-66D4-41FE-A9CC-E898A511E318}"/>
              </a:ext>
            </a:extLst>
          </p:cNvPr>
          <p:cNvSpPr>
            <a:spLocks noGrp="1"/>
          </p:cNvSpPr>
          <p:nvPr/>
        </p:nvSpPr>
        <p:spPr>
          <a:xfrm>
            <a:off x="8667750" y="3905250"/>
            <a:ext cx="194310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知识检索工具</a:t>
            </a:r>
            <a:endParaRPr sz="15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6" name="矩形 35">
            <a:extLst>
              <a:ext uri="{FF2B5EF4-FFF2-40B4-BE49-F238E27FC236}">
                <a16:creationId xmlns:a16="http://schemas.microsoft.com/office/drawing/2014/main" id="{89537E8A-6669-41ED-88DE-9F4BB8B80A73}"/>
              </a:ext>
            </a:extLst>
          </p:cNvPr>
          <p:cNvSpPr>
            <a:spLocks noGrp="1"/>
          </p:cNvSpPr>
          <p:nvPr/>
        </p:nvSpPr>
        <p:spPr>
          <a:xfrm>
            <a:off x="8667750" y="4210050"/>
            <a:ext cx="194310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lang="en-US" sz="875" b="0">
                <a:solidFill>
                  <a:srgbClr val="6B7280"/>
                </a:solidFill>
                <a:latin typeface="Microsoft YaHei" panose="020B0503020204020204" pitchFamily="34" charset="-122"/>
                <a:ea typeface="Microsoft YaHei" panose="020B0503020204020204" pitchFamily="34" charset="-122"/>
                <a:cs typeface="Microsoft YaHei"/>
              </a:rPr>
              <a:t>search_knowledge_base</a:t>
            </a:r>
            <a:endParaRPr sz="87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7" name="矩形 36">
            <a:extLst>
              <a:ext uri="{FF2B5EF4-FFF2-40B4-BE49-F238E27FC236}">
                <a16:creationId xmlns:a16="http://schemas.microsoft.com/office/drawing/2014/main" id="{97D9DE24-AD05-40CE-98C0-4249849BEC49}"/>
              </a:ext>
            </a:extLst>
          </p:cNvPr>
          <p:cNvSpPr>
            <a:spLocks noGrp="1"/>
          </p:cNvSpPr>
          <p:nvPr/>
        </p:nvSpPr>
        <p:spPr>
          <a:xfrm>
            <a:off x="1181100" y="5219700"/>
            <a:ext cx="9334500" cy="285750"/>
          </a:xfrm>
          <a:prstGeom prst="rect">
            <a:avLst/>
          </a:prstGeom>
          <a:noFill/>
          <a:ln w="0">
            <a:noFill/>
            <a:prstDash val="solid"/>
          </a:ln>
        </p:spPr>
        <p:txBody>
          <a:bodyPr/>
          <a:lstStyle/>
          <a:p>
            <a:pPr algn="ctr">
              <a:defRPr sz="1500" b="0">
                <a:solidFill>
                  <a:srgbClr val="111318"/>
                </a:solidFill>
                <a:latin typeface="Microsoft YaHei"/>
                <a:ea typeface="Microsoft YaHei"/>
                <a:cs typeface="Microsoft YaHei"/>
              </a:defRPr>
            </a:pPr>
            <a:r>
              <a:rPr sz="1500" b="0">
                <a:solidFill>
                  <a:srgbClr val="111318"/>
                </a:solidFill>
                <a:latin typeface="Microsoft YaHei"/>
                <a:ea typeface="Microsoft YaHei"/>
                <a:cs typeface="Microsoft YaHei"/>
              </a:rPr>
              <a:t>RAG 在这里不是向量数据库大工程，而是围绕商品、评价和 FAQ 的可演示轻量检索。</a:t>
            </a:r>
          </a:p>
        </p:txBody>
      </p:sp>
      <p:sp>
        <p:nvSpPr>
          <p:cNvPr id="38" name="矩形 37">
            <a:extLst>
              <a:ext uri="{FF2B5EF4-FFF2-40B4-BE49-F238E27FC236}">
                <a16:creationId xmlns:a16="http://schemas.microsoft.com/office/drawing/2014/main" id="{ABA6338C-14B0-451B-B57D-922E5A3B09F1}"/>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39" name="矩形 38">
            <a:extLst>
              <a:ext uri="{FF2B5EF4-FFF2-40B4-BE49-F238E27FC236}">
                <a16:creationId xmlns:a16="http://schemas.microsoft.com/office/drawing/2014/main" id="{189D1A20-C0E8-4CD0-A2C9-DC643B4ED06B}"/>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09</a:t>
            </a:r>
          </a:p>
        </p:txBody>
      </p:sp>
    </p:spTree>
    <p:extLst>
      <p:ext uri="{BB962C8B-B14F-4D97-AF65-F5344CB8AC3E}">
        <p14:creationId xmlns:p14="http://schemas.microsoft.com/office/powerpoint/2010/main" val="33637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764B9C63-049E-493F-AD27-983789D3337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03</a:t>
            </a:r>
          </a:p>
        </p:txBody>
      </p:sp>
      <p:sp>
        <p:nvSpPr>
          <p:cNvPr id="2" name="矩形 1">
            <a:extLst>
              <a:ext uri="{FF2B5EF4-FFF2-40B4-BE49-F238E27FC236}">
                <a16:creationId xmlns:a16="http://schemas.microsoft.com/office/drawing/2014/main" id="{A1522CD1-0956-45DB-9EC5-38FC51DEFAEC}"/>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结构化 </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工作台：从问答走到可确认的购买方案</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2">
            <a:extLst>
              <a:ext uri="{FF2B5EF4-FFF2-40B4-BE49-F238E27FC236}">
                <a16:creationId xmlns:a16="http://schemas.microsoft.com/office/drawing/2014/main" id="{B49FE402-E728-4BC3-A201-E42B1146E68E}"/>
              </a:ext>
            </a:extLst>
          </p:cNvPr>
          <p:cNvSpPr>
            <a:spLocks noGrp="1"/>
          </p:cNvSpPr>
          <p:nvPr/>
        </p:nvSpPr>
        <p:spPr>
          <a:xfrm>
            <a:off x="7810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1</a:t>
            </a:r>
          </a:p>
        </p:txBody>
      </p:sp>
      <p:sp>
        <p:nvSpPr>
          <p:cNvPr id="4" name="矩形: 圆角 3">
            <a:extLst>
              <a:ext uri="{FF2B5EF4-FFF2-40B4-BE49-F238E27FC236}">
                <a16:creationId xmlns:a16="http://schemas.microsoft.com/office/drawing/2014/main" id="{867CBEF9-FB0B-4A06-8F1C-2C15FEB62B8F}"/>
              </a:ext>
            </a:extLst>
          </p:cNvPr>
          <p:cNvSpPr>
            <a:spLocks noGrp="1"/>
          </p:cNvSpPr>
          <p:nvPr/>
        </p:nvSpPr>
        <p:spPr>
          <a:xfrm>
            <a:off x="685800" y="1866900"/>
            <a:ext cx="685800" cy="685800"/>
          </a:xfrm>
          <a:prstGeom prst="roundRect">
            <a:avLst>
              <a:gd name="adj" fmla="val 2778"/>
            </a:avLst>
          </a:prstGeom>
          <a:solidFill>
            <a:srgbClr val="2B45D8"/>
          </a:solidFill>
          <a:ln w="9525">
            <a:solidFill>
              <a:srgbClr val="2B45D8"/>
            </a:solidFill>
            <a:prstDash val="solid"/>
          </a:ln>
        </p:spPr>
      </p:sp>
      <p:sp>
        <p:nvSpPr>
          <p:cNvPr id="5" name="矩形 4">
            <a:extLst>
              <a:ext uri="{FF2B5EF4-FFF2-40B4-BE49-F238E27FC236}">
                <a16:creationId xmlns:a16="http://schemas.microsoft.com/office/drawing/2014/main" id="{446A94AF-04AB-48DE-9279-59C87B9499F7}"/>
              </a:ext>
            </a:extLst>
          </p:cNvPr>
          <p:cNvSpPr>
            <a:spLocks noGrp="1"/>
          </p:cNvSpPr>
          <p:nvPr/>
        </p:nvSpPr>
        <p:spPr>
          <a:xfrm>
            <a:off x="7810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1</a:t>
            </a:r>
          </a:p>
        </p:txBody>
      </p:sp>
      <p:sp>
        <p:nvSpPr>
          <p:cNvPr id="6" name="矩形 5">
            <a:extLst>
              <a:ext uri="{FF2B5EF4-FFF2-40B4-BE49-F238E27FC236}">
                <a16:creationId xmlns:a16="http://schemas.microsoft.com/office/drawing/2014/main" id="{AE5CBB07-5DF0-496B-BF98-D170EDBE6507}"/>
              </a:ext>
            </a:extLst>
          </p:cNvPr>
          <p:cNvSpPr>
            <a:spLocks noGrp="1"/>
          </p:cNvSpPr>
          <p:nvPr/>
        </p:nvSpPr>
        <p:spPr>
          <a:xfrm>
            <a:off x="5524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识别场景</a:t>
            </a:r>
          </a:p>
        </p:txBody>
      </p:sp>
      <p:sp>
        <p:nvSpPr>
          <p:cNvPr id="7" name="矩形 6">
            <a:extLst>
              <a:ext uri="{FF2B5EF4-FFF2-40B4-BE49-F238E27FC236}">
                <a16:creationId xmlns:a16="http://schemas.microsoft.com/office/drawing/2014/main" id="{0CD72B72-63D9-41D8-8116-A42AA87E5A90}"/>
              </a:ext>
            </a:extLst>
          </p:cNvPr>
          <p:cNvSpPr>
            <a:spLocks noGrp="1"/>
          </p:cNvSpPr>
          <p:nvPr/>
        </p:nvSpPr>
        <p:spPr>
          <a:xfrm>
            <a:off x="3810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户外跑步 </a:t>
            </a:r>
            <a:r>
              <a:rPr lang="en-US" altLang="zh-CN" sz="12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新手 </a:t>
            </a:r>
            <a:r>
              <a:rPr lang="en-US" altLang="zh-CN" sz="12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预算缺失</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8" name="矩形 7">
            <a:extLst>
              <a:ext uri="{FF2B5EF4-FFF2-40B4-BE49-F238E27FC236}">
                <a16:creationId xmlns:a16="http://schemas.microsoft.com/office/drawing/2014/main" id="{3396D736-C7ED-409B-94B0-AB671F719D25}"/>
              </a:ext>
            </a:extLst>
          </p:cNvPr>
          <p:cNvSpPr>
            <a:spLocks noGrp="1"/>
          </p:cNvSpPr>
          <p:nvPr/>
        </p:nvSpPr>
        <p:spPr>
          <a:xfrm>
            <a:off x="1543050" y="2219325"/>
            <a:ext cx="571500" cy="19050"/>
          </a:xfrm>
          <a:prstGeom prst="rect">
            <a:avLst/>
          </a:prstGeom>
          <a:solidFill>
            <a:srgbClr val="2B45D8"/>
          </a:solidFill>
          <a:ln w="0">
            <a:noFill/>
            <a:prstDash val="solid"/>
          </a:ln>
        </p:spPr>
      </p:sp>
      <p:sp>
        <p:nvSpPr>
          <p:cNvPr id="9" name="矩形 8">
            <a:extLst>
              <a:ext uri="{FF2B5EF4-FFF2-40B4-BE49-F238E27FC236}">
                <a16:creationId xmlns:a16="http://schemas.microsoft.com/office/drawing/2014/main" id="{7FCBEE49-D437-4044-AEEF-BD228F0B89A3}"/>
              </a:ext>
            </a:extLst>
          </p:cNvPr>
          <p:cNvSpPr>
            <a:spLocks noGrp="1"/>
          </p:cNvSpPr>
          <p:nvPr/>
        </p:nvSpPr>
        <p:spPr>
          <a:xfrm>
            <a:off x="209550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0" name="矩形 9">
            <a:extLst>
              <a:ext uri="{FF2B5EF4-FFF2-40B4-BE49-F238E27FC236}">
                <a16:creationId xmlns:a16="http://schemas.microsoft.com/office/drawing/2014/main" id="{74018E71-447A-42B8-9260-226D95563344}"/>
              </a:ext>
            </a:extLst>
          </p:cNvPr>
          <p:cNvSpPr>
            <a:spLocks noGrp="1"/>
          </p:cNvSpPr>
          <p:nvPr/>
        </p:nvSpPr>
        <p:spPr>
          <a:xfrm>
            <a:off x="297180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2</a:t>
            </a:r>
          </a:p>
        </p:txBody>
      </p:sp>
      <p:sp>
        <p:nvSpPr>
          <p:cNvPr id="11" name="矩形: 圆角 10">
            <a:extLst>
              <a:ext uri="{FF2B5EF4-FFF2-40B4-BE49-F238E27FC236}">
                <a16:creationId xmlns:a16="http://schemas.microsoft.com/office/drawing/2014/main" id="{4F21EF3A-86E8-4AD8-BC27-00F179EA9EAA}"/>
              </a:ext>
            </a:extLst>
          </p:cNvPr>
          <p:cNvSpPr>
            <a:spLocks noGrp="1"/>
          </p:cNvSpPr>
          <p:nvPr/>
        </p:nvSpPr>
        <p:spPr>
          <a:xfrm>
            <a:off x="2876550" y="1866900"/>
            <a:ext cx="685800" cy="685800"/>
          </a:xfrm>
          <a:prstGeom prst="roundRect">
            <a:avLst>
              <a:gd name="adj" fmla="val 2778"/>
            </a:avLst>
          </a:prstGeom>
          <a:solidFill>
            <a:srgbClr val="2B45D8"/>
          </a:solidFill>
          <a:ln w="9525">
            <a:solidFill>
              <a:srgbClr val="2B45D8"/>
            </a:solidFill>
            <a:prstDash val="solid"/>
          </a:ln>
        </p:spPr>
      </p:sp>
      <p:sp>
        <p:nvSpPr>
          <p:cNvPr id="12" name="矩形 11">
            <a:extLst>
              <a:ext uri="{FF2B5EF4-FFF2-40B4-BE49-F238E27FC236}">
                <a16:creationId xmlns:a16="http://schemas.microsoft.com/office/drawing/2014/main" id="{153C8284-71A4-442E-BA53-79939ADF24A9}"/>
              </a:ext>
            </a:extLst>
          </p:cNvPr>
          <p:cNvSpPr>
            <a:spLocks noGrp="1"/>
          </p:cNvSpPr>
          <p:nvPr/>
        </p:nvSpPr>
        <p:spPr>
          <a:xfrm>
            <a:off x="297180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2</a:t>
            </a:r>
          </a:p>
        </p:txBody>
      </p:sp>
      <p:sp>
        <p:nvSpPr>
          <p:cNvPr id="13" name="矩形 12">
            <a:extLst>
              <a:ext uri="{FF2B5EF4-FFF2-40B4-BE49-F238E27FC236}">
                <a16:creationId xmlns:a16="http://schemas.microsoft.com/office/drawing/2014/main" id="{561C1AD0-7FB1-4A01-9FE1-B47A190BB919}"/>
              </a:ext>
            </a:extLst>
          </p:cNvPr>
          <p:cNvSpPr>
            <a:spLocks noGrp="1"/>
          </p:cNvSpPr>
          <p:nvPr/>
        </p:nvSpPr>
        <p:spPr>
          <a:xfrm>
            <a:off x="274320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单轮澄清</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AF2A6D44-DE23-4180-9ED0-024630761B13}"/>
              </a:ext>
            </a:extLst>
          </p:cNvPr>
          <p:cNvSpPr>
            <a:spLocks noGrp="1"/>
          </p:cNvSpPr>
          <p:nvPr/>
        </p:nvSpPr>
        <p:spPr>
          <a:xfrm>
            <a:off x="257175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只追问缺失预算，不调用工具</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44A8CAF4-C4C9-4797-A935-F06A6F07C21C}"/>
              </a:ext>
            </a:extLst>
          </p:cNvPr>
          <p:cNvSpPr>
            <a:spLocks noGrp="1"/>
          </p:cNvSpPr>
          <p:nvPr/>
        </p:nvSpPr>
        <p:spPr>
          <a:xfrm>
            <a:off x="3733800" y="2219325"/>
            <a:ext cx="571500" cy="1905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0FB5F81B-56FB-4F45-B0CB-1E7C6B45F4B4}"/>
              </a:ext>
            </a:extLst>
          </p:cNvPr>
          <p:cNvSpPr>
            <a:spLocks noGrp="1"/>
          </p:cNvSpPr>
          <p:nvPr/>
        </p:nvSpPr>
        <p:spPr>
          <a:xfrm>
            <a:off x="428625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7" name="矩形 16">
            <a:extLst>
              <a:ext uri="{FF2B5EF4-FFF2-40B4-BE49-F238E27FC236}">
                <a16:creationId xmlns:a16="http://schemas.microsoft.com/office/drawing/2014/main" id="{942FFD04-63AE-4B1D-8EA3-7C9325C4DBF9}"/>
              </a:ext>
            </a:extLst>
          </p:cNvPr>
          <p:cNvSpPr>
            <a:spLocks noGrp="1"/>
          </p:cNvSpPr>
          <p:nvPr/>
        </p:nvSpPr>
        <p:spPr>
          <a:xfrm>
            <a:off x="51625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3</a:t>
            </a:r>
          </a:p>
        </p:txBody>
      </p:sp>
      <p:sp>
        <p:nvSpPr>
          <p:cNvPr id="18" name="矩形: 圆角 17">
            <a:extLst>
              <a:ext uri="{FF2B5EF4-FFF2-40B4-BE49-F238E27FC236}">
                <a16:creationId xmlns:a16="http://schemas.microsoft.com/office/drawing/2014/main" id="{9A765FAA-37C5-49E1-B66C-46A59EDB4006}"/>
              </a:ext>
            </a:extLst>
          </p:cNvPr>
          <p:cNvSpPr>
            <a:spLocks noGrp="1"/>
          </p:cNvSpPr>
          <p:nvPr/>
        </p:nvSpPr>
        <p:spPr>
          <a:xfrm>
            <a:off x="5067300" y="1866900"/>
            <a:ext cx="685800" cy="685800"/>
          </a:xfrm>
          <a:prstGeom prst="roundRect">
            <a:avLst>
              <a:gd name="adj" fmla="val 2778"/>
            </a:avLst>
          </a:prstGeom>
          <a:solidFill>
            <a:srgbClr val="2B45D8"/>
          </a:solidFill>
          <a:ln w="9525">
            <a:solidFill>
              <a:srgbClr val="2B45D8"/>
            </a:solidFill>
            <a:prstDash val="solid"/>
          </a:ln>
        </p:spPr>
      </p:sp>
      <p:sp>
        <p:nvSpPr>
          <p:cNvPr id="19" name="矩形 18">
            <a:extLst>
              <a:ext uri="{FF2B5EF4-FFF2-40B4-BE49-F238E27FC236}">
                <a16:creationId xmlns:a16="http://schemas.microsoft.com/office/drawing/2014/main" id="{FF6C680A-065C-4076-A422-8DEABF07E123}"/>
              </a:ext>
            </a:extLst>
          </p:cNvPr>
          <p:cNvSpPr>
            <a:spLocks noGrp="1"/>
          </p:cNvSpPr>
          <p:nvPr/>
        </p:nvSpPr>
        <p:spPr>
          <a:xfrm>
            <a:off x="51625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3</a:t>
            </a:r>
          </a:p>
        </p:txBody>
      </p:sp>
      <p:sp>
        <p:nvSpPr>
          <p:cNvPr id="20" name="矩形 19">
            <a:extLst>
              <a:ext uri="{FF2B5EF4-FFF2-40B4-BE49-F238E27FC236}">
                <a16:creationId xmlns:a16="http://schemas.microsoft.com/office/drawing/2014/main" id="{B2729927-8B95-40A1-8117-9632E558196A}"/>
              </a:ext>
            </a:extLst>
          </p:cNvPr>
          <p:cNvSpPr>
            <a:spLocks noGrp="1"/>
          </p:cNvSpPr>
          <p:nvPr/>
        </p:nvSpPr>
        <p:spPr>
          <a:xfrm>
            <a:off x="49339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检索核验</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19D48AAB-8227-4208-BCD2-04B37F681716}"/>
              </a:ext>
            </a:extLst>
          </p:cNvPr>
          <p:cNvSpPr>
            <a:spLocks noGrp="1"/>
          </p:cNvSpPr>
          <p:nvPr/>
        </p:nvSpPr>
        <p:spPr>
          <a:xfrm>
            <a:off x="47625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search_products + knowledge_base</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16325E46-26C8-4190-9F4F-62BEAD393E56}"/>
              </a:ext>
            </a:extLst>
          </p:cNvPr>
          <p:cNvSpPr>
            <a:spLocks noGrp="1"/>
          </p:cNvSpPr>
          <p:nvPr/>
        </p:nvSpPr>
        <p:spPr>
          <a:xfrm>
            <a:off x="5924550" y="2219325"/>
            <a:ext cx="571500" cy="1905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715D2DDA-F6FD-4546-8B31-C23D8F277D57}"/>
              </a:ext>
            </a:extLst>
          </p:cNvPr>
          <p:cNvSpPr>
            <a:spLocks noGrp="1"/>
          </p:cNvSpPr>
          <p:nvPr/>
        </p:nvSpPr>
        <p:spPr>
          <a:xfrm>
            <a:off x="647700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4" name="矩形 23">
            <a:extLst>
              <a:ext uri="{FF2B5EF4-FFF2-40B4-BE49-F238E27FC236}">
                <a16:creationId xmlns:a16="http://schemas.microsoft.com/office/drawing/2014/main" id="{4CFF104F-2798-4F66-93B3-A029297987FB}"/>
              </a:ext>
            </a:extLst>
          </p:cNvPr>
          <p:cNvSpPr>
            <a:spLocks noGrp="1"/>
          </p:cNvSpPr>
          <p:nvPr/>
        </p:nvSpPr>
        <p:spPr>
          <a:xfrm>
            <a:off x="735330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4</a:t>
            </a:r>
          </a:p>
        </p:txBody>
      </p:sp>
      <p:sp>
        <p:nvSpPr>
          <p:cNvPr id="25" name="矩形: 圆角 24">
            <a:extLst>
              <a:ext uri="{FF2B5EF4-FFF2-40B4-BE49-F238E27FC236}">
                <a16:creationId xmlns:a16="http://schemas.microsoft.com/office/drawing/2014/main" id="{DAA1B62F-3D61-44BD-8766-F85A2C539C76}"/>
              </a:ext>
            </a:extLst>
          </p:cNvPr>
          <p:cNvSpPr>
            <a:spLocks noGrp="1"/>
          </p:cNvSpPr>
          <p:nvPr/>
        </p:nvSpPr>
        <p:spPr>
          <a:xfrm>
            <a:off x="7258050" y="1866900"/>
            <a:ext cx="685800" cy="685800"/>
          </a:xfrm>
          <a:prstGeom prst="roundRect">
            <a:avLst>
              <a:gd name="adj" fmla="val 2778"/>
            </a:avLst>
          </a:prstGeom>
          <a:solidFill>
            <a:srgbClr val="2B45D8"/>
          </a:solidFill>
          <a:ln w="9525">
            <a:solidFill>
              <a:srgbClr val="2B45D8"/>
            </a:solidFill>
            <a:prstDash val="solid"/>
          </a:ln>
        </p:spPr>
      </p:sp>
      <p:sp>
        <p:nvSpPr>
          <p:cNvPr id="26" name="矩形 25">
            <a:extLst>
              <a:ext uri="{FF2B5EF4-FFF2-40B4-BE49-F238E27FC236}">
                <a16:creationId xmlns:a16="http://schemas.microsoft.com/office/drawing/2014/main" id="{8BCCE589-8597-4C78-8FD8-F1E0770CC21A}"/>
              </a:ext>
            </a:extLst>
          </p:cNvPr>
          <p:cNvSpPr>
            <a:spLocks noGrp="1"/>
          </p:cNvSpPr>
          <p:nvPr/>
        </p:nvSpPr>
        <p:spPr>
          <a:xfrm>
            <a:off x="735330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4</a:t>
            </a:r>
          </a:p>
        </p:txBody>
      </p:sp>
      <p:sp>
        <p:nvSpPr>
          <p:cNvPr id="27" name="矩形 26">
            <a:extLst>
              <a:ext uri="{FF2B5EF4-FFF2-40B4-BE49-F238E27FC236}">
                <a16:creationId xmlns:a16="http://schemas.microsoft.com/office/drawing/2014/main" id="{D7CCE755-2311-4E0A-AE33-0A2016A32875}"/>
              </a:ext>
            </a:extLst>
          </p:cNvPr>
          <p:cNvSpPr>
            <a:spLocks noGrp="1"/>
          </p:cNvSpPr>
          <p:nvPr/>
        </p:nvSpPr>
        <p:spPr>
          <a:xfrm>
            <a:off x="712470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生成方案</a:t>
            </a:r>
          </a:p>
        </p:txBody>
      </p:sp>
      <p:sp>
        <p:nvSpPr>
          <p:cNvPr id="28" name="矩形 27">
            <a:extLst>
              <a:ext uri="{FF2B5EF4-FFF2-40B4-BE49-F238E27FC236}">
                <a16:creationId xmlns:a16="http://schemas.microsoft.com/office/drawing/2014/main" id="{7A479ED4-5265-4E37-8CAB-1472A071EC56}"/>
              </a:ext>
            </a:extLst>
          </p:cNvPr>
          <p:cNvSpPr>
            <a:spLocks noGrp="1"/>
          </p:cNvSpPr>
          <p:nvPr/>
        </p:nvSpPr>
        <p:spPr>
          <a:xfrm>
            <a:off x="695325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build_purchase_plan + productCards</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9" name="矩形 28">
            <a:extLst>
              <a:ext uri="{FF2B5EF4-FFF2-40B4-BE49-F238E27FC236}">
                <a16:creationId xmlns:a16="http://schemas.microsoft.com/office/drawing/2014/main" id="{68A57B30-8DB5-4191-B941-4E385FEE0406}"/>
              </a:ext>
            </a:extLst>
          </p:cNvPr>
          <p:cNvSpPr>
            <a:spLocks noGrp="1"/>
          </p:cNvSpPr>
          <p:nvPr/>
        </p:nvSpPr>
        <p:spPr>
          <a:xfrm>
            <a:off x="8115300" y="2219325"/>
            <a:ext cx="571500" cy="19050"/>
          </a:xfrm>
          <a:prstGeom prst="rect">
            <a:avLst/>
          </a:prstGeom>
          <a:solidFill>
            <a:srgbClr val="2B45D8"/>
          </a:solidFill>
          <a:ln w="0">
            <a:noFill/>
            <a:prstDash val="solid"/>
          </a:ln>
        </p:spPr>
      </p:sp>
      <p:sp>
        <p:nvSpPr>
          <p:cNvPr id="30" name="矩形 29">
            <a:extLst>
              <a:ext uri="{FF2B5EF4-FFF2-40B4-BE49-F238E27FC236}">
                <a16:creationId xmlns:a16="http://schemas.microsoft.com/office/drawing/2014/main" id="{561831A7-5718-40E1-B7B8-35CFA18D3531}"/>
              </a:ext>
            </a:extLst>
          </p:cNvPr>
          <p:cNvSpPr>
            <a:spLocks noGrp="1"/>
          </p:cNvSpPr>
          <p:nvPr/>
        </p:nvSpPr>
        <p:spPr>
          <a:xfrm>
            <a:off x="866775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31" name="矩形 30">
            <a:extLst>
              <a:ext uri="{FF2B5EF4-FFF2-40B4-BE49-F238E27FC236}">
                <a16:creationId xmlns:a16="http://schemas.microsoft.com/office/drawing/2014/main" id="{32DF167D-E5B1-47C3-B0EF-0FF7B9477F5D}"/>
              </a:ext>
            </a:extLst>
          </p:cNvPr>
          <p:cNvSpPr>
            <a:spLocks noGrp="1"/>
          </p:cNvSpPr>
          <p:nvPr/>
        </p:nvSpPr>
        <p:spPr>
          <a:xfrm>
            <a:off x="95440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5</a:t>
            </a:r>
          </a:p>
        </p:txBody>
      </p:sp>
      <p:sp>
        <p:nvSpPr>
          <p:cNvPr id="32" name="矩形: 圆角 31">
            <a:extLst>
              <a:ext uri="{FF2B5EF4-FFF2-40B4-BE49-F238E27FC236}">
                <a16:creationId xmlns:a16="http://schemas.microsoft.com/office/drawing/2014/main" id="{AC467FB8-0138-4A26-B071-4CE791D34EF2}"/>
              </a:ext>
            </a:extLst>
          </p:cNvPr>
          <p:cNvSpPr>
            <a:spLocks noGrp="1"/>
          </p:cNvSpPr>
          <p:nvPr/>
        </p:nvSpPr>
        <p:spPr>
          <a:xfrm>
            <a:off x="9448800" y="1866900"/>
            <a:ext cx="685800" cy="685800"/>
          </a:xfrm>
          <a:prstGeom prst="roundRect">
            <a:avLst>
              <a:gd name="adj" fmla="val 2778"/>
            </a:avLst>
          </a:prstGeom>
          <a:solidFill>
            <a:srgbClr val="2B45D8"/>
          </a:solidFill>
          <a:ln w="9525">
            <a:solidFill>
              <a:srgbClr val="2B45D8"/>
            </a:solidFill>
            <a:prstDash val="solid"/>
          </a:ln>
        </p:spPr>
      </p:sp>
      <p:sp>
        <p:nvSpPr>
          <p:cNvPr id="33" name="矩形 32">
            <a:extLst>
              <a:ext uri="{FF2B5EF4-FFF2-40B4-BE49-F238E27FC236}">
                <a16:creationId xmlns:a16="http://schemas.microsoft.com/office/drawing/2014/main" id="{482F9C16-4B37-4401-8300-5594CABE95A0}"/>
              </a:ext>
            </a:extLst>
          </p:cNvPr>
          <p:cNvSpPr>
            <a:spLocks noGrp="1"/>
          </p:cNvSpPr>
          <p:nvPr/>
        </p:nvSpPr>
        <p:spPr>
          <a:xfrm>
            <a:off x="95440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5</a:t>
            </a:r>
          </a:p>
        </p:txBody>
      </p:sp>
      <p:sp>
        <p:nvSpPr>
          <p:cNvPr id="34" name="矩形 33">
            <a:extLst>
              <a:ext uri="{FF2B5EF4-FFF2-40B4-BE49-F238E27FC236}">
                <a16:creationId xmlns:a16="http://schemas.microsoft.com/office/drawing/2014/main" id="{B4CF47B7-210E-446E-804C-4AC86A69C933}"/>
              </a:ext>
            </a:extLst>
          </p:cNvPr>
          <p:cNvSpPr>
            <a:spLocks noGrp="1"/>
          </p:cNvSpPr>
          <p:nvPr/>
        </p:nvSpPr>
        <p:spPr>
          <a:xfrm>
            <a:off x="93154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确认执行</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5" name="矩形 34">
            <a:extLst>
              <a:ext uri="{FF2B5EF4-FFF2-40B4-BE49-F238E27FC236}">
                <a16:creationId xmlns:a16="http://schemas.microsoft.com/office/drawing/2014/main" id="{6BB1219E-E6CB-4451-8E9B-5EEF475D0129}"/>
              </a:ext>
            </a:extLst>
          </p:cNvPr>
          <p:cNvSpPr>
            <a:spLocks noGrp="1"/>
          </p:cNvSpPr>
          <p:nvPr/>
        </p:nvSpPr>
        <p:spPr>
          <a:xfrm>
            <a:off x="91440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suggestedActions 后 add_to_cart</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6" name="矩形: 圆角 35">
            <a:extLst>
              <a:ext uri="{FF2B5EF4-FFF2-40B4-BE49-F238E27FC236}">
                <a16:creationId xmlns:a16="http://schemas.microsoft.com/office/drawing/2014/main" id="{C30ECF69-9808-40B8-848C-18671F349601}"/>
              </a:ext>
            </a:extLst>
          </p:cNvPr>
          <p:cNvSpPr>
            <a:spLocks noGrp="1"/>
          </p:cNvSpPr>
          <p:nvPr/>
        </p:nvSpPr>
        <p:spPr>
          <a:xfrm>
            <a:off x="1809750" y="4495800"/>
            <a:ext cx="8572500" cy="781050"/>
          </a:xfrm>
          <a:prstGeom prst="roundRect">
            <a:avLst>
              <a:gd name="adj" fmla="val 2439"/>
            </a:avLst>
          </a:prstGeom>
          <a:solidFill>
            <a:srgbClr val="FFFFFF"/>
          </a:solidFill>
          <a:ln w="9525">
            <a:solidFill>
              <a:srgbClr val="E3E6EB"/>
            </a:solidFill>
            <a:prstDash val="solid"/>
          </a:ln>
        </p:spPr>
      </p:sp>
      <p:sp>
        <p:nvSpPr>
          <p:cNvPr id="37" name="矩形 36">
            <a:extLst>
              <a:ext uri="{FF2B5EF4-FFF2-40B4-BE49-F238E27FC236}">
                <a16:creationId xmlns:a16="http://schemas.microsoft.com/office/drawing/2014/main" id="{30B08ED8-0667-45B3-ACE4-9BD1C8E7EA8F}"/>
              </a:ext>
            </a:extLst>
          </p:cNvPr>
          <p:cNvSpPr>
            <a:spLocks noGrp="1"/>
          </p:cNvSpPr>
          <p:nvPr/>
        </p:nvSpPr>
        <p:spPr>
          <a:xfrm>
            <a:off x="2152650" y="4705350"/>
            <a:ext cx="1143000" cy="247650"/>
          </a:xfrm>
          <a:prstGeom prst="rect">
            <a:avLst/>
          </a:prstGeom>
          <a:noFill/>
          <a:ln w="0">
            <a:noFill/>
            <a:prstDash val="solid"/>
          </a:ln>
        </p:spPr>
        <p:txBody>
          <a:bodyPr/>
          <a:lstStyle/>
          <a:p>
            <a:pPr algn="l">
              <a:defRPr sz="1500" b="1">
                <a:solidFill>
                  <a:srgbClr val="2B45D8"/>
                </a:solidFill>
                <a:latin typeface="Microsoft YaHei"/>
                <a:ea typeface="Microsoft YaHei"/>
                <a:cs typeface="Microsoft YaHei"/>
              </a:defRPr>
            </a:pPr>
            <a:r>
              <a:rPr lang="zh-CN" altLang="en-US" sz="1500" b="1">
                <a:solidFill>
                  <a:srgbClr val="2B45D8"/>
                </a:solidFill>
                <a:latin typeface="Microsoft YaHei" panose="020B0503020204020204" pitchFamily="34" charset="-122"/>
                <a:ea typeface="Microsoft YaHei" panose="020B0503020204020204" pitchFamily="34" charset="-122"/>
                <a:cs typeface="Microsoft YaHei"/>
              </a:rPr>
              <a:t>输出合同</a:t>
            </a:r>
            <a:endParaRPr sz="15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38" name="矩形 37">
            <a:extLst>
              <a:ext uri="{FF2B5EF4-FFF2-40B4-BE49-F238E27FC236}">
                <a16:creationId xmlns:a16="http://schemas.microsoft.com/office/drawing/2014/main" id="{BC89EF26-EE0E-466B-87DA-A2C5FDD9B769}"/>
              </a:ext>
            </a:extLst>
          </p:cNvPr>
          <p:cNvSpPr>
            <a:spLocks noGrp="1"/>
          </p:cNvSpPr>
          <p:nvPr/>
        </p:nvSpPr>
        <p:spPr>
          <a:xfrm>
            <a:off x="3429000" y="4695825"/>
            <a:ext cx="6286500" cy="3048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lang="en-US" sz="1300" b="0">
                <a:solidFill>
                  <a:srgbClr val="111318"/>
                </a:solidFill>
                <a:latin typeface="Microsoft YaHei" panose="020B0503020204020204" pitchFamily="34" charset="-122"/>
                <a:ea typeface="Microsoft YaHei" panose="020B0503020204020204" pitchFamily="34" charset="-122"/>
                <a:cs typeface="Microsoft YaHei"/>
              </a:rPr>
              <a:t>ChatUi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将 </a:t>
            </a:r>
            <a:r>
              <a:rPr lang="en-US" sz="1300" b="0">
                <a:solidFill>
                  <a:srgbClr val="111318"/>
                </a:solidFill>
                <a:latin typeface="Microsoft YaHei" panose="020B0503020204020204" pitchFamily="34" charset="-122"/>
                <a:ea typeface="Microsoft YaHei" panose="020B0503020204020204" pitchFamily="34" charset="-122"/>
                <a:cs typeface="Microsoft YaHei"/>
              </a:rPr>
              <a:t>productCards、agentTask、suggestedActions、source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交给前端稳定渲染；最新版烟测已覆盖计划生成、</a:t>
            </a:r>
            <a:r>
              <a:rPr lang="en-US" sz="1300" b="0">
                <a:solidFill>
                  <a:srgbClr val="111318"/>
                </a:solidFill>
                <a:latin typeface="Microsoft YaHei" panose="020B0503020204020204" pitchFamily="34" charset="-122"/>
                <a:ea typeface="Microsoft YaHei" panose="020B0503020204020204" pitchFamily="34" charset="-122"/>
                <a:cs typeface="Microsoft YaHei"/>
              </a:rPr>
              <a:t>SSE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流式事件与确认加购。</a:t>
            </a:r>
            <a:endParaRPr sz="13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9" name="矩形 38">
            <a:extLst>
              <a:ext uri="{FF2B5EF4-FFF2-40B4-BE49-F238E27FC236}">
                <a16:creationId xmlns:a16="http://schemas.microsoft.com/office/drawing/2014/main" id="{E2897314-B8D8-412A-B6CD-688859E9FE67}"/>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40" name="矩形 39">
            <a:extLst>
              <a:ext uri="{FF2B5EF4-FFF2-40B4-BE49-F238E27FC236}">
                <a16:creationId xmlns:a16="http://schemas.microsoft.com/office/drawing/2014/main" id="{A12AD52A-5176-4EB5-9FF4-8FA03C6AD65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10</a:t>
            </a:r>
          </a:p>
        </p:txBody>
      </p:sp>
    </p:spTree>
    <p:extLst>
      <p:ext uri="{BB962C8B-B14F-4D97-AF65-F5344CB8AC3E}">
        <p14:creationId xmlns:p14="http://schemas.microsoft.com/office/powerpoint/2010/main" val="126966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96D01A5-6D39-4CFC-9351-4AA3226FE750}"/>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04</a:t>
            </a:r>
          </a:p>
        </p:txBody>
      </p:sp>
      <p:sp>
        <p:nvSpPr>
          <p:cNvPr id="2" name="矩形 1">
            <a:extLst>
              <a:ext uri="{FF2B5EF4-FFF2-40B4-BE49-F238E27FC236}">
                <a16:creationId xmlns:a16="http://schemas.microsoft.com/office/drawing/2014/main" id="{B13EF390-A35D-4C19-BFC4-9430E404D007}"/>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动效工程留下了可隔离、可复测的诊断入口</a:t>
            </a:r>
          </a:p>
        </p:txBody>
      </p:sp>
      <p:sp>
        <p:nvSpPr>
          <p:cNvPr id="3" name="矩形: 圆角 2">
            <a:extLst>
              <a:ext uri="{FF2B5EF4-FFF2-40B4-BE49-F238E27FC236}">
                <a16:creationId xmlns:a16="http://schemas.microsoft.com/office/drawing/2014/main" id="{2FE14688-542C-4AAD-B929-258BB6F494C8}"/>
              </a:ext>
            </a:extLst>
          </p:cNvPr>
          <p:cNvSpPr>
            <a:spLocks noGrp="1"/>
          </p:cNvSpPr>
          <p:nvPr/>
        </p:nvSpPr>
        <p:spPr>
          <a:xfrm>
            <a:off x="933450" y="2000250"/>
            <a:ext cx="2857500" cy="1219200"/>
          </a:xfrm>
          <a:prstGeom prst="roundRect">
            <a:avLst>
              <a:gd name="adj" fmla="val 156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A33970CC-D435-45A5-8D8B-D4AA76093163}"/>
              </a:ext>
            </a:extLst>
          </p:cNvPr>
          <p:cNvSpPr>
            <a:spLocks noGrp="1"/>
          </p:cNvSpPr>
          <p:nvPr/>
        </p:nvSpPr>
        <p:spPr>
          <a:xfrm>
            <a:off x="11239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诊断开关</a:t>
            </a:r>
          </a:p>
        </p:txBody>
      </p:sp>
      <p:sp>
        <p:nvSpPr>
          <p:cNvPr id="5" name="矩形 4">
            <a:extLst>
              <a:ext uri="{FF2B5EF4-FFF2-40B4-BE49-F238E27FC236}">
                <a16:creationId xmlns:a16="http://schemas.microsoft.com/office/drawing/2014/main" id="{23387339-0D4B-49BF-8CE3-60CDCD96FCAD}"/>
              </a:ext>
            </a:extLst>
          </p:cNvPr>
          <p:cNvSpPr>
            <a:spLocks noGrp="1"/>
          </p:cNvSpPr>
          <p:nvPr/>
        </p:nvSpPr>
        <p:spPr>
          <a:xfrm>
            <a:off x="1123950" y="2457450"/>
            <a:ext cx="2476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42</a:t>
            </a:r>
          </a:p>
        </p:txBody>
      </p:sp>
      <p:sp>
        <p:nvSpPr>
          <p:cNvPr id="6" name="矩形 5">
            <a:extLst>
              <a:ext uri="{FF2B5EF4-FFF2-40B4-BE49-F238E27FC236}">
                <a16:creationId xmlns:a16="http://schemas.microsoft.com/office/drawing/2014/main" id="{4D520FBB-E04E-4EAF-A7BE-738F3226E777}"/>
              </a:ext>
            </a:extLst>
          </p:cNvPr>
          <p:cNvSpPr>
            <a:spLocks noGrp="1"/>
          </p:cNvSpPr>
          <p:nvPr/>
        </p:nvSpPr>
        <p:spPr>
          <a:xfrm>
            <a:off x="11239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knownFx 效果项可单独开关</a:t>
            </a:r>
          </a:p>
        </p:txBody>
      </p:sp>
      <p:sp>
        <p:nvSpPr>
          <p:cNvPr id="7" name="矩形: 圆角 6">
            <a:extLst>
              <a:ext uri="{FF2B5EF4-FFF2-40B4-BE49-F238E27FC236}">
                <a16:creationId xmlns:a16="http://schemas.microsoft.com/office/drawing/2014/main" id="{67439DFF-B589-4332-978B-531C00E8FD5D}"/>
              </a:ext>
            </a:extLst>
          </p:cNvPr>
          <p:cNvSpPr>
            <a:spLocks noGrp="1"/>
          </p:cNvSpPr>
          <p:nvPr/>
        </p:nvSpPr>
        <p:spPr>
          <a:xfrm>
            <a:off x="4667250" y="2000250"/>
            <a:ext cx="2857500" cy="1219200"/>
          </a:xfrm>
          <a:prstGeom prst="roundRect">
            <a:avLst>
              <a:gd name="adj" fmla="val 1563"/>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E1ACAB50-B05E-4479-8FB8-A54EBE371D9E}"/>
              </a:ext>
            </a:extLst>
          </p:cNvPr>
          <p:cNvSpPr>
            <a:spLocks noGrp="1"/>
          </p:cNvSpPr>
          <p:nvPr/>
        </p:nvSpPr>
        <p:spPr>
          <a:xfrm>
            <a:off x="48577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构建校验</a:t>
            </a:r>
          </a:p>
        </p:txBody>
      </p:sp>
      <p:sp>
        <p:nvSpPr>
          <p:cNvPr id="9" name="矩形 8">
            <a:extLst>
              <a:ext uri="{FF2B5EF4-FFF2-40B4-BE49-F238E27FC236}">
                <a16:creationId xmlns:a16="http://schemas.microsoft.com/office/drawing/2014/main" id="{32044BBA-B283-44DB-9708-3D51137EDE82}"/>
              </a:ext>
            </a:extLst>
          </p:cNvPr>
          <p:cNvSpPr>
            <a:spLocks noGrp="1"/>
          </p:cNvSpPr>
          <p:nvPr/>
        </p:nvSpPr>
        <p:spPr>
          <a:xfrm>
            <a:off x="4857750" y="2457450"/>
            <a:ext cx="2476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a:t>
            </a:r>
          </a:p>
        </p:txBody>
      </p:sp>
      <p:sp>
        <p:nvSpPr>
          <p:cNvPr id="10" name="矩形 9">
            <a:extLst>
              <a:ext uri="{FF2B5EF4-FFF2-40B4-BE49-F238E27FC236}">
                <a16:creationId xmlns:a16="http://schemas.microsoft.com/office/drawing/2014/main" id="{4E072522-BD68-4669-B8E8-72FD3C81B750}"/>
              </a:ext>
            </a:extLst>
          </p:cNvPr>
          <p:cNvSpPr>
            <a:spLocks noGrp="1"/>
          </p:cNvSpPr>
          <p:nvPr/>
        </p:nvSpPr>
        <p:spPr>
          <a:xfrm>
            <a:off x="48577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普通构建与 VITE_PERF_HUD 构建</a:t>
            </a:r>
          </a:p>
        </p:txBody>
      </p:sp>
      <p:sp>
        <p:nvSpPr>
          <p:cNvPr id="11" name="矩形: 圆角 10">
            <a:extLst>
              <a:ext uri="{FF2B5EF4-FFF2-40B4-BE49-F238E27FC236}">
                <a16:creationId xmlns:a16="http://schemas.microsoft.com/office/drawing/2014/main" id="{43F09D3B-A703-4A38-A9B1-09B65F4FF5CC}"/>
              </a:ext>
            </a:extLst>
          </p:cNvPr>
          <p:cNvSpPr>
            <a:spLocks noGrp="1"/>
          </p:cNvSpPr>
          <p:nvPr/>
        </p:nvSpPr>
        <p:spPr>
          <a:xfrm>
            <a:off x="8401050" y="2000250"/>
            <a:ext cx="2857500" cy="1219200"/>
          </a:xfrm>
          <a:prstGeom prst="roundRect">
            <a:avLst>
              <a:gd name="adj" fmla="val 1563"/>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138AC8C2-57A2-4142-9F97-1513F3BCCC0A}"/>
              </a:ext>
            </a:extLst>
          </p:cNvPr>
          <p:cNvSpPr>
            <a:spLocks noGrp="1"/>
          </p:cNvSpPr>
          <p:nvPr/>
        </p:nvSpPr>
        <p:spPr>
          <a:xfrm>
            <a:off x="85915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真实测量</a:t>
            </a:r>
          </a:p>
        </p:txBody>
      </p:sp>
      <p:sp>
        <p:nvSpPr>
          <p:cNvPr id="13" name="矩形 12">
            <a:extLst>
              <a:ext uri="{FF2B5EF4-FFF2-40B4-BE49-F238E27FC236}">
                <a16:creationId xmlns:a16="http://schemas.microsoft.com/office/drawing/2014/main" id="{7E6B6DB8-CB35-4171-8D53-A869866910BE}"/>
              </a:ext>
            </a:extLst>
          </p:cNvPr>
          <p:cNvSpPr>
            <a:spLocks noGrp="1"/>
          </p:cNvSpPr>
          <p:nvPr/>
        </p:nvSpPr>
        <p:spPr>
          <a:xfrm>
            <a:off x="8591550" y="2457450"/>
            <a:ext cx="24765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CDP</a:t>
            </a:r>
          </a:p>
        </p:txBody>
      </p:sp>
      <p:sp>
        <p:nvSpPr>
          <p:cNvPr id="14" name="矩形 13">
            <a:extLst>
              <a:ext uri="{FF2B5EF4-FFF2-40B4-BE49-F238E27FC236}">
                <a16:creationId xmlns:a16="http://schemas.microsoft.com/office/drawing/2014/main" id="{54D92D00-731F-4691-BC08-75AE64E56E52}"/>
              </a:ext>
            </a:extLst>
          </p:cNvPr>
          <p:cNvSpPr>
            <a:spLocks noGrp="1"/>
          </p:cNvSpPr>
          <p:nvPr/>
        </p:nvSpPr>
        <p:spPr>
          <a:xfrm>
            <a:off x="85915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perf-real-browser.mjs 连接 Chrome</a:t>
            </a:r>
          </a:p>
        </p:txBody>
      </p:sp>
      <p:sp>
        <p:nvSpPr>
          <p:cNvPr id="15" name="矩形 14">
            <a:extLst>
              <a:ext uri="{FF2B5EF4-FFF2-40B4-BE49-F238E27FC236}">
                <a16:creationId xmlns:a16="http://schemas.microsoft.com/office/drawing/2014/main" id="{CE6DEE21-2504-4268-97A1-C910CC54DB22}"/>
              </a:ext>
            </a:extLst>
          </p:cNvPr>
          <p:cNvSpPr>
            <a:spLocks noGrp="1"/>
          </p:cNvSpPr>
          <p:nvPr/>
        </p:nvSpPr>
        <p:spPr>
          <a:xfrm>
            <a:off x="1200150" y="4067175"/>
            <a:ext cx="76200" cy="7620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8BF9A6A4-4328-4EA5-8C4A-8CFB39DE8953}"/>
              </a:ext>
            </a:extLst>
          </p:cNvPr>
          <p:cNvSpPr>
            <a:spLocks noGrp="1"/>
          </p:cNvSpPr>
          <p:nvPr/>
        </p:nvSpPr>
        <p:spPr>
          <a:xfrm>
            <a:off x="1409700" y="40005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性能页不把“好看”当结论，而是把每个动画拆成可关闭、可单测的开关。</a:t>
            </a:r>
          </a:p>
        </p:txBody>
      </p:sp>
      <p:sp>
        <p:nvSpPr>
          <p:cNvPr id="17" name="矩形 16">
            <a:extLst>
              <a:ext uri="{FF2B5EF4-FFF2-40B4-BE49-F238E27FC236}">
                <a16:creationId xmlns:a16="http://schemas.microsoft.com/office/drawing/2014/main" id="{5875C3C2-4FED-43D7-BF54-780BA33BB6D9}"/>
              </a:ext>
            </a:extLst>
          </p:cNvPr>
          <p:cNvSpPr>
            <a:spLocks noGrp="1"/>
          </p:cNvSpPr>
          <p:nvPr/>
        </p:nvSpPr>
        <p:spPr>
          <a:xfrm>
            <a:off x="1200150" y="4486275"/>
            <a:ext cx="76200" cy="7620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EA8A0DA6-681C-40E4-AE51-7266FC407B0F}"/>
              </a:ext>
            </a:extLst>
          </p:cNvPr>
          <p:cNvSpPr>
            <a:spLocks noGrp="1"/>
          </p:cNvSpPr>
          <p:nvPr/>
        </p:nvSpPr>
        <p:spPr>
          <a:xfrm>
            <a:off x="1409700" y="44196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当前文档明确记录：本次未连接到 localhost:9222，因此不伪造 FPS 数字。</a:t>
            </a:r>
          </a:p>
        </p:txBody>
      </p:sp>
      <p:sp>
        <p:nvSpPr>
          <p:cNvPr id="19" name="矩形 18">
            <a:extLst>
              <a:ext uri="{FF2B5EF4-FFF2-40B4-BE49-F238E27FC236}">
                <a16:creationId xmlns:a16="http://schemas.microsoft.com/office/drawing/2014/main" id="{DC58CDFA-E01D-4587-9F14-B9059A2DBF92}"/>
              </a:ext>
            </a:extLst>
          </p:cNvPr>
          <p:cNvSpPr>
            <a:spLocks noGrp="1"/>
          </p:cNvSpPr>
          <p:nvPr/>
        </p:nvSpPr>
        <p:spPr>
          <a:xfrm>
            <a:off x="1200150" y="4905375"/>
            <a:ext cx="76200" cy="7620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702798B7-3154-43A5-9C02-4C91AF432C59}"/>
              </a:ext>
            </a:extLst>
          </p:cNvPr>
          <p:cNvSpPr>
            <a:spLocks noGrp="1"/>
          </p:cNvSpPr>
          <p:nvPr/>
        </p:nvSpPr>
        <p:spPr>
          <a:xfrm>
            <a:off x="1409700" y="48387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这页重点展示工程方法：有诊断入口、有普通构建隔离、有人工复测步骤。</a:t>
            </a:r>
          </a:p>
        </p:txBody>
      </p:sp>
      <p:sp>
        <p:nvSpPr>
          <p:cNvPr id="21" name="矩形 20">
            <a:extLst>
              <a:ext uri="{FF2B5EF4-FFF2-40B4-BE49-F238E27FC236}">
                <a16:creationId xmlns:a16="http://schemas.microsoft.com/office/drawing/2014/main" id="{8312F35B-11AF-4C85-AF9D-54461AC00532}"/>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2" name="矩形 21">
            <a:extLst>
              <a:ext uri="{FF2B5EF4-FFF2-40B4-BE49-F238E27FC236}">
                <a16:creationId xmlns:a16="http://schemas.microsoft.com/office/drawing/2014/main" id="{BF873511-94FA-420A-9FE9-7D539A92DED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11</a:t>
            </a:r>
          </a:p>
        </p:txBody>
      </p:sp>
    </p:spTree>
    <p:extLst>
      <p:ext uri="{BB962C8B-B14F-4D97-AF65-F5344CB8AC3E}">
        <p14:creationId xmlns:p14="http://schemas.microsoft.com/office/powerpoint/2010/main" val="501544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3CB79292-53C5-4955-92D0-B6D42D168536}"/>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05</a:t>
            </a:r>
          </a:p>
        </p:txBody>
      </p:sp>
      <p:sp>
        <p:nvSpPr>
          <p:cNvPr id="2" name="矩形 1">
            <a:extLst>
              <a:ext uri="{FF2B5EF4-FFF2-40B4-BE49-F238E27FC236}">
                <a16:creationId xmlns:a16="http://schemas.microsoft.com/office/drawing/2014/main" id="{8E5A7641-2FE4-4D5C-805C-533ACB45EB41}"/>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下单事务用乐观锁把 100 个请求压回 80 个成功</a:t>
            </a:r>
          </a:p>
        </p:txBody>
      </p:sp>
      <p:sp>
        <p:nvSpPr>
          <p:cNvPr id="3" name="矩形: 圆角 2">
            <a:extLst>
              <a:ext uri="{FF2B5EF4-FFF2-40B4-BE49-F238E27FC236}">
                <a16:creationId xmlns:a16="http://schemas.microsoft.com/office/drawing/2014/main" id="{B4EF12DA-6D3D-4784-A840-F5A2C9184684}"/>
              </a:ext>
            </a:extLst>
          </p:cNvPr>
          <p:cNvSpPr>
            <a:spLocks noGrp="1"/>
          </p:cNvSpPr>
          <p:nvPr/>
        </p:nvSpPr>
        <p:spPr>
          <a:xfrm>
            <a:off x="685800" y="1695450"/>
            <a:ext cx="5162550" cy="2019300"/>
          </a:xfrm>
          <a:prstGeom prst="roundRect">
            <a:avLst>
              <a:gd name="adj" fmla="val 94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F654541A-9E94-4AC2-BD91-3C69A8EC397A}"/>
              </a:ext>
            </a:extLst>
          </p:cNvPr>
          <p:cNvSpPr>
            <a:spLocks noGrp="1"/>
          </p:cNvSpPr>
          <p:nvPr/>
        </p:nvSpPr>
        <p:spPr>
          <a:xfrm>
            <a:off x="990600" y="1981200"/>
            <a:ext cx="1714500" cy="26670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核心 SQL</a:t>
            </a:r>
          </a:p>
        </p:txBody>
      </p:sp>
      <p:sp>
        <p:nvSpPr>
          <p:cNvPr id="5" name="矩形 4">
            <a:extLst>
              <a:ext uri="{FF2B5EF4-FFF2-40B4-BE49-F238E27FC236}">
                <a16:creationId xmlns:a16="http://schemas.microsoft.com/office/drawing/2014/main" id="{1C15E615-19F6-4641-AA92-64AE3B9D6C40}"/>
              </a:ext>
            </a:extLst>
          </p:cNvPr>
          <p:cNvSpPr>
            <a:spLocks noGrp="1"/>
          </p:cNvSpPr>
          <p:nvPr/>
        </p:nvSpPr>
        <p:spPr>
          <a:xfrm>
            <a:off x="990600" y="2381250"/>
            <a:ext cx="4476750" cy="1295400"/>
          </a:xfrm>
          <a:prstGeom prst="rect">
            <a:avLst/>
          </a:prstGeom>
          <a:noFill/>
          <a:ln w="0">
            <a:noFill/>
            <a:prstDash val="solid"/>
          </a:ln>
        </p:spPr>
        <p:txBody>
          <a:bodyPr/>
          <a:lstStyle/>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UPDATE product</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SET stock = stock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sales_count = sales_count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version = version + 1</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WHERE id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AND stock &gt;=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AND version = ?</a:t>
            </a:r>
            <a:endParaRPr sz="1050" b="0">
              <a:solidFill>
                <a:srgbClr val="111318"/>
              </a:solidFill>
              <a:latin typeface="Microsoft YaHei" panose="020B0503020204020204" pitchFamily="34" charset="-122"/>
              <a:ea typeface="Microsoft YaHei" panose="020B0503020204020204" pitchFamily="34" charset="-122"/>
              <a:cs typeface="Consolas"/>
            </a:endParaRPr>
          </a:p>
        </p:txBody>
      </p:sp>
      <p:sp>
        <p:nvSpPr>
          <p:cNvPr id="6" name="矩形: 圆角 5">
            <a:extLst>
              <a:ext uri="{FF2B5EF4-FFF2-40B4-BE49-F238E27FC236}">
                <a16:creationId xmlns:a16="http://schemas.microsoft.com/office/drawing/2014/main" id="{701B08CB-5C60-4801-86F0-62D3D128104B}"/>
              </a:ext>
            </a:extLst>
          </p:cNvPr>
          <p:cNvSpPr>
            <a:spLocks noGrp="1"/>
          </p:cNvSpPr>
          <p:nvPr/>
        </p:nvSpPr>
        <p:spPr>
          <a:xfrm>
            <a:off x="6572250" y="1695450"/>
            <a:ext cx="2000250" cy="1123950"/>
          </a:xfrm>
          <a:prstGeom prst="roundRect">
            <a:avLst>
              <a:gd name="adj" fmla="val 1695"/>
            </a:avLst>
          </a:prstGeom>
          <a:solidFill>
            <a:srgbClr val="FFFFFF"/>
          </a:solidFill>
          <a:ln w="9525">
            <a:solidFill>
              <a:srgbClr val="E3E6EB"/>
            </a:solidFill>
            <a:prstDash val="solid"/>
          </a:ln>
        </p:spPr>
      </p:sp>
      <p:sp>
        <p:nvSpPr>
          <p:cNvPr id="7" name="矩形 6">
            <a:extLst>
              <a:ext uri="{FF2B5EF4-FFF2-40B4-BE49-F238E27FC236}">
                <a16:creationId xmlns:a16="http://schemas.microsoft.com/office/drawing/2014/main" id="{4B4A2F07-52FD-41D6-A129-09F6E046716D}"/>
              </a:ext>
            </a:extLst>
          </p:cNvPr>
          <p:cNvSpPr>
            <a:spLocks noGrp="1"/>
          </p:cNvSpPr>
          <p:nvPr/>
        </p:nvSpPr>
        <p:spPr>
          <a:xfrm>
            <a:off x="6762750" y="188595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并发请求</a:t>
            </a:r>
          </a:p>
        </p:txBody>
      </p:sp>
      <p:sp>
        <p:nvSpPr>
          <p:cNvPr id="8" name="矩形 7">
            <a:extLst>
              <a:ext uri="{FF2B5EF4-FFF2-40B4-BE49-F238E27FC236}">
                <a16:creationId xmlns:a16="http://schemas.microsoft.com/office/drawing/2014/main" id="{574A2A2B-276E-4586-B35E-B807684EF0A0}"/>
              </a:ext>
            </a:extLst>
          </p:cNvPr>
          <p:cNvSpPr>
            <a:spLocks noGrp="1"/>
          </p:cNvSpPr>
          <p:nvPr/>
        </p:nvSpPr>
        <p:spPr>
          <a:xfrm>
            <a:off x="6762750" y="215265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100</a:t>
            </a:r>
          </a:p>
        </p:txBody>
      </p:sp>
      <p:sp>
        <p:nvSpPr>
          <p:cNvPr id="9" name="矩形 8">
            <a:extLst>
              <a:ext uri="{FF2B5EF4-FFF2-40B4-BE49-F238E27FC236}">
                <a16:creationId xmlns:a16="http://schemas.microsoft.com/office/drawing/2014/main" id="{5680653C-5BFB-407A-9707-85F18F65F39D}"/>
              </a:ext>
            </a:extLst>
          </p:cNvPr>
          <p:cNvSpPr>
            <a:spLocks noGrp="1"/>
          </p:cNvSpPr>
          <p:nvPr/>
        </p:nvSpPr>
        <p:spPr>
          <a:xfrm>
            <a:off x="6762750" y="257175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PowerShell 并发脚本</a:t>
            </a:r>
          </a:p>
        </p:txBody>
      </p:sp>
      <p:sp>
        <p:nvSpPr>
          <p:cNvPr id="10" name="矩形: 圆角 9">
            <a:extLst>
              <a:ext uri="{FF2B5EF4-FFF2-40B4-BE49-F238E27FC236}">
                <a16:creationId xmlns:a16="http://schemas.microsoft.com/office/drawing/2014/main" id="{C1F56156-AEFB-4FC7-A5B7-B1CEEFE4AC31}"/>
              </a:ext>
            </a:extLst>
          </p:cNvPr>
          <p:cNvSpPr>
            <a:spLocks noGrp="1"/>
          </p:cNvSpPr>
          <p:nvPr/>
        </p:nvSpPr>
        <p:spPr>
          <a:xfrm>
            <a:off x="8858250" y="1695450"/>
            <a:ext cx="2000250" cy="1123950"/>
          </a:xfrm>
          <a:prstGeom prst="roundRect">
            <a:avLst>
              <a:gd name="adj" fmla="val 1695"/>
            </a:avLst>
          </a:prstGeom>
          <a:solidFill>
            <a:srgbClr val="FFFFFF"/>
          </a:solidFill>
          <a:ln w="9525">
            <a:solidFill>
              <a:srgbClr val="E3E6EB"/>
            </a:solidFill>
            <a:prstDash val="solid"/>
          </a:ln>
        </p:spPr>
      </p:sp>
      <p:sp>
        <p:nvSpPr>
          <p:cNvPr id="11" name="矩形 10">
            <a:extLst>
              <a:ext uri="{FF2B5EF4-FFF2-40B4-BE49-F238E27FC236}">
                <a16:creationId xmlns:a16="http://schemas.microsoft.com/office/drawing/2014/main" id="{37561B0C-5250-4C75-A604-00C912EA8B46}"/>
              </a:ext>
            </a:extLst>
          </p:cNvPr>
          <p:cNvSpPr>
            <a:spLocks noGrp="1"/>
          </p:cNvSpPr>
          <p:nvPr/>
        </p:nvSpPr>
        <p:spPr>
          <a:xfrm>
            <a:off x="9048750" y="188595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成功订单</a:t>
            </a:r>
          </a:p>
        </p:txBody>
      </p:sp>
      <p:sp>
        <p:nvSpPr>
          <p:cNvPr id="12" name="矩形 11">
            <a:extLst>
              <a:ext uri="{FF2B5EF4-FFF2-40B4-BE49-F238E27FC236}">
                <a16:creationId xmlns:a16="http://schemas.microsoft.com/office/drawing/2014/main" id="{5388B254-816D-4563-93D8-7B6AAC6FE818}"/>
              </a:ext>
            </a:extLst>
          </p:cNvPr>
          <p:cNvSpPr>
            <a:spLocks noGrp="1"/>
          </p:cNvSpPr>
          <p:nvPr/>
        </p:nvSpPr>
        <p:spPr>
          <a:xfrm>
            <a:off x="9048750" y="215265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80</a:t>
            </a:r>
          </a:p>
        </p:txBody>
      </p:sp>
      <p:sp>
        <p:nvSpPr>
          <p:cNvPr id="13" name="矩形 12">
            <a:extLst>
              <a:ext uri="{FF2B5EF4-FFF2-40B4-BE49-F238E27FC236}">
                <a16:creationId xmlns:a16="http://schemas.microsoft.com/office/drawing/2014/main" id="{EE0C33F8-38A5-4606-B674-E224D85A161D}"/>
              </a:ext>
            </a:extLst>
          </p:cNvPr>
          <p:cNvSpPr>
            <a:spLocks noGrp="1"/>
          </p:cNvSpPr>
          <p:nvPr/>
        </p:nvSpPr>
        <p:spPr>
          <a:xfrm>
            <a:off x="9048750" y="257175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 80 件刚好售完</a:t>
            </a:r>
          </a:p>
        </p:txBody>
      </p:sp>
      <p:sp>
        <p:nvSpPr>
          <p:cNvPr id="14" name="矩形: 圆角 13">
            <a:extLst>
              <a:ext uri="{FF2B5EF4-FFF2-40B4-BE49-F238E27FC236}">
                <a16:creationId xmlns:a16="http://schemas.microsoft.com/office/drawing/2014/main" id="{92AF0DAD-AEA5-4496-A070-48B375960A11}"/>
              </a:ext>
            </a:extLst>
          </p:cNvPr>
          <p:cNvSpPr>
            <a:spLocks noGrp="1"/>
          </p:cNvSpPr>
          <p:nvPr/>
        </p:nvSpPr>
        <p:spPr>
          <a:xfrm>
            <a:off x="6572250" y="3086100"/>
            <a:ext cx="2000250" cy="1123950"/>
          </a:xfrm>
          <a:prstGeom prst="roundRect">
            <a:avLst>
              <a:gd name="adj" fmla="val 1695"/>
            </a:avLst>
          </a:prstGeom>
          <a:solidFill>
            <a:srgbClr val="FFFFFF"/>
          </a:solidFill>
          <a:ln w="9525">
            <a:solidFill>
              <a:srgbClr val="E3E6EB"/>
            </a:solidFill>
            <a:prstDash val="solid"/>
          </a:ln>
        </p:spPr>
      </p:sp>
      <p:sp>
        <p:nvSpPr>
          <p:cNvPr id="15" name="矩形 14">
            <a:extLst>
              <a:ext uri="{FF2B5EF4-FFF2-40B4-BE49-F238E27FC236}">
                <a16:creationId xmlns:a16="http://schemas.microsoft.com/office/drawing/2014/main" id="{BD39D1F3-02AA-4733-B334-C3A5DD2E958D}"/>
              </a:ext>
            </a:extLst>
          </p:cNvPr>
          <p:cNvSpPr>
            <a:spLocks noGrp="1"/>
          </p:cNvSpPr>
          <p:nvPr/>
        </p:nvSpPr>
        <p:spPr>
          <a:xfrm>
            <a:off x="6762750" y="327660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失败请求</a:t>
            </a:r>
          </a:p>
        </p:txBody>
      </p:sp>
      <p:sp>
        <p:nvSpPr>
          <p:cNvPr id="16" name="矩形 15">
            <a:extLst>
              <a:ext uri="{FF2B5EF4-FFF2-40B4-BE49-F238E27FC236}">
                <a16:creationId xmlns:a16="http://schemas.microsoft.com/office/drawing/2014/main" id="{ECC18949-3E0A-48FF-B4B6-B6CAD4D9EE55}"/>
              </a:ext>
            </a:extLst>
          </p:cNvPr>
          <p:cNvSpPr>
            <a:spLocks noGrp="1"/>
          </p:cNvSpPr>
          <p:nvPr/>
        </p:nvSpPr>
        <p:spPr>
          <a:xfrm>
            <a:off x="6762750" y="354330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20</a:t>
            </a:r>
          </a:p>
        </p:txBody>
      </p:sp>
      <p:sp>
        <p:nvSpPr>
          <p:cNvPr id="17" name="矩形 16">
            <a:extLst>
              <a:ext uri="{FF2B5EF4-FFF2-40B4-BE49-F238E27FC236}">
                <a16:creationId xmlns:a16="http://schemas.microsoft.com/office/drawing/2014/main" id="{CED44C86-CF76-469D-BCE2-A5C239DCEE81}"/>
              </a:ext>
            </a:extLst>
          </p:cNvPr>
          <p:cNvSpPr>
            <a:spLocks noGrp="1"/>
          </p:cNvSpPr>
          <p:nvPr/>
        </p:nvSpPr>
        <p:spPr>
          <a:xfrm>
            <a:off x="6762750" y="396240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库存不足或版本冲突</a:t>
            </a:r>
          </a:p>
        </p:txBody>
      </p:sp>
      <p:sp>
        <p:nvSpPr>
          <p:cNvPr id="18" name="矩形: 圆角 17">
            <a:extLst>
              <a:ext uri="{FF2B5EF4-FFF2-40B4-BE49-F238E27FC236}">
                <a16:creationId xmlns:a16="http://schemas.microsoft.com/office/drawing/2014/main" id="{9808CE68-9F56-44C7-BCCD-B423AC46A0EA}"/>
              </a:ext>
            </a:extLst>
          </p:cNvPr>
          <p:cNvSpPr>
            <a:spLocks noGrp="1"/>
          </p:cNvSpPr>
          <p:nvPr/>
        </p:nvSpPr>
        <p:spPr>
          <a:xfrm>
            <a:off x="8858250" y="3086100"/>
            <a:ext cx="2000250" cy="1123950"/>
          </a:xfrm>
          <a:prstGeom prst="roundRect">
            <a:avLst>
              <a:gd name="adj" fmla="val 1695"/>
            </a:avLst>
          </a:prstGeom>
          <a:solidFill>
            <a:srgbClr val="FFFFFF"/>
          </a:solidFill>
          <a:ln w="9525">
            <a:solidFill>
              <a:srgbClr val="E3E6EB"/>
            </a:solidFill>
            <a:prstDash val="solid"/>
          </a:ln>
        </p:spPr>
      </p:sp>
      <p:sp>
        <p:nvSpPr>
          <p:cNvPr id="19" name="矩形 18">
            <a:extLst>
              <a:ext uri="{FF2B5EF4-FFF2-40B4-BE49-F238E27FC236}">
                <a16:creationId xmlns:a16="http://schemas.microsoft.com/office/drawing/2014/main" id="{71CF3FF6-15A5-432A-8EA7-AA7906274E23}"/>
              </a:ext>
            </a:extLst>
          </p:cNvPr>
          <p:cNvSpPr>
            <a:spLocks noGrp="1"/>
          </p:cNvSpPr>
          <p:nvPr/>
        </p:nvSpPr>
        <p:spPr>
          <a:xfrm>
            <a:off x="9048750" y="327660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最终库存</a:t>
            </a:r>
          </a:p>
        </p:txBody>
      </p:sp>
      <p:sp>
        <p:nvSpPr>
          <p:cNvPr id="20" name="矩形 19">
            <a:extLst>
              <a:ext uri="{FF2B5EF4-FFF2-40B4-BE49-F238E27FC236}">
                <a16:creationId xmlns:a16="http://schemas.microsoft.com/office/drawing/2014/main" id="{9D00DB4A-6E40-49E6-9D03-446E568DF041}"/>
              </a:ext>
            </a:extLst>
          </p:cNvPr>
          <p:cNvSpPr>
            <a:spLocks noGrp="1"/>
          </p:cNvSpPr>
          <p:nvPr/>
        </p:nvSpPr>
        <p:spPr>
          <a:xfrm>
            <a:off x="9048750" y="354330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0</a:t>
            </a:r>
          </a:p>
        </p:txBody>
      </p:sp>
      <p:sp>
        <p:nvSpPr>
          <p:cNvPr id="21" name="矩形 20">
            <a:extLst>
              <a:ext uri="{FF2B5EF4-FFF2-40B4-BE49-F238E27FC236}">
                <a16:creationId xmlns:a16="http://schemas.microsoft.com/office/drawing/2014/main" id="{A11ECD0D-CFA5-4C24-9E90-09DBE00DD987}"/>
              </a:ext>
            </a:extLst>
          </p:cNvPr>
          <p:cNvSpPr>
            <a:spLocks noGrp="1"/>
          </p:cNvSpPr>
          <p:nvPr/>
        </p:nvSpPr>
        <p:spPr>
          <a:xfrm>
            <a:off x="9048750" y="396240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stock=0, version=80</a:t>
            </a:r>
          </a:p>
        </p:txBody>
      </p:sp>
      <p:sp>
        <p:nvSpPr>
          <p:cNvPr id="22" name="矩形 21">
            <a:extLst>
              <a:ext uri="{FF2B5EF4-FFF2-40B4-BE49-F238E27FC236}">
                <a16:creationId xmlns:a16="http://schemas.microsoft.com/office/drawing/2014/main" id="{831B94F9-E7C6-49E1-9DD5-2A127955D17B}"/>
              </a:ext>
            </a:extLst>
          </p:cNvPr>
          <p:cNvSpPr>
            <a:spLocks noGrp="1"/>
          </p:cNvSpPr>
          <p:nvPr/>
        </p:nvSpPr>
        <p:spPr>
          <a:xfrm>
            <a:off x="1104900" y="4857750"/>
            <a:ext cx="942975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最近一次验收结果：</a:t>
            </a:r>
            <a:r>
              <a:rPr lang="en-US" sz="1500" b="1">
                <a:solidFill>
                  <a:srgbClr val="111318"/>
                </a:solidFill>
                <a:latin typeface="Microsoft YaHei" panose="020B0503020204020204" pitchFamily="34" charset="-122"/>
                <a:ea typeface="Microsoft YaHei" panose="020B0503020204020204" pitchFamily="34" charset="-122"/>
                <a:cs typeface="Microsoft YaHei"/>
              </a:rPr>
              <a:t>success=80 failed=20；</a:t>
            </a: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数据库最终 </a:t>
            </a:r>
            <a:r>
              <a:rPr lang="en-US" sz="1500" b="1">
                <a:solidFill>
                  <a:srgbClr val="111318"/>
                </a:solidFill>
                <a:latin typeface="Microsoft YaHei" panose="020B0503020204020204" pitchFamily="34" charset="-122"/>
                <a:ea typeface="Microsoft YaHei" panose="020B0503020204020204" pitchFamily="34" charset="-122"/>
                <a:cs typeface="Microsoft YaHei"/>
              </a:rPr>
              <a:t>stock=0、sales_count=80、version=80。</a:t>
            </a:r>
            <a:endParaRPr sz="15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401820A6-6AD2-4448-9D89-16B718E90005}"/>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68EEC0A3-ACAC-42FC-98E4-F75C9682A22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12</a:t>
            </a:r>
          </a:p>
        </p:txBody>
      </p:sp>
    </p:spTree>
    <p:extLst>
      <p:ext uri="{BB962C8B-B14F-4D97-AF65-F5344CB8AC3E}">
        <p14:creationId xmlns:p14="http://schemas.microsoft.com/office/powerpoint/2010/main" val="879275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8581323-01F2-4040-9CA4-2BFE43C54903}"/>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01</a:t>
            </a:r>
          </a:p>
        </p:txBody>
      </p:sp>
      <p:sp>
        <p:nvSpPr>
          <p:cNvPr id="2" name="矩形 1">
            <a:extLst>
              <a:ext uri="{FF2B5EF4-FFF2-40B4-BE49-F238E27FC236}">
                <a16:creationId xmlns:a16="http://schemas.microsoft.com/office/drawing/2014/main" id="{084689F6-1DA6-4403-BB89-1A01437AC29A}"/>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商品中心和 AI 聊天窗共用真实商品、订单数据</a:t>
            </a:r>
          </a:p>
        </p:txBody>
      </p:sp>
      <p:sp>
        <p:nvSpPr>
          <p:cNvPr id="3" name="矩形: 圆角 2">
            <a:extLst>
              <a:ext uri="{FF2B5EF4-FFF2-40B4-BE49-F238E27FC236}">
                <a16:creationId xmlns:a16="http://schemas.microsoft.com/office/drawing/2014/main" id="{BC2CF22A-ACE0-4A4D-8EB3-151F5766544A}"/>
              </a:ext>
            </a:extLst>
          </p:cNvPr>
          <p:cNvSpPr>
            <a:spLocks noGrp="1"/>
          </p:cNvSpPr>
          <p:nvPr/>
        </p:nvSpPr>
        <p:spPr>
          <a:xfrm>
            <a:off x="590550" y="1428750"/>
            <a:ext cx="5295900" cy="3067050"/>
          </a:xfrm>
          <a:prstGeom prst="roundRect">
            <a:avLst>
              <a:gd name="adj" fmla="val 621"/>
            </a:avLst>
          </a:prstGeom>
          <a:solidFill>
            <a:srgbClr val="FFFFFF"/>
          </a:solidFill>
          <a:ln w="9525">
            <a:solidFill>
              <a:srgbClr val="E3E6EB"/>
            </a:solidFill>
            <a:prstDash val="solid"/>
          </a:ln>
        </p:spPr>
      </p:sp>
      <p:pic>
        <p:nvPicPr>
          <p:cNvPr id="13" name="图片 12"/>
          <p:cNvPicPr>
            <a:picLocks noChangeAspect="1"/>
          </p:cNvPicPr>
          <p:nvPr/>
        </p:nvPicPr>
        <p:blipFill>
          <a:blip r:embed="rId3"/>
          <a:srcRect l="52" r="52"/>
          <a:stretch>
            <a:fillRect/>
          </a:stretch>
        </p:blipFill>
        <p:spPr>
          <a:xfrm>
            <a:off x="685800" y="1524000"/>
            <a:ext cx="5105400" cy="2876550"/>
          </a:xfrm>
          <a:prstGeom prst="roundRect">
            <a:avLst>
              <a:gd name="adj" fmla="val 662"/>
            </a:avLst>
          </a:prstGeom>
        </p:spPr>
      </p:pic>
      <p:sp>
        <p:nvSpPr>
          <p:cNvPr id="5" name="矩形: 圆角 4">
            <a:extLst>
              <a:ext uri="{FF2B5EF4-FFF2-40B4-BE49-F238E27FC236}">
                <a16:creationId xmlns:a16="http://schemas.microsoft.com/office/drawing/2014/main" id="{B1D75AB5-4D1C-4403-A90E-220B94AE5853}"/>
              </a:ext>
            </a:extLst>
          </p:cNvPr>
          <p:cNvSpPr>
            <a:spLocks noGrp="1"/>
          </p:cNvSpPr>
          <p:nvPr/>
        </p:nvSpPr>
        <p:spPr>
          <a:xfrm>
            <a:off x="6248400" y="1428750"/>
            <a:ext cx="5295900" cy="3067050"/>
          </a:xfrm>
          <a:prstGeom prst="roundRect">
            <a:avLst>
              <a:gd name="adj" fmla="val 621"/>
            </a:avLst>
          </a:prstGeom>
          <a:solidFill>
            <a:srgbClr val="FFFFFF"/>
          </a:solidFill>
          <a:ln w="9525">
            <a:solidFill>
              <a:srgbClr val="E3E6EB"/>
            </a:solidFill>
            <a:prstDash val="solid"/>
          </a:ln>
        </p:spPr>
      </p:sp>
      <p:pic>
        <p:nvPicPr>
          <p:cNvPr id="15" name="图片 14"/>
          <p:cNvPicPr>
            <a:picLocks noChangeAspect="1"/>
          </p:cNvPicPr>
          <p:nvPr/>
        </p:nvPicPr>
        <p:blipFill>
          <a:blip r:embed="rId4"/>
          <a:srcRect l="52" r="52"/>
          <a:stretch>
            <a:fillRect/>
          </a:stretch>
        </p:blipFill>
        <p:spPr>
          <a:xfrm>
            <a:off x="6343650" y="1524000"/>
            <a:ext cx="5105400" cy="2876550"/>
          </a:xfrm>
          <a:prstGeom prst="roundRect">
            <a:avLst>
              <a:gd name="adj" fmla="val 662"/>
            </a:avLst>
          </a:prstGeom>
        </p:spPr>
      </p:pic>
      <p:sp>
        <p:nvSpPr>
          <p:cNvPr id="7" name="矩形 6">
            <a:extLst>
              <a:ext uri="{FF2B5EF4-FFF2-40B4-BE49-F238E27FC236}">
                <a16:creationId xmlns:a16="http://schemas.microsoft.com/office/drawing/2014/main" id="{C1D0BCE9-D004-485B-A47E-9FE8A8658406}"/>
              </a:ext>
            </a:extLst>
          </p:cNvPr>
          <p:cNvSpPr>
            <a:spLocks noGrp="1"/>
          </p:cNvSpPr>
          <p:nvPr/>
        </p:nvSpPr>
        <p:spPr>
          <a:xfrm>
            <a:off x="1238250" y="5010150"/>
            <a:ext cx="9715500" cy="26670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左侧是首页商品推荐和分类入口；右侧聊天窗展示了 query_order_status 工具调用后的真实订单状态。</a:t>
            </a:r>
          </a:p>
        </p:txBody>
      </p:sp>
      <p:sp>
        <p:nvSpPr>
          <p:cNvPr id="8" name="矩形 7">
            <a:extLst>
              <a:ext uri="{FF2B5EF4-FFF2-40B4-BE49-F238E27FC236}">
                <a16:creationId xmlns:a16="http://schemas.microsoft.com/office/drawing/2014/main" id="{696D03CE-344A-4886-A8FF-1D74940FE9A2}"/>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9" name="矩形 8">
            <a:extLst>
              <a:ext uri="{FF2B5EF4-FFF2-40B4-BE49-F238E27FC236}">
                <a16:creationId xmlns:a16="http://schemas.microsoft.com/office/drawing/2014/main" id="{6ECA92AF-7964-4544-95D3-2689F11F2ACD}"/>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13</a:t>
            </a:r>
          </a:p>
        </p:txBody>
      </p:sp>
    </p:spTree>
    <p:extLst>
      <p:ext uri="{BB962C8B-B14F-4D97-AF65-F5344CB8AC3E}">
        <p14:creationId xmlns:p14="http://schemas.microsoft.com/office/powerpoint/2010/main" val="1631704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1036F4D-C958-4AA7-B64E-B89D94E93CC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02</a:t>
            </a:r>
          </a:p>
        </p:txBody>
      </p:sp>
      <p:sp>
        <p:nvSpPr>
          <p:cNvPr id="2" name="矩形 1">
            <a:extLst>
              <a:ext uri="{FF2B5EF4-FFF2-40B4-BE49-F238E27FC236}">
                <a16:creationId xmlns:a16="http://schemas.microsoft.com/office/drawing/2014/main" id="{3A7B7045-A521-4EA7-937A-8F779C8C43B3}"/>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购物车和订单页展示了交易链路的前台闭环</a:t>
            </a:r>
          </a:p>
        </p:txBody>
      </p:sp>
      <p:sp>
        <p:nvSpPr>
          <p:cNvPr id="3" name="矩形: 圆角 2">
            <a:extLst>
              <a:ext uri="{FF2B5EF4-FFF2-40B4-BE49-F238E27FC236}">
                <a16:creationId xmlns:a16="http://schemas.microsoft.com/office/drawing/2014/main" id="{B7B9BBED-E1AF-4824-874C-14FADDD05097}"/>
              </a:ext>
            </a:extLst>
          </p:cNvPr>
          <p:cNvSpPr>
            <a:spLocks noGrp="1"/>
          </p:cNvSpPr>
          <p:nvPr/>
        </p:nvSpPr>
        <p:spPr>
          <a:xfrm>
            <a:off x="590550" y="1390650"/>
            <a:ext cx="5295900" cy="3067050"/>
          </a:xfrm>
          <a:prstGeom prst="roundRect">
            <a:avLst>
              <a:gd name="adj" fmla="val 621"/>
            </a:avLst>
          </a:prstGeom>
          <a:solidFill>
            <a:srgbClr val="FFFFFF"/>
          </a:solidFill>
          <a:ln w="9525">
            <a:solidFill>
              <a:srgbClr val="E3E6EB"/>
            </a:solidFill>
            <a:prstDash val="solid"/>
          </a:ln>
        </p:spPr>
      </p:sp>
      <p:pic>
        <p:nvPicPr>
          <p:cNvPr id="16" name="图片 15"/>
          <p:cNvPicPr>
            <a:picLocks noChangeAspect="1"/>
          </p:cNvPicPr>
          <p:nvPr/>
        </p:nvPicPr>
        <p:blipFill>
          <a:blip r:embed="rId3"/>
          <a:srcRect l="52" r="52"/>
          <a:stretch>
            <a:fillRect/>
          </a:stretch>
        </p:blipFill>
        <p:spPr>
          <a:xfrm>
            <a:off x="685800" y="1485900"/>
            <a:ext cx="5105400" cy="2876550"/>
          </a:xfrm>
          <a:prstGeom prst="roundRect">
            <a:avLst>
              <a:gd name="adj" fmla="val 662"/>
            </a:avLst>
          </a:prstGeom>
        </p:spPr>
      </p:pic>
      <p:sp>
        <p:nvSpPr>
          <p:cNvPr id="5" name="矩形: 圆角 4">
            <a:extLst>
              <a:ext uri="{FF2B5EF4-FFF2-40B4-BE49-F238E27FC236}">
                <a16:creationId xmlns:a16="http://schemas.microsoft.com/office/drawing/2014/main" id="{C343538E-1235-4439-BB47-B01FF1889660}"/>
              </a:ext>
            </a:extLst>
          </p:cNvPr>
          <p:cNvSpPr>
            <a:spLocks noGrp="1"/>
          </p:cNvSpPr>
          <p:nvPr/>
        </p:nvSpPr>
        <p:spPr>
          <a:xfrm>
            <a:off x="6248400" y="1390650"/>
            <a:ext cx="5295900" cy="3067050"/>
          </a:xfrm>
          <a:prstGeom prst="roundRect">
            <a:avLst>
              <a:gd name="adj" fmla="val 621"/>
            </a:avLst>
          </a:prstGeom>
          <a:solidFill>
            <a:srgbClr val="FFFFFF"/>
          </a:solidFill>
          <a:ln w="9525">
            <a:solidFill>
              <a:srgbClr val="E3E6EB"/>
            </a:solidFill>
            <a:prstDash val="solid"/>
          </a:ln>
        </p:spPr>
      </p:sp>
      <p:pic>
        <p:nvPicPr>
          <p:cNvPr id="18" name="图片 17"/>
          <p:cNvPicPr>
            <a:picLocks noChangeAspect="1"/>
          </p:cNvPicPr>
          <p:nvPr/>
        </p:nvPicPr>
        <p:blipFill>
          <a:blip r:embed="rId4"/>
          <a:srcRect l="52" r="52"/>
          <a:stretch>
            <a:fillRect/>
          </a:stretch>
        </p:blipFill>
        <p:spPr>
          <a:xfrm>
            <a:off x="6343650" y="1485900"/>
            <a:ext cx="5105400" cy="2876550"/>
          </a:xfrm>
          <a:prstGeom prst="roundRect">
            <a:avLst>
              <a:gd name="adj" fmla="val 662"/>
            </a:avLst>
          </a:prstGeom>
        </p:spPr>
      </p:pic>
      <p:sp>
        <p:nvSpPr>
          <p:cNvPr id="7" name="矩形 6">
            <a:extLst>
              <a:ext uri="{FF2B5EF4-FFF2-40B4-BE49-F238E27FC236}">
                <a16:creationId xmlns:a16="http://schemas.microsoft.com/office/drawing/2014/main" id="{2C48D9E4-1216-43BA-9C29-E10B6073F33E}"/>
              </a:ext>
            </a:extLst>
          </p:cNvPr>
          <p:cNvSpPr>
            <a:spLocks noGrp="1"/>
          </p:cNvSpPr>
          <p:nvPr/>
        </p:nvSpPr>
        <p:spPr>
          <a:xfrm>
            <a:off x="1257300" y="5019675"/>
            <a:ext cx="76200" cy="76200"/>
          </a:xfrm>
          <a:prstGeom prst="rect">
            <a:avLst/>
          </a:prstGeom>
          <a:solidFill>
            <a:srgbClr val="2B45D8"/>
          </a:solidFill>
          <a:ln w="0">
            <a:noFill/>
            <a:prstDash val="solid"/>
          </a:ln>
        </p:spPr>
      </p:sp>
      <p:sp>
        <p:nvSpPr>
          <p:cNvPr id="8" name="矩形 7">
            <a:extLst>
              <a:ext uri="{FF2B5EF4-FFF2-40B4-BE49-F238E27FC236}">
                <a16:creationId xmlns:a16="http://schemas.microsoft.com/office/drawing/2014/main" id="{09754379-50AE-4D5E-AA02-B3F637A1ED88}"/>
              </a:ext>
            </a:extLst>
          </p:cNvPr>
          <p:cNvSpPr>
            <a:spLocks noGrp="1"/>
          </p:cNvSpPr>
          <p:nvPr/>
        </p:nvSpPr>
        <p:spPr>
          <a:xfrm>
            <a:off x="1466850" y="49530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购物车实时计算已选商品金额，并在数量变更时校验库存。</a:t>
            </a:r>
          </a:p>
        </p:txBody>
      </p:sp>
      <p:sp>
        <p:nvSpPr>
          <p:cNvPr id="9" name="矩形 8">
            <a:extLst>
              <a:ext uri="{FF2B5EF4-FFF2-40B4-BE49-F238E27FC236}">
                <a16:creationId xmlns:a16="http://schemas.microsoft.com/office/drawing/2014/main" id="{C04A971A-2002-450C-AFB6-0FFA243672FF}"/>
              </a:ext>
            </a:extLst>
          </p:cNvPr>
          <p:cNvSpPr>
            <a:spLocks noGrp="1"/>
          </p:cNvSpPr>
          <p:nvPr/>
        </p:nvSpPr>
        <p:spPr>
          <a:xfrm>
            <a:off x="1257300" y="5419725"/>
            <a:ext cx="76200" cy="76200"/>
          </a:xfrm>
          <a:prstGeom prst="rect">
            <a:avLst/>
          </a:prstGeom>
          <a:solidFill>
            <a:srgbClr val="2B45D8"/>
          </a:solidFill>
          <a:ln w="0">
            <a:noFill/>
            <a:prstDash val="solid"/>
          </a:ln>
        </p:spPr>
      </p:sp>
      <p:sp>
        <p:nvSpPr>
          <p:cNvPr id="10" name="矩形 9">
            <a:extLst>
              <a:ext uri="{FF2B5EF4-FFF2-40B4-BE49-F238E27FC236}">
                <a16:creationId xmlns:a16="http://schemas.microsoft.com/office/drawing/2014/main" id="{76578E90-8638-4F6B-81C0-FDC1F04B4286}"/>
              </a:ext>
            </a:extLst>
          </p:cNvPr>
          <p:cNvSpPr>
            <a:spLocks noGrp="1"/>
          </p:cNvSpPr>
          <p:nvPr/>
        </p:nvSpPr>
        <p:spPr>
          <a:xfrm>
            <a:off x="1466850" y="53530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订单页支持按状态筛选、模拟支付、取消、再次购买和详情入口。</a:t>
            </a:r>
          </a:p>
        </p:txBody>
      </p:sp>
      <p:sp>
        <p:nvSpPr>
          <p:cNvPr id="11" name="矩形 10">
            <a:extLst>
              <a:ext uri="{FF2B5EF4-FFF2-40B4-BE49-F238E27FC236}">
                <a16:creationId xmlns:a16="http://schemas.microsoft.com/office/drawing/2014/main" id="{24EF37ED-7A5B-42C0-9C62-60AA81245F33}"/>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12" name="矩形 11">
            <a:extLst>
              <a:ext uri="{FF2B5EF4-FFF2-40B4-BE49-F238E27FC236}">
                <a16:creationId xmlns:a16="http://schemas.microsoft.com/office/drawing/2014/main" id="{B33BF4B6-4741-44B2-927B-77877771BD71}"/>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14</a:t>
            </a:r>
          </a:p>
        </p:txBody>
      </p:sp>
    </p:spTree>
    <p:extLst>
      <p:ext uri="{BB962C8B-B14F-4D97-AF65-F5344CB8AC3E}">
        <p14:creationId xmlns:p14="http://schemas.microsoft.com/office/powerpoint/2010/main" val="72066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DB9AB62-BBBA-4440-BB84-F127D1AF05E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03</a:t>
            </a:r>
          </a:p>
        </p:txBody>
      </p:sp>
      <p:sp>
        <p:nvSpPr>
          <p:cNvPr id="2" name="矩形 1">
            <a:extLst>
              <a:ext uri="{FF2B5EF4-FFF2-40B4-BE49-F238E27FC236}">
                <a16:creationId xmlns:a16="http://schemas.microsoft.com/office/drawing/2014/main" id="{637D802B-99BA-4B0C-AAC6-6F306AFE8F02}"/>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管理后台把运营数据、订单和售后放在同一工作台</a:t>
            </a:r>
          </a:p>
        </p:txBody>
      </p:sp>
      <p:sp>
        <p:nvSpPr>
          <p:cNvPr id="3" name="矩形: 圆角 2">
            <a:extLst>
              <a:ext uri="{FF2B5EF4-FFF2-40B4-BE49-F238E27FC236}">
                <a16:creationId xmlns:a16="http://schemas.microsoft.com/office/drawing/2014/main" id="{94A0995C-03A6-4CB4-AB26-F612D1A9EBBA}"/>
              </a:ext>
            </a:extLst>
          </p:cNvPr>
          <p:cNvSpPr>
            <a:spLocks noGrp="1"/>
          </p:cNvSpPr>
          <p:nvPr/>
        </p:nvSpPr>
        <p:spPr>
          <a:xfrm>
            <a:off x="590550" y="1390650"/>
            <a:ext cx="5295900" cy="3067050"/>
          </a:xfrm>
          <a:prstGeom prst="roundRect">
            <a:avLst>
              <a:gd name="adj" fmla="val 621"/>
            </a:avLst>
          </a:prstGeom>
          <a:solidFill>
            <a:srgbClr val="FFFFFF"/>
          </a:solidFill>
          <a:ln w="9525">
            <a:solidFill>
              <a:srgbClr val="E3E6EB"/>
            </a:solidFill>
            <a:prstDash val="solid"/>
          </a:ln>
        </p:spPr>
      </p:sp>
      <p:pic>
        <p:nvPicPr>
          <p:cNvPr id="13" name="图片 12"/>
          <p:cNvPicPr>
            <a:picLocks noChangeAspect="1"/>
          </p:cNvPicPr>
          <p:nvPr/>
        </p:nvPicPr>
        <p:blipFill>
          <a:blip r:embed="rId3"/>
          <a:srcRect l="52" r="52"/>
          <a:stretch>
            <a:fillRect/>
          </a:stretch>
        </p:blipFill>
        <p:spPr>
          <a:xfrm>
            <a:off x="685800" y="1485900"/>
            <a:ext cx="5105400" cy="2876550"/>
          </a:xfrm>
          <a:prstGeom prst="roundRect">
            <a:avLst>
              <a:gd name="adj" fmla="val 662"/>
            </a:avLst>
          </a:prstGeom>
        </p:spPr>
      </p:pic>
      <p:sp>
        <p:nvSpPr>
          <p:cNvPr id="5" name="矩形: 圆角 4">
            <a:extLst>
              <a:ext uri="{FF2B5EF4-FFF2-40B4-BE49-F238E27FC236}">
                <a16:creationId xmlns:a16="http://schemas.microsoft.com/office/drawing/2014/main" id="{A3D6B871-50A9-4429-8D43-DA862EFA181C}"/>
              </a:ext>
            </a:extLst>
          </p:cNvPr>
          <p:cNvSpPr>
            <a:spLocks noGrp="1"/>
          </p:cNvSpPr>
          <p:nvPr/>
        </p:nvSpPr>
        <p:spPr>
          <a:xfrm>
            <a:off x="6248400" y="1390650"/>
            <a:ext cx="5295900" cy="3067050"/>
          </a:xfrm>
          <a:prstGeom prst="roundRect">
            <a:avLst>
              <a:gd name="adj" fmla="val 621"/>
            </a:avLst>
          </a:prstGeom>
          <a:solidFill>
            <a:srgbClr val="FFFFFF"/>
          </a:solidFill>
          <a:ln w="9525">
            <a:solidFill>
              <a:srgbClr val="E3E6EB"/>
            </a:solidFill>
            <a:prstDash val="solid"/>
          </a:ln>
        </p:spPr>
      </p:sp>
      <p:pic>
        <p:nvPicPr>
          <p:cNvPr id="15" name="图片 14"/>
          <p:cNvPicPr>
            <a:picLocks noChangeAspect="1"/>
          </p:cNvPicPr>
          <p:nvPr/>
        </p:nvPicPr>
        <p:blipFill>
          <a:blip r:embed="rId4"/>
          <a:srcRect l="83" r="83"/>
          <a:stretch>
            <a:fillRect/>
          </a:stretch>
        </p:blipFill>
        <p:spPr>
          <a:xfrm>
            <a:off x="6343650" y="1485900"/>
            <a:ext cx="5105400" cy="2876550"/>
          </a:xfrm>
          <a:prstGeom prst="roundRect">
            <a:avLst>
              <a:gd name="adj" fmla="val 662"/>
            </a:avLst>
          </a:prstGeom>
        </p:spPr>
      </p:pic>
      <p:sp>
        <p:nvSpPr>
          <p:cNvPr id="7" name="矩形 6">
            <a:extLst>
              <a:ext uri="{FF2B5EF4-FFF2-40B4-BE49-F238E27FC236}">
                <a16:creationId xmlns:a16="http://schemas.microsoft.com/office/drawing/2014/main" id="{20C2677C-E76C-4961-8638-638C98F8CF22}"/>
              </a:ext>
            </a:extLst>
          </p:cNvPr>
          <p:cNvSpPr>
            <a:spLocks noGrp="1"/>
          </p:cNvSpPr>
          <p:nvPr/>
        </p:nvSpPr>
        <p:spPr>
          <a:xfrm>
            <a:off x="1143000" y="4953000"/>
            <a:ext cx="9906000" cy="28575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后台不是单独做一个 CRUD 表格，而是把低库存、热销、最近订单、售后、日志等答辩可讲的运营闭环集中展示。</a:t>
            </a:r>
          </a:p>
        </p:txBody>
      </p:sp>
      <p:sp>
        <p:nvSpPr>
          <p:cNvPr id="8" name="矩形 7">
            <a:extLst>
              <a:ext uri="{FF2B5EF4-FFF2-40B4-BE49-F238E27FC236}">
                <a16:creationId xmlns:a16="http://schemas.microsoft.com/office/drawing/2014/main" id="{7D17D32C-B71B-4E1B-8E4B-7611B8ACA8D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9" name="矩形 8">
            <a:extLst>
              <a:ext uri="{FF2B5EF4-FFF2-40B4-BE49-F238E27FC236}">
                <a16:creationId xmlns:a16="http://schemas.microsoft.com/office/drawing/2014/main" id="{5B9AFD8C-D810-430C-B44C-607E1AFA8ACC}"/>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15</a:t>
            </a:r>
          </a:p>
        </p:txBody>
      </p:sp>
    </p:spTree>
    <p:extLst>
      <p:ext uri="{BB962C8B-B14F-4D97-AF65-F5344CB8AC3E}">
        <p14:creationId xmlns:p14="http://schemas.microsoft.com/office/powerpoint/2010/main" val="1579989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04B6631D-F575-4194-9FE8-DA997E76CFB1}"/>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VALIDATION</a:t>
            </a:r>
          </a:p>
        </p:txBody>
      </p:sp>
      <p:sp>
        <p:nvSpPr>
          <p:cNvPr id="2" name="矩形 1">
            <a:extLst>
              <a:ext uri="{FF2B5EF4-FFF2-40B4-BE49-F238E27FC236}">
                <a16:creationId xmlns:a16="http://schemas.microsoft.com/office/drawing/2014/main" id="{1BEFFAA8-62D3-4B39-831F-F7815300F91E}"/>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验证结果支持现场演示，最新版 </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烟测已完整通过</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E6576689-C9D3-48C1-9CA8-1EDB847EB254}"/>
              </a:ext>
            </a:extLst>
          </p:cNvPr>
          <p:cNvSpPr>
            <a:spLocks noGrp="1"/>
          </p:cNvSpPr>
          <p:nvPr/>
        </p:nvSpPr>
        <p:spPr>
          <a:xfrm>
            <a:off x="685800" y="1657350"/>
            <a:ext cx="2476500" cy="1123950"/>
          </a:xfrm>
          <a:prstGeom prst="roundRect">
            <a:avLst>
              <a:gd name="adj" fmla="val 1695"/>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61D2A307-F05C-4CB9-84DF-622745B0534B}"/>
              </a:ext>
            </a:extLst>
          </p:cNvPr>
          <p:cNvSpPr>
            <a:spLocks noGrp="1"/>
          </p:cNvSpPr>
          <p:nvPr/>
        </p:nvSpPr>
        <p:spPr>
          <a:xfrm>
            <a:off x="87630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后端测试</a:t>
            </a:r>
          </a:p>
        </p:txBody>
      </p:sp>
      <p:sp>
        <p:nvSpPr>
          <p:cNvPr id="5" name="矩形 4">
            <a:extLst>
              <a:ext uri="{FF2B5EF4-FFF2-40B4-BE49-F238E27FC236}">
                <a16:creationId xmlns:a16="http://schemas.microsoft.com/office/drawing/2014/main" id="{8306B1C3-B7A8-4B03-B574-F12140C4B0FF}"/>
              </a:ext>
            </a:extLst>
          </p:cNvPr>
          <p:cNvSpPr>
            <a:spLocks noGrp="1"/>
          </p:cNvSpPr>
          <p:nvPr/>
        </p:nvSpPr>
        <p:spPr>
          <a:xfrm>
            <a:off x="87630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20/20</a:t>
            </a:r>
          </a:p>
        </p:txBody>
      </p:sp>
      <p:sp>
        <p:nvSpPr>
          <p:cNvPr id="6" name="矩形 5">
            <a:extLst>
              <a:ext uri="{FF2B5EF4-FFF2-40B4-BE49-F238E27FC236}">
                <a16:creationId xmlns:a16="http://schemas.microsoft.com/office/drawing/2014/main" id="{8380D818-B07D-47AC-8B15-78E35B8EC547}"/>
              </a:ext>
            </a:extLst>
          </p:cNvPr>
          <p:cNvSpPr>
            <a:spLocks noGrp="1"/>
          </p:cNvSpPr>
          <p:nvPr/>
        </p:nvSpPr>
        <p:spPr>
          <a:xfrm>
            <a:off x="87630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mvn.cmd test BUILD SUCCESS</a:t>
            </a:r>
          </a:p>
        </p:txBody>
      </p:sp>
      <p:sp>
        <p:nvSpPr>
          <p:cNvPr id="7" name="矩形: 圆角 6">
            <a:extLst>
              <a:ext uri="{FF2B5EF4-FFF2-40B4-BE49-F238E27FC236}">
                <a16:creationId xmlns:a16="http://schemas.microsoft.com/office/drawing/2014/main" id="{717B4725-D0A6-428A-9056-284225756284}"/>
              </a:ext>
            </a:extLst>
          </p:cNvPr>
          <p:cNvSpPr>
            <a:spLocks noGrp="1"/>
          </p:cNvSpPr>
          <p:nvPr/>
        </p:nvSpPr>
        <p:spPr>
          <a:xfrm>
            <a:off x="3524250" y="1657350"/>
            <a:ext cx="2476500" cy="1123950"/>
          </a:xfrm>
          <a:prstGeom prst="roundRect">
            <a:avLst>
              <a:gd name="adj" fmla="val 1695"/>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28D70597-38A0-46D3-A355-21C79C60A382}"/>
              </a:ext>
            </a:extLst>
          </p:cNvPr>
          <p:cNvSpPr>
            <a:spLocks noGrp="1"/>
          </p:cNvSpPr>
          <p:nvPr/>
        </p:nvSpPr>
        <p:spPr>
          <a:xfrm>
            <a:off x="371475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并发库存</a:t>
            </a:r>
          </a:p>
        </p:txBody>
      </p:sp>
      <p:sp>
        <p:nvSpPr>
          <p:cNvPr id="9" name="矩形 8">
            <a:extLst>
              <a:ext uri="{FF2B5EF4-FFF2-40B4-BE49-F238E27FC236}">
                <a16:creationId xmlns:a16="http://schemas.microsoft.com/office/drawing/2014/main" id="{F28ED7B6-0B13-4764-A9CB-D2E874DB4BD5}"/>
              </a:ext>
            </a:extLst>
          </p:cNvPr>
          <p:cNvSpPr>
            <a:spLocks noGrp="1"/>
          </p:cNvSpPr>
          <p:nvPr/>
        </p:nvSpPr>
        <p:spPr>
          <a:xfrm>
            <a:off x="371475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80/100</a:t>
            </a:r>
          </a:p>
        </p:txBody>
      </p:sp>
      <p:sp>
        <p:nvSpPr>
          <p:cNvPr id="10" name="矩形 9">
            <a:extLst>
              <a:ext uri="{FF2B5EF4-FFF2-40B4-BE49-F238E27FC236}">
                <a16:creationId xmlns:a16="http://schemas.microsoft.com/office/drawing/2014/main" id="{BAEB641C-56F4-4DB2-8F13-4CEB46E03F6E}"/>
              </a:ext>
            </a:extLst>
          </p:cNvPr>
          <p:cNvSpPr>
            <a:spLocks noGrp="1"/>
          </p:cNvSpPr>
          <p:nvPr/>
        </p:nvSpPr>
        <p:spPr>
          <a:xfrm>
            <a:off x="371475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 80 件，成功 80 单</a:t>
            </a:r>
          </a:p>
        </p:txBody>
      </p:sp>
      <p:sp>
        <p:nvSpPr>
          <p:cNvPr id="11" name="矩形: 圆角 10">
            <a:extLst>
              <a:ext uri="{FF2B5EF4-FFF2-40B4-BE49-F238E27FC236}">
                <a16:creationId xmlns:a16="http://schemas.microsoft.com/office/drawing/2014/main" id="{74B19FCC-D30E-4698-9BAE-F840379C3C7E}"/>
              </a:ext>
            </a:extLst>
          </p:cNvPr>
          <p:cNvSpPr>
            <a:spLocks noGrp="1"/>
          </p:cNvSpPr>
          <p:nvPr/>
        </p:nvSpPr>
        <p:spPr>
          <a:xfrm>
            <a:off x="6362700" y="1657350"/>
            <a:ext cx="2476500" cy="1123950"/>
          </a:xfrm>
          <a:prstGeom prst="roundRect">
            <a:avLst>
              <a:gd name="adj" fmla="val 1695"/>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6978F9A9-0DFB-478F-8440-000B8A4B5D83}"/>
              </a:ext>
            </a:extLst>
          </p:cNvPr>
          <p:cNvSpPr>
            <a:spLocks noGrp="1"/>
          </p:cNvSpPr>
          <p:nvPr/>
        </p:nvSpPr>
        <p:spPr>
          <a:xfrm>
            <a:off x="655320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lang="zh-CN" altLang="en-US" sz="1125" b="0">
                <a:solidFill>
                  <a:srgbClr val="6B7280"/>
                </a:solidFill>
                <a:latin typeface="Microsoft YaHei" panose="020B0503020204020204" pitchFamily="34" charset="-122"/>
                <a:ea typeface="Microsoft YaHei" panose="020B0503020204020204" pitchFamily="34" charset="-122"/>
                <a:cs typeface="Microsoft YaHei"/>
              </a:rPr>
              <a:t>前端构建</a:t>
            </a:r>
            <a:endParaRPr sz="112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3" name="矩形 12">
            <a:extLst>
              <a:ext uri="{FF2B5EF4-FFF2-40B4-BE49-F238E27FC236}">
                <a16:creationId xmlns:a16="http://schemas.microsoft.com/office/drawing/2014/main" id="{3C7E50C9-9687-4173-9D05-D02042CFA45A}"/>
              </a:ext>
            </a:extLst>
          </p:cNvPr>
          <p:cNvSpPr>
            <a:spLocks noGrp="1"/>
          </p:cNvSpPr>
          <p:nvPr/>
        </p:nvSpPr>
        <p:spPr>
          <a:xfrm>
            <a:off x="655320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lang="en-US" sz="2400" b="1">
                <a:solidFill>
                  <a:srgbClr val="111318"/>
                </a:solidFill>
                <a:latin typeface="Microsoft YaHei" panose="020B0503020204020204" pitchFamily="34" charset="-122"/>
                <a:ea typeface="Microsoft YaHei" panose="020B0503020204020204" pitchFamily="34" charset="-122"/>
                <a:cs typeface="Consolas"/>
              </a:rPr>
              <a:t>OK</a:t>
            </a:r>
            <a:endParaRPr sz="2400" b="1">
              <a:solidFill>
                <a:srgbClr val="111318"/>
              </a:solidFill>
              <a:latin typeface="Microsoft YaHei" panose="020B0503020204020204" pitchFamily="34" charset="-122"/>
              <a:ea typeface="Microsoft YaHei" panose="020B0503020204020204" pitchFamily="34" charset="-122"/>
              <a:cs typeface="Consolas"/>
            </a:endParaRPr>
          </a:p>
        </p:txBody>
      </p:sp>
      <p:sp>
        <p:nvSpPr>
          <p:cNvPr id="14" name="矩形 13">
            <a:extLst>
              <a:ext uri="{FF2B5EF4-FFF2-40B4-BE49-F238E27FC236}">
                <a16:creationId xmlns:a16="http://schemas.microsoft.com/office/drawing/2014/main" id="{2279158A-21EB-426C-A50F-458FBEA68E08}"/>
              </a:ext>
            </a:extLst>
          </p:cNvPr>
          <p:cNvSpPr>
            <a:spLocks noGrp="1"/>
          </p:cNvSpPr>
          <p:nvPr/>
        </p:nvSpPr>
        <p:spPr>
          <a:xfrm>
            <a:off x="655320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Vite production build passed</a:t>
            </a:r>
            <a:endParaRPr sz="9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5A737B5C-CCDD-4426-92E3-3F7EBE3DD910}"/>
              </a:ext>
            </a:extLst>
          </p:cNvPr>
          <p:cNvSpPr>
            <a:spLocks noGrp="1"/>
          </p:cNvSpPr>
          <p:nvPr/>
        </p:nvSpPr>
        <p:spPr>
          <a:xfrm>
            <a:off x="9010650" y="1657350"/>
            <a:ext cx="2286000" cy="1123950"/>
          </a:xfrm>
          <a:prstGeom prst="roundRect">
            <a:avLst>
              <a:gd name="adj" fmla="val 1695"/>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2DB66239-BA54-4CC5-9059-0628D6DEFE12}"/>
              </a:ext>
            </a:extLst>
          </p:cNvPr>
          <p:cNvSpPr>
            <a:spLocks noGrp="1"/>
          </p:cNvSpPr>
          <p:nvPr/>
        </p:nvSpPr>
        <p:spPr>
          <a:xfrm>
            <a:off x="9201150" y="1847850"/>
            <a:ext cx="1905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Docker</a:t>
            </a:r>
          </a:p>
        </p:txBody>
      </p:sp>
      <p:sp>
        <p:nvSpPr>
          <p:cNvPr id="17" name="矩形 16">
            <a:extLst>
              <a:ext uri="{FF2B5EF4-FFF2-40B4-BE49-F238E27FC236}">
                <a16:creationId xmlns:a16="http://schemas.microsoft.com/office/drawing/2014/main" id="{D8C228F2-16CD-46FD-A723-46B0DBEAB096}"/>
              </a:ext>
            </a:extLst>
          </p:cNvPr>
          <p:cNvSpPr>
            <a:spLocks noGrp="1"/>
          </p:cNvSpPr>
          <p:nvPr/>
        </p:nvSpPr>
        <p:spPr>
          <a:xfrm>
            <a:off x="9201150" y="2114550"/>
            <a:ext cx="19050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OK</a:t>
            </a:r>
          </a:p>
        </p:txBody>
      </p:sp>
      <p:sp>
        <p:nvSpPr>
          <p:cNvPr id="18" name="矩形 17">
            <a:extLst>
              <a:ext uri="{FF2B5EF4-FFF2-40B4-BE49-F238E27FC236}">
                <a16:creationId xmlns:a16="http://schemas.microsoft.com/office/drawing/2014/main" id="{DCACE31E-43AF-4128-B892-2A3F0FAC6612}"/>
              </a:ext>
            </a:extLst>
          </p:cNvPr>
          <p:cNvSpPr>
            <a:spLocks noGrp="1"/>
          </p:cNvSpPr>
          <p:nvPr/>
        </p:nvSpPr>
        <p:spPr>
          <a:xfrm>
            <a:off x="9201150" y="2533650"/>
            <a:ext cx="1905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compose up -d --build</a:t>
            </a:r>
          </a:p>
        </p:txBody>
      </p:sp>
      <p:sp>
        <p:nvSpPr>
          <p:cNvPr id="19" name="矩形: 圆角 18">
            <a:extLst>
              <a:ext uri="{FF2B5EF4-FFF2-40B4-BE49-F238E27FC236}">
                <a16:creationId xmlns:a16="http://schemas.microsoft.com/office/drawing/2014/main" id="{8E4E3E04-7585-43AB-BF4A-4E2A248572F3}"/>
              </a:ext>
            </a:extLst>
          </p:cNvPr>
          <p:cNvSpPr>
            <a:spLocks noGrp="1"/>
          </p:cNvSpPr>
          <p:nvPr/>
        </p:nvSpPr>
        <p:spPr>
          <a:xfrm>
            <a:off x="914400" y="3524250"/>
            <a:ext cx="9810750" cy="1181100"/>
          </a:xfrm>
          <a:prstGeom prst="roundRect">
            <a:avLst>
              <a:gd name="adj" fmla="val 1613"/>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4E2F9332-91FE-48D5-B1BD-AC3F80B08B0F}"/>
              </a:ext>
            </a:extLst>
          </p:cNvPr>
          <p:cNvSpPr>
            <a:spLocks noGrp="1"/>
          </p:cNvSpPr>
          <p:nvPr/>
        </p:nvSpPr>
        <p:spPr>
          <a:xfrm>
            <a:off x="1257300" y="3752850"/>
            <a:ext cx="2476500" cy="26670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lang="en-US" sz="1700" b="1">
                <a:solidFill>
                  <a:srgbClr val="2B45D8"/>
                </a:solidFill>
                <a:latin typeface="Microsoft YaHei" panose="020B0503020204020204" pitchFamily="34" charset="-122"/>
                <a:ea typeface="Microsoft YaHei" panose="020B0503020204020204" pitchFamily="34" charset="-122"/>
                <a:cs typeface="Microsoft YaHei"/>
              </a:rPr>
              <a:t>Agent </a:t>
            </a:r>
            <a:r>
              <a:rPr lang="zh-CN" altLang="en-US" sz="1700" b="1">
                <a:solidFill>
                  <a:srgbClr val="2B45D8"/>
                </a:solidFill>
                <a:latin typeface="Microsoft YaHei" panose="020B0503020204020204" pitchFamily="34" charset="-122"/>
                <a:ea typeface="Microsoft YaHei" panose="020B0503020204020204" pitchFamily="34" charset="-122"/>
                <a:cs typeface="Microsoft YaHei"/>
              </a:rPr>
              <a:t>烟测 </a:t>
            </a:r>
            <a:r>
              <a:rPr lang="en-US" sz="1700" b="1">
                <a:solidFill>
                  <a:srgbClr val="2B45D8"/>
                </a:solidFill>
                <a:latin typeface="Microsoft YaHei" panose="020B0503020204020204" pitchFamily="34" charset="-122"/>
                <a:ea typeface="Microsoft YaHei" panose="020B0503020204020204" pitchFamily="34" charset="-122"/>
                <a:cs typeface="Microsoft YaHei"/>
              </a:rPr>
              <a:t>PASS · 2026-07-10</a:t>
            </a:r>
            <a:endParaRPr sz="17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3E857F52-E8F1-4717-A356-95D47E4131C0}"/>
              </a:ext>
            </a:extLst>
          </p:cNvPr>
          <p:cNvSpPr>
            <a:spLocks noGrp="1"/>
          </p:cNvSpPr>
          <p:nvPr/>
        </p:nvSpPr>
        <p:spPr>
          <a:xfrm>
            <a:off x="1257300" y="4114800"/>
            <a:ext cx="8763000" cy="3429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商品检索、详情、对比、订单查询、长期记忆、购买方案、</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SSE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流式事件、确认加购与非购物拒答全部通过；商品卡字段还与后端真实数据逐项核对。</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899FC86E-4714-4E5B-B43F-578B062D4AE6}"/>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05A342D5-69F4-4042-BC6A-01DB1C94FF1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16</a:t>
            </a:r>
          </a:p>
        </p:txBody>
      </p:sp>
    </p:spTree>
    <p:extLst>
      <p:ext uri="{BB962C8B-B14F-4D97-AF65-F5344CB8AC3E}">
        <p14:creationId xmlns:p14="http://schemas.microsoft.com/office/powerpoint/2010/main" val="2120555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2147D8FD-0AAA-440E-B5F3-95F3F8F911D0}"/>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DEPLOYMENT</a:t>
            </a:r>
          </a:p>
        </p:txBody>
      </p:sp>
      <p:sp>
        <p:nvSpPr>
          <p:cNvPr id="2" name="矩形 1">
            <a:extLst>
              <a:ext uri="{FF2B5EF4-FFF2-40B4-BE49-F238E27FC236}">
                <a16:creationId xmlns:a16="http://schemas.microsoft.com/office/drawing/2014/main" id="{3D3EA0A4-4B49-41EC-9F22-781F1E242A9B}"/>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en-US" altLang="zh-CN" sz="2700" b="1">
                <a:solidFill>
                  <a:srgbClr val="111318"/>
                </a:solidFill>
                <a:latin typeface="Microsoft YaHei" panose="020B0503020204020204" pitchFamily="34" charset="-122"/>
                <a:ea typeface="Microsoft YaHei" panose="020B0503020204020204" pitchFamily="34" charset="-122"/>
                <a:cs typeface="Microsoft YaHei"/>
              </a:rPr>
              <a:t>Docker Compose </a:t>
            </a:r>
            <a:r>
              <a:rPr lang="zh-CN" altLang="en-US" sz="2700" b="1">
                <a:solidFill>
                  <a:srgbClr val="111318"/>
                </a:solidFill>
                <a:latin typeface="Microsoft YaHei" panose="020B0503020204020204" pitchFamily="34" charset="-122"/>
                <a:ea typeface="Microsoft YaHei" panose="020B0503020204020204" pitchFamily="34" charset="-122"/>
                <a:cs typeface="Microsoft YaHei"/>
              </a:rPr>
              <a:t>统一编排四服务并收敛启动依赖</a:t>
            </a:r>
            <a:endParaRPr sz="27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E12A245F-0300-4225-AFD2-E76DC314584F}"/>
              </a:ext>
            </a:extLst>
          </p:cNvPr>
          <p:cNvSpPr>
            <a:spLocks noGrp="1"/>
          </p:cNvSpPr>
          <p:nvPr/>
        </p:nvSpPr>
        <p:spPr>
          <a:xfrm>
            <a:off x="914400" y="2247900"/>
            <a:ext cx="2000250" cy="990600"/>
          </a:xfrm>
          <a:prstGeom prst="roundRect">
            <a:avLst>
              <a:gd name="adj" fmla="val 192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7187A42B-6A20-4C59-B8CE-F1961D01E61D}"/>
              </a:ext>
            </a:extLst>
          </p:cNvPr>
          <p:cNvSpPr>
            <a:spLocks noGrp="1"/>
          </p:cNvSpPr>
          <p:nvPr/>
        </p:nvSpPr>
        <p:spPr>
          <a:xfrm>
            <a:off x="108585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mysql</a:t>
            </a:r>
          </a:p>
        </p:txBody>
      </p:sp>
      <p:sp>
        <p:nvSpPr>
          <p:cNvPr id="5" name="矩形 4">
            <a:extLst>
              <a:ext uri="{FF2B5EF4-FFF2-40B4-BE49-F238E27FC236}">
                <a16:creationId xmlns:a16="http://schemas.microsoft.com/office/drawing/2014/main" id="{356589C3-57EC-403F-8756-3FE75E7009C8}"/>
              </a:ext>
            </a:extLst>
          </p:cNvPr>
          <p:cNvSpPr>
            <a:spLocks noGrp="1"/>
          </p:cNvSpPr>
          <p:nvPr/>
        </p:nvSpPr>
        <p:spPr>
          <a:xfrm>
            <a:off x="108585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3307 -&gt; 3306</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seed.sql 初始化</a:t>
            </a:r>
          </a:p>
        </p:txBody>
      </p:sp>
      <p:sp>
        <p:nvSpPr>
          <p:cNvPr id="6" name="矩形: 圆角 5">
            <a:extLst>
              <a:ext uri="{FF2B5EF4-FFF2-40B4-BE49-F238E27FC236}">
                <a16:creationId xmlns:a16="http://schemas.microsoft.com/office/drawing/2014/main" id="{558F01A0-2B0A-4BFB-A74B-1937B723E79B}"/>
              </a:ext>
            </a:extLst>
          </p:cNvPr>
          <p:cNvSpPr>
            <a:spLocks noGrp="1"/>
          </p:cNvSpPr>
          <p:nvPr/>
        </p:nvSpPr>
        <p:spPr>
          <a:xfrm>
            <a:off x="3448050" y="2247900"/>
            <a:ext cx="2000250" cy="990600"/>
          </a:xfrm>
          <a:prstGeom prst="roundRect">
            <a:avLst>
              <a:gd name="adj" fmla="val 1923"/>
            </a:avLst>
          </a:prstGeom>
          <a:solidFill>
            <a:srgbClr val="2B45D8"/>
          </a:solidFill>
          <a:ln w="9525">
            <a:solidFill>
              <a:srgbClr val="2B45D8"/>
            </a:solidFill>
            <a:prstDash val="solid"/>
          </a:ln>
        </p:spPr>
      </p:sp>
      <p:sp>
        <p:nvSpPr>
          <p:cNvPr id="7" name="矩形 6">
            <a:extLst>
              <a:ext uri="{FF2B5EF4-FFF2-40B4-BE49-F238E27FC236}">
                <a16:creationId xmlns:a16="http://schemas.microsoft.com/office/drawing/2014/main" id="{F9664ABC-BC6C-40C1-A7CC-878A505DC591}"/>
              </a:ext>
            </a:extLst>
          </p:cNvPr>
          <p:cNvSpPr>
            <a:spLocks noGrp="1"/>
          </p:cNvSpPr>
          <p:nvPr/>
        </p:nvSpPr>
        <p:spPr>
          <a:xfrm>
            <a:off x="3619500" y="2419350"/>
            <a:ext cx="16573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backend</a:t>
            </a:r>
          </a:p>
        </p:txBody>
      </p:sp>
      <p:sp>
        <p:nvSpPr>
          <p:cNvPr id="8" name="矩形 7">
            <a:extLst>
              <a:ext uri="{FF2B5EF4-FFF2-40B4-BE49-F238E27FC236}">
                <a16:creationId xmlns:a16="http://schemas.microsoft.com/office/drawing/2014/main" id="{6CD84C17-70FF-45CB-97A7-75F82BCEEE43}"/>
              </a:ext>
            </a:extLst>
          </p:cNvPr>
          <p:cNvSpPr>
            <a:spLocks noGrp="1"/>
          </p:cNvSpPr>
          <p:nvPr/>
        </p:nvSpPr>
        <p:spPr>
          <a:xfrm>
            <a:off x="3619500" y="2724150"/>
            <a:ext cx="16573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8081 -&gt; 8080</a:t>
            </a:r>
          </a:p>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Spring Boot API</a:t>
            </a:r>
          </a:p>
        </p:txBody>
      </p:sp>
      <p:sp>
        <p:nvSpPr>
          <p:cNvPr id="9" name="矩形: 圆角 8">
            <a:extLst>
              <a:ext uri="{FF2B5EF4-FFF2-40B4-BE49-F238E27FC236}">
                <a16:creationId xmlns:a16="http://schemas.microsoft.com/office/drawing/2014/main" id="{162D924D-A1CE-49F4-BA5C-03725126C1FF}"/>
              </a:ext>
            </a:extLst>
          </p:cNvPr>
          <p:cNvSpPr>
            <a:spLocks noGrp="1"/>
          </p:cNvSpPr>
          <p:nvPr/>
        </p:nvSpPr>
        <p:spPr>
          <a:xfrm>
            <a:off x="5981700" y="2247900"/>
            <a:ext cx="2000250" cy="990600"/>
          </a:xfrm>
          <a:prstGeom prst="roundRect">
            <a:avLst>
              <a:gd name="adj" fmla="val 1923"/>
            </a:avLst>
          </a:prstGeom>
          <a:solidFill>
            <a:srgbClr val="FFFFFF"/>
          </a:solidFill>
          <a:ln w="9525">
            <a:solidFill>
              <a:srgbClr val="E3E6EB"/>
            </a:solidFill>
            <a:prstDash val="solid"/>
          </a:ln>
        </p:spPr>
      </p:sp>
      <p:sp>
        <p:nvSpPr>
          <p:cNvPr id="10" name="矩形 9">
            <a:extLst>
              <a:ext uri="{FF2B5EF4-FFF2-40B4-BE49-F238E27FC236}">
                <a16:creationId xmlns:a16="http://schemas.microsoft.com/office/drawing/2014/main" id="{93F5D595-0A15-44D9-B684-C341A783082A}"/>
              </a:ext>
            </a:extLst>
          </p:cNvPr>
          <p:cNvSpPr>
            <a:spLocks noGrp="1"/>
          </p:cNvSpPr>
          <p:nvPr/>
        </p:nvSpPr>
        <p:spPr>
          <a:xfrm>
            <a:off x="615315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agent-service</a:t>
            </a:r>
          </a:p>
        </p:txBody>
      </p:sp>
      <p:sp>
        <p:nvSpPr>
          <p:cNvPr id="11" name="矩形 10">
            <a:extLst>
              <a:ext uri="{FF2B5EF4-FFF2-40B4-BE49-F238E27FC236}">
                <a16:creationId xmlns:a16="http://schemas.microsoft.com/office/drawing/2014/main" id="{1603E165-231F-4414-A1A3-961F8C72E3D4}"/>
              </a:ext>
            </a:extLst>
          </p:cNvPr>
          <p:cNvSpPr>
            <a:spLocks noGrp="1"/>
          </p:cNvSpPr>
          <p:nvPr/>
        </p:nvSpPr>
        <p:spPr>
          <a:xfrm>
            <a:off x="615315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8000</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FastAPI / LangChain</a:t>
            </a:r>
          </a:p>
        </p:txBody>
      </p:sp>
      <p:sp>
        <p:nvSpPr>
          <p:cNvPr id="12" name="矩形: 圆角 11">
            <a:extLst>
              <a:ext uri="{FF2B5EF4-FFF2-40B4-BE49-F238E27FC236}">
                <a16:creationId xmlns:a16="http://schemas.microsoft.com/office/drawing/2014/main" id="{9D3FF566-C9E2-436D-AF83-71FBBD236047}"/>
              </a:ext>
            </a:extLst>
          </p:cNvPr>
          <p:cNvSpPr>
            <a:spLocks noGrp="1"/>
          </p:cNvSpPr>
          <p:nvPr/>
        </p:nvSpPr>
        <p:spPr>
          <a:xfrm>
            <a:off x="8515350" y="2247900"/>
            <a:ext cx="2000250" cy="990600"/>
          </a:xfrm>
          <a:prstGeom prst="roundRect">
            <a:avLst>
              <a:gd name="adj" fmla="val 1923"/>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1564FD20-4030-4061-AB56-8DAC8AFC2823}"/>
              </a:ext>
            </a:extLst>
          </p:cNvPr>
          <p:cNvSpPr>
            <a:spLocks noGrp="1"/>
          </p:cNvSpPr>
          <p:nvPr/>
        </p:nvSpPr>
        <p:spPr>
          <a:xfrm>
            <a:off x="868680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frontend</a:t>
            </a:r>
          </a:p>
        </p:txBody>
      </p:sp>
      <p:sp>
        <p:nvSpPr>
          <p:cNvPr id="14" name="矩形 13">
            <a:extLst>
              <a:ext uri="{FF2B5EF4-FFF2-40B4-BE49-F238E27FC236}">
                <a16:creationId xmlns:a16="http://schemas.microsoft.com/office/drawing/2014/main" id="{1F638756-27FB-42B3-9309-B7BC446F8C6B}"/>
              </a:ext>
            </a:extLst>
          </p:cNvPr>
          <p:cNvSpPr>
            <a:spLocks noGrp="1"/>
          </p:cNvSpPr>
          <p:nvPr/>
        </p:nvSpPr>
        <p:spPr>
          <a:xfrm>
            <a:off x="868680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80</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Nginx 静态站点</a:t>
            </a:r>
          </a:p>
        </p:txBody>
      </p:sp>
      <p:sp>
        <p:nvSpPr>
          <p:cNvPr id="15" name="矩形 14">
            <a:extLst>
              <a:ext uri="{FF2B5EF4-FFF2-40B4-BE49-F238E27FC236}">
                <a16:creationId xmlns:a16="http://schemas.microsoft.com/office/drawing/2014/main" id="{A98FDDD1-71A1-49BF-844F-996A062D433B}"/>
              </a:ext>
            </a:extLst>
          </p:cNvPr>
          <p:cNvSpPr>
            <a:spLocks noGrp="1"/>
          </p:cNvSpPr>
          <p:nvPr/>
        </p:nvSpPr>
        <p:spPr>
          <a:xfrm>
            <a:off x="2914650" y="2733675"/>
            <a:ext cx="400050" cy="1905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CE42C281-6196-4C94-95B6-D4F804A615D5}"/>
              </a:ext>
            </a:extLst>
          </p:cNvPr>
          <p:cNvSpPr>
            <a:spLocks noGrp="1"/>
          </p:cNvSpPr>
          <p:nvPr/>
        </p:nvSpPr>
        <p:spPr>
          <a:xfrm>
            <a:off x="329565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7" name="矩形 16">
            <a:extLst>
              <a:ext uri="{FF2B5EF4-FFF2-40B4-BE49-F238E27FC236}">
                <a16:creationId xmlns:a16="http://schemas.microsoft.com/office/drawing/2014/main" id="{4945193B-1A2C-42FF-9494-CFA39E799D5F}"/>
              </a:ext>
            </a:extLst>
          </p:cNvPr>
          <p:cNvSpPr>
            <a:spLocks noGrp="1"/>
          </p:cNvSpPr>
          <p:nvPr/>
        </p:nvSpPr>
        <p:spPr>
          <a:xfrm>
            <a:off x="5448300" y="2733675"/>
            <a:ext cx="400050" cy="1905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0023470D-9E00-4C7C-BA8F-BC2D9630F8CD}"/>
              </a:ext>
            </a:extLst>
          </p:cNvPr>
          <p:cNvSpPr>
            <a:spLocks noGrp="1"/>
          </p:cNvSpPr>
          <p:nvPr/>
        </p:nvSpPr>
        <p:spPr>
          <a:xfrm>
            <a:off x="582930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9" name="矩形 18">
            <a:extLst>
              <a:ext uri="{FF2B5EF4-FFF2-40B4-BE49-F238E27FC236}">
                <a16:creationId xmlns:a16="http://schemas.microsoft.com/office/drawing/2014/main" id="{E89F73D6-F202-4E69-A324-3B3E74CE7073}"/>
              </a:ext>
            </a:extLst>
          </p:cNvPr>
          <p:cNvSpPr>
            <a:spLocks noGrp="1"/>
          </p:cNvSpPr>
          <p:nvPr/>
        </p:nvSpPr>
        <p:spPr>
          <a:xfrm>
            <a:off x="7981950" y="2733675"/>
            <a:ext cx="400050" cy="1905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C51779C7-CE98-464D-9029-01F9140695C2}"/>
              </a:ext>
            </a:extLst>
          </p:cNvPr>
          <p:cNvSpPr>
            <a:spLocks noGrp="1"/>
          </p:cNvSpPr>
          <p:nvPr/>
        </p:nvSpPr>
        <p:spPr>
          <a:xfrm>
            <a:off x="836295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1" name="矩形 20">
            <a:extLst>
              <a:ext uri="{FF2B5EF4-FFF2-40B4-BE49-F238E27FC236}">
                <a16:creationId xmlns:a16="http://schemas.microsoft.com/office/drawing/2014/main" id="{7A3D8AE2-681D-445A-940E-C859DF45961D}"/>
              </a:ext>
            </a:extLst>
          </p:cNvPr>
          <p:cNvSpPr>
            <a:spLocks noGrp="1"/>
          </p:cNvSpPr>
          <p:nvPr/>
        </p:nvSpPr>
        <p:spPr>
          <a:xfrm>
            <a:off x="1200150" y="4162425"/>
            <a:ext cx="76200" cy="76200"/>
          </a:xfrm>
          <a:prstGeom prst="rect">
            <a:avLst/>
          </a:prstGeom>
          <a:solidFill>
            <a:srgbClr val="2B45D8"/>
          </a:solidFill>
          <a:ln w="0">
            <a:noFill/>
            <a:prstDash val="solid"/>
          </a:ln>
        </p:spPr>
      </p:sp>
      <p:sp>
        <p:nvSpPr>
          <p:cNvPr id="22" name="矩形 21">
            <a:extLst>
              <a:ext uri="{FF2B5EF4-FFF2-40B4-BE49-F238E27FC236}">
                <a16:creationId xmlns:a16="http://schemas.microsoft.com/office/drawing/2014/main" id="{EE73BF4B-32B1-4612-829C-BE560BA7968A}"/>
              </a:ext>
            </a:extLst>
          </p:cNvPr>
          <p:cNvSpPr>
            <a:spLocks noGrp="1"/>
          </p:cNvSpPr>
          <p:nvPr/>
        </p:nvSpPr>
        <p:spPr>
          <a:xfrm>
            <a:off x="1409700" y="40957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后端日志持久化到 backend_logs volume，关键下单和状态流转使用 INFO 日志。</a:t>
            </a:r>
          </a:p>
        </p:txBody>
      </p:sp>
      <p:sp>
        <p:nvSpPr>
          <p:cNvPr id="23" name="矩形 22">
            <a:extLst>
              <a:ext uri="{FF2B5EF4-FFF2-40B4-BE49-F238E27FC236}">
                <a16:creationId xmlns:a16="http://schemas.microsoft.com/office/drawing/2014/main" id="{B5FEFCA5-F2E8-4B43-994C-C1072CE77CF6}"/>
              </a:ext>
            </a:extLst>
          </p:cNvPr>
          <p:cNvSpPr>
            <a:spLocks noGrp="1"/>
          </p:cNvSpPr>
          <p:nvPr/>
        </p:nvSpPr>
        <p:spPr>
          <a:xfrm>
            <a:off x="1200150" y="4562475"/>
            <a:ext cx="76200" cy="76200"/>
          </a:xfrm>
          <a:prstGeom prst="rect">
            <a:avLst/>
          </a:prstGeom>
          <a:solidFill>
            <a:srgbClr val="2B45D8"/>
          </a:solidFill>
          <a:ln w="0">
            <a:noFill/>
            <a:prstDash val="solid"/>
          </a:ln>
        </p:spPr>
      </p:sp>
      <p:sp>
        <p:nvSpPr>
          <p:cNvPr id="24" name="矩形 23">
            <a:extLst>
              <a:ext uri="{FF2B5EF4-FFF2-40B4-BE49-F238E27FC236}">
                <a16:creationId xmlns:a16="http://schemas.microsoft.com/office/drawing/2014/main" id="{ED01F31D-15F3-4936-8AEC-3BE1F11B122A}"/>
              </a:ext>
            </a:extLst>
          </p:cNvPr>
          <p:cNvSpPr>
            <a:spLocks noGrp="1"/>
          </p:cNvSpPr>
          <p:nvPr/>
        </p:nvSpPr>
        <p:spPr>
          <a:xfrm>
            <a:off x="1409700" y="44958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Agent 日志记录工具调用、LLM 状态和 timing breakdown，现场可配合 docker compose logs 展示。</a:t>
            </a:r>
          </a:p>
        </p:txBody>
      </p:sp>
      <p:sp>
        <p:nvSpPr>
          <p:cNvPr id="25" name="矩形 24">
            <a:extLst>
              <a:ext uri="{FF2B5EF4-FFF2-40B4-BE49-F238E27FC236}">
                <a16:creationId xmlns:a16="http://schemas.microsoft.com/office/drawing/2014/main" id="{35CA9E72-A28D-49F7-83BC-BF798D5065FD}"/>
              </a:ext>
            </a:extLst>
          </p:cNvPr>
          <p:cNvSpPr>
            <a:spLocks noGrp="1"/>
          </p:cNvSpPr>
          <p:nvPr/>
        </p:nvSpPr>
        <p:spPr>
          <a:xfrm>
            <a:off x="1200150" y="4962525"/>
            <a:ext cx="76200" cy="76200"/>
          </a:xfrm>
          <a:prstGeom prst="rect">
            <a:avLst/>
          </a:prstGeom>
          <a:solidFill>
            <a:srgbClr val="2B45D8"/>
          </a:solidFill>
          <a:ln w="0">
            <a:noFill/>
            <a:prstDash val="solid"/>
          </a:ln>
        </p:spPr>
      </p:sp>
      <p:sp>
        <p:nvSpPr>
          <p:cNvPr id="26" name="矩形 25">
            <a:extLst>
              <a:ext uri="{FF2B5EF4-FFF2-40B4-BE49-F238E27FC236}">
                <a16:creationId xmlns:a16="http://schemas.microsoft.com/office/drawing/2014/main" id="{B3ABE5B0-6FA7-4729-AA02-4EFE7708C5FB}"/>
              </a:ext>
            </a:extLst>
          </p:cNvPr>
          <p:cNvSpPr>
            <a:spLocks noGrp="1"/>
          </p:cNvSpPr>
          <p:nvPr/>
        </p:nvSpPr>
        <p:spPr>
          <a:xfrm>
            <a:off x="1409700" y="48958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本次 docker compose up -d --build 已成功重建并启动四个服务。</a:t>
            </a:r>
          </a:p>
        </p:txBody>
      </p:sp>
      <p:sp>
        <p:nvSpPr>
          <p:cNvPr id="27" name="矩形 26">
            <a:extLst>
              <a:ext uri="{FF2B5EF4-FFF2-40B4-BE49-F238E27FC236}">
                <a16:creationId xmlns:a16="http://schemas.microsoft.com/office/drawing/2014/main" id="{E3DC1385-BDF1-4277-AB52-474092021495}"/>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8" name="矩形 27">
            <a:extLst>
              <a:ext uri="{FF2B5EF4-FFF2-40B4-BE49-F238E27FC236}">
                <a16:creationId xmlns:a16="http://schemas.microsoft.com/office/drawing/2014/main" id="{3DBF2970-646A-4946-A932-FF2B64BDAF5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17</a:t>
            </a:r>
          </a:p>
        </p:txBody>
      </p:sp>
    </p:spTree>
    <p:extLst>
      <p:ext uri="{BB962C8B-B14F-4D97-AF65-F5344CB8AC3E}">
        <p14:creationId xmlns:p14="http://schemas.microsoft.com/office/powerpoint/2010/main" val="263944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C8174CD5-F1D4-468C-B50D-71291A5E671F}"/>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CURRENT STATE</a:t>
            </a:r>
          </a:p>
        </p:txBody>
      </p:sp>
      <p:sp>
        <p:nvSpPr>
          <p:cNvPr id="2" name="矩形 1">
            <a:extLst>
              <a:ext uri="{FF2B5EF4-FFF2-40B4-BE49-F238E27FC236}">
                <a16:creationId xmlns:a16="http://schemas.microsoft.com/office/drawing/2014/main" id="{C16CFF99-0B39-4CA1-BC98-E6D264CA102D}"/>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主链路已经验收，局限边界也保持诚实</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D5B5D207-DF53-4AA0-AC9D-87FA1A30F631}"/>
              </a:ext>
            </a:extLst>
          </p:cNvPr>
          <p:cNvSpPr>
            <a:spLocks noGrp="1"/>
          </p:cNvSpPr>
          <p:nvPr/>
        </p:nvSpPr>
        <p:spPr>
          <a:xfrm>
            <a:off x="838200" y="1600200"/>
            <a:ext cx="4953000" cy="3714750"/>
          </a:xfrm>
          <a:prstGeom prst="roundRect">
            <a:avLst>
              <a:gd name="adj" fmla="val 513"/>
            </a:avLst>
          </a:prstGeom>
          <a:solidFill>
            <a:srgbClr val="FFFFFF"/>
          </a:solidFill>
          <a:ln w="9525">
            <a:solidFill>
              <a:srgbClr val="E3E6EB"/>
            </a:solidFill>
            <a:prstDash val="solid"/>
          </a:ln>
        </p:spPr>
      </p:sp>
      <p:sp>
        <p:nvSpPr>
          <p:cNvPr id="4" name="矩形: 圆角 3">
            <a:extLst>
              <a:ext uri="{FF2B5EF4-FFF2-40B4-BE49-F238E27FC236}">
                <a16:creationId xmlns:a16="http://schemas.microsoft.com/office/drawing/2014/main" id="{A8C377BE-AFC9-4F52-B3DF-A135E26EF2FD}"/>
              </a:ext>
            </a:extLst>
          </p:cNvPr>
          <p:cNvSpPr>
            <a:spLocks noGrp="1"/>
          </p:cNvSpPr>
          <p:nvPr/>
        </p:nvSpPr>
        <p:spPr>
          <a:xfrm>
            <a:off x="6400800" y="1600200"/>
            <a:ext cx="4953000" cy="3714750"/>
          </a:xfrm>
          <a:prstGeom prst="roundRect">
            <a:avLst>
              <a:gd name="adj" fmla="val 513"/>
            </a:avLst>
          </a:prstGeom>
          <a:solidFill>
            <a:srgbClr val="FFFFFF"/>
          </a:solidFill>
          <a:ln w="9525">
            <a:solidFill>
              <a:srgbClr val="E3E6EB"/>
            </a:solidFill>
            <a:prstDash val="solid"/>
          </a:ln>
        </p:spPr>
      </p:sp>
      <p:sp>
        <p:nvSpPr>
          <p:cNvPr id="5" name="矩形 4">
            <a:extLst>
              <a:ext uri="{FF2B5EF4-FFF2-40B4-BE49-F238E27FC236}">
                <a16:creationId xmlns:a16="http://schemas.microsoft.com/office/drawing/2014/main" id="{232CE65F-6E59-4FB3-B919-C7F2D7CF54B4}"/>
              </a:ext>
            </a:extLst>
          </p:cNvPr>
          <p:cNvSpPr>
            <a:spLocks noGrp="1"/>
          </p:cNvSpPr>
          <p:nvPr/>
        </p:nvSpPr>
        <p:spPr>
          <a:xfrm>
            <a:off x="1162050" y="1885950"/>
            <a:ext cx="1714500" cy="304800"/>
          </a:xfrm>
          <a:prstGeom prst="rect">
            <a:avLst/>
          </a:prstGeom>
          <a:noFill/>
          <a:ln w="0">
            <a:noFill/>
            <a:prstDash val="solid"/>
          </a:ln>
        </p:spPr>
        <p:txBody>
          <a:bodyPr/>
          <a:lstStyle/>
          <a:p>
            <a:pPr algn="l">
              <a:defRPr sz="1875" b="1">
                <a:solidFill>
                  <a:srgbClr val="2B45D8"/>
                </a:solidFill>
                <a:latin typeface="Microsoft YaHei"/>
                <a:ea typeface="Microsoft YaHei"/>
                <a:cs typeface="Microsoft YaHei"/>
              </a:defRPr>
            </a:pPr>
            <a:r>
              <a:rPr sz="1875" b="1">
                <a:solidFill>
                  <a:srgbClr val="2B45D8"/>
                </a:solidFill>
                <a:latin typeface="Microsoft YaHei"/>
                <a:ea typeface="Microsoft YaHei"/>
                <a:cs typeface="Microsoft YaHei"/>
              </a:rPr>
              <a:t>已完成</a:t>
            </a:r>
          </a:p>
        </p:txBody>
      </p:sp>
      <p:sp>
        <p:nvSpPr>
          <p:cNvPr id="6" name="矩形 5">
            <a:extLst>
              <a:ext uri="{FF2B5EF4-FFF2-40B4-BE49-F238E27FC236}">
                <a16:creationId xmlns:a16="http://schemas.microsoft.com/office/drawing/2014/main" id="{982BE86D-1269-40B7-8686-8410009DFEA2}"/>
              </a:ext>
            </a:extLst>
          </p:cNvPr>
          <p:cNvSpPr>
            <a:spLocks noGrp="1"/>
          </p:cNvSpPr>
          <p:nvPr/>
        </p:nvSpPr>
        <p:spPr>
          <a:xfrm>
            <a:off x="6724650" y="1885950"/>
            <a:ext cx="1714500" cy="304800"/>
          </a:xfrm>
          <a:prstGeom prst="rect">
            <a:avLst/>
          </a:prstGeom>
          <a:noFill/>
          <a:ln w="0">
            <a:noFill/>
            <a:prstDash val="solid"/>
          </a:ln>
        </p:spPr>
        <p:txBody>
          <a:bodyPr/>
          <a:lstStyle/>
          <a:p>
            <a:pPr algn="l">
              <a:defRPr sz="1875" b="1">
                <a:solidFill>
                  <a:srgbClr val="B42318"/>
                </a:solidFill>
                <a:latin typeface="Microsoft YaHei"/>
                <a:ea typeface="Microsoft YaHei"/>
                <a:cs typeface="Microsoft YaHei"/>
              </a:defRPr>
            </a:pPr>
            <a:r>
              <a:rPr sz="1875" b="1">
                <a:solidFill>
                  <a:srgbClr val="B42318"/>
                </a:solidFill>
                <a:latin typeface="Microsoft YaHei"/>
                <a:ea typeface="Microsoft YaHei"/>
                <a:cs typeface="Microsoft YaHei"/>
              </a:rPr>
              <a:t>待改进</a:t>
            </a:r>
          </a:p>
        </p:txBody>
      </p:sp>
      <p:sp>
        <p:nvSpPr>
          <p:cNvPr id="7" name="矩形 6">
            <a:extLst>
              <a:ext uri="{FF2B5EF4-FFF2-40B4-BE49-F238E27FC236}">
                <a16:creationId xmlns:a16="http://schemas.microsoft.com/office/drawing/2014/main" id="{9B5C98CC-8013-43F4-9486-720384068F20}"/>
              </a:ext>
            </a:extLst>
          </p:cNvPr>
          <p:cNvSpPr>
            <a:spLocks noGrp="1"/>
          </p:cNvSpPr>
          <p:nvPr/>
        </p:nvSpPr>
        <p:spPr>
          <a:xfrm>
            <a:off x="1181100" y="2486025"/>
            <a:ext cx="76200" cy="76200"/>
          </a:xfrm>
          <a:prstGeom prst="rect">
            <a:avLst/>
          </a:prstGeom>
          <a:solidFill>
            <a:srgbClr val="2B45D8"/>
          </a:solidFill>
          <a:ln w="0">
            <a:noFill/>
            <a:prstDash val="solid"/>
          </a:ln>
        </p:spPr>
      </p:sp>
      <p:sp>
        <p:nvSpPr>
          <p:cNvPr id="8" name="矩形 7">
            <a:extLst>
              <a:ext uri="{FF2B5EF4-FFF2-40B4-BE49-F238E27FC236}">
                <a16:creationId xmlns:a16="http://schemas.microsoft.com/office/drawing/2014/main" id="{F9A5964C-8EC9-44AF-9D8B-6E621BFC1B94}"/>
              </a:ext>
            </a:extLst>
          </p:cNvPr>
          <p:cNvSpPr>
            <a:spLocks noGrp="1"/>
          </p:cNvSpPr>
          <p:nvPr/>
        </p:nvSpPr>
        <p:spPr>
          <a:xfrm>
            <a:off x="1390650" y="24193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sz="1275" b="0">
                <a:solidFill>
                  <a:srgbClr val="111318"/>
                </a:solidFill>
                <a:latin typeface="Microsoft YaHei"/>
                <a:ea typeface="Microsoft YaHei"/>
                <a:cs typeface="Microsoft YaHei"/>
              </a:rPr>
              <a:t>五大模块主链路可演示</a:t>
            </a:r>
          </a:p>
        </p:txBody>
      </p:sp>
      <p:sp>
        <p:nvSpPr>
          <p:cNvPr id="9" name="矩形 8">
            <a:extLst>
              <a:ext uri="{FF2B5EF4-FFF2-40B4-BE49-F238E27FC236}">
                <a16:creationId xmlns:a16="http://schemas.microsoft.com/office/drawing/2014/main" id="{631ABB96-0267-446B-BB0A-D74422DB0903}"/>
              </a:ext>
            </a:extLst>
          </p:cNvPr>
          <p:cNvSpPr>
            <a:spLocks noGrp="1"/>
          </p:cNvSpPr>
          <p:nvPr/>
        </p:nvSpPr>
        <p:spPr>
          <a:xfrm>
            <a:off x="1181100" y="2943225"/>
            <a:ext cx="76200" cy="76200"/>
          </a:xfrm>
          <a:prstGeom prst="rect">
            <a:avLst/>
          </a:prstGeom>
          <a:solidFill>
            <a:srgbClr val="2B45D8"/>
          </a:solidFill>
          <a:ln w="0">
            <a:noFill/>
            <a:prstDash val="solid"/>
          </a:ln>
        </p:spPr>
      </p:sp>
      <p:sp>
        <p:nvSpPr>
          <p:cNvPr id="10" name="矩形 9">
            <a:extLst>
              <a:ext uri="{FF2B5EF4-FFF2-40B4-BE49-F238E27FC236}">
                <a16:creationId xmlns:a16="http://schemas.microsoft.com/office/drawing/2014/main" id="{738641DA-0EB8-4E94-A37C-DACAE91AF18D}"/>
              </a:ext>
            </a:extLst>
          </p:cNvPr>
          <p:cNvSpPr>
            <a:spLocks noGrp="1"/>
          </p:cNvSpPr>
          <p:nvPr/>
        </p:nvSpPr>
        <p:spPr>
          <a:xfrm>
            <a:off x="1390650" y="28765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en-US" sz="1400" b="0">
                <a:solidFill>
                  <a:srgbClr val="111318"/>
                </a:solidFill>
                <a:latin typeface="Microsoft YaHei" panose="020B0503020204020204" pitchFamily="34" charset="-122"/>
                <a:ea typeface="Microsoft YaHei" panose="020B0503020204020204" pitchFamily="34" charset="-122"/>
                <a:cs typeface="Microsoft YaHei"/>
              </a:rPr>
              <a:t>Agent 8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工具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记忆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 </a:t>
            </a:r>
            <a:r>
              <a:rPr lang="en-US" sz="1400" b="0">
                <a:solidFill>
                  <a:srgbClr val="111318"/>
                </a:solidFill>
                <a:latin typeface="Microsoft YaHei" panose="020B0503020204020204" pitchFamily="34" charset="-122"/>
                <a:ea typeface="Microsoft YaHei" panose="020B0503020204020204" pitchFamily="34" charset="-122"/>
                <a:cs typeface="Microsoft YaHei"/>
              </a:rPr>
              <a:t>RAG +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结构化工作台</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1" name="矩形 10">
            <a:extLst>
              <a:ext uri="{FF2B5EF4-FFF2-40B4-BE49-F238E27FC236}">
                <a16:creationId xmlns:a16="http://schemas.microsoft.com/office/drawing/2014/main" id="{CC8A8399-BAF1-4ABD-BAF7-DA60B1A9F526}"/>
              </a:ext>
            </a:extLst>
          </p:cNvPr>
          <p:cNvSpPr>
            <a:spLocks noGrp="1"/>
          </p:cNvSpPr>
          <p:nvPr/>
        </p:nvSpPr>
        <p:spPr>
          <a:xfrm>
            <a:off x="1181100" y="3400425"/>
            <a:ext cx="76200" cy="7620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4D84047F-465C-47F6-AAFF-2A88DC8B4AC4}"/>
              </a:ext>
            </a:extLst>
          </p:cNvPr>
          <p:cNvSpPr>
            <a:spLocks noGrp="1"/>
          </p:cNvSpPr>
          <p:nvPr/>
        </p:nvSpPr>
        <p:spPr>
          <a:xfrm>
            <a:off x="1390650" y="33337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sz="1275" b="0">
                <a:solidFill>
                  <a:srgbClr val="111318"/>
                </a:solidFill>
                <a:latin typeface="Microsoft YaHei"/>
                <a:ea typeface="Microsoft YaHei"/>
                <a:cs typeface="Microsoft YaHei"/>
              </a:rPr>
              <a:t>Docker Compose 四服务启动成功</a:t>
            </a:r>
          </a:p>
        </p:txBody>
      </p:sp>
      <p:sp>
        <p:nvSpPr>
          <p:cNvPr id="13" name="矩形 12">
            <a:extLst>
              <a:ext uri="{FF2B5EF4-FFF2-40B4-BE49-F238E27FC236}">
                <a16:creationId xmlns:a16="http://schemas.microsoft.com/office/drawing/2014/main" id="{533E2E20-5C31-4124-B642-1FF008D20938}"/>
              </a:ext>
            </a:extLst>
          </p:cNvPr>
          <p:cNvSpPr>
            <a:spLocks noGrp="1"/>
          </p:cNvSpPr>
          <p:nvPr/>
        </p:nvSpPr>
        <p:spPr>
          <a:xfrm>
            <a:off x="1181100" y="3857625"/>
            <a:ext cx="76200" cy="76200"/>
          </a:xfrm>
          <a:prstGeom prst="rect">
            <a:avLst/>
          </a:prstGeom>
          <a:solidFill>
            <a:srgbClr val="2B45D8"/>
          </a:solidFill>
          <a:ln w="0">
            <a:noFill/>
            <a:prstDash val="solid"/>
          </a:ln>
        </p:spPr>
        <p:txBody>
          <a:bodyPr/>
          <a:lstStyle/>
          <a:p>
            <a:r>
              <a:rPr lang="zh-CN" altLang="en-US" sz="1300">
                <a:latin typeface="Microsoft YaHei" panose="020B0503020204020204" pitchFamily="34" charset="-122"/>
                <a:ea typeface="Microsoft YaHei" panose="020B0503020204020204" pitchFamily="34" charset="-122"/>
              </a:rPr>
              <a:t> </a:t>
            </a:r>
          </a:p>
        </p:txBody>
      </p:sp>
      <p:sp>
        <p:nvSpPr>
          <p:cNvPr id="14" name="矩形 13">
            <a:extLst>
              <a:ext uri="{FF2B5EF4-FFF2-40B4-BE49-F238E27FC236}">
                <a16:creationId xmlns:a16="http://schemas.microsoft.com/office/drawing/2014/main" id="{23F821E2-D090-4D5F-8A30-2DBC8558A35E}"/>
              </a:ext>
            </a:extLst>
          </p:cNvPr>
          <p:cNvSpPr>
            <a:spLocks noGrp="1"/>
          </p:cNvSpPr>
          <p:nvPr/>
        </p:nvSpPr>
        <p:spPr>
          <a:xfrm>
            <a:off x="1390650" y="37909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后端 </a:t>
            </a:r>
            <a:r>
              <a:rPr lang="en-US" altLang="zh-CN" sz="1300" b="0">
                <a:solidFill>
                  <a:srgbClr val="111318"/>
                </a:solidFill>
                <a:latin typeface="Microsoft YaHei" panose="020B0503020204020204" pitchFamily="34" charset="-122"/>
                <a:ea typeface="Microsoft YaHei" panose="020B0503020204020204" pitchFamily="34" charset="-122"/>
                <a:cs typeface="Microsoft YaHei"/>
              </a:rPr>
              <a:t>20/20</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a:t>
            </a:r>
            <a:r>
              <a:rPr lang="en-US" altLang="zh-CN" sz="1300" b="0">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烟测通过；并发结果已留证</a:t>
            </a:r>
            <a:endParaRPr sz="13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0C283E6C-FE70-4CF1-8158-73E06F89D573}"/>
              </a:ext>
            </a:extLst>
          </p:cNvPr>
          <p:cNvSpPr>
            <a:spLocks noGrp="1"/>
          </p:cNvSpPr>
          <p:nvPr/>
        </p:nvSpPr>
        <p:spPr>
          <a:xfrm>
            <a:off x="6743700" y="2486025"/>
            <a:ext cx="76200" cy="7620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4600F944-DE80-4F2C-BA7D-4A477D4263B0}"/>
              </a:ext>
            </a:extLst>
          </p:cNvPr>
          <p:cNvSpPr>
            <a:spLocks noGrp="1"/>
          </p:cNvSpPr>
          <p:nvPr/>
        </p:nvSpPr>
        <p:spPr>
          <a:xfrm>
            <a:off x="6953250" y="24193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前端生产包存在大于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500</a:t>
            </a:r>
            <a:r>
              <a:rPr lang="en-US" sz="1400" b="0">
                <a:solidFill>
                  <a:srgbClr val="111318"/>
                </a:solidFill>
                <a:latin typeface="Microsoft YaHei" panose="020B0503020204020204" pitchFamily="34" charset="-122"/>
                <a:ea typeface="Microsoft YaHei" panose="020B0503020204020204" pitchFamily="34" charset="-122"/>
                <a:cs typeface="Microsoft YaHei"/>
              </a:rPr>
              <a:t>KB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的 </a:t>
            </a:r>
            <a:r>
              <a:rPr lang="en-US" sz="1400" b="0">
                <a:solidFill>
                  <a:srgbClr val="111318"/>
                </a:solidFill>
                <a:latin typeface="Microsoft YaHei" panose="020B0503020204020204" pitchFamily="34" charset="-122"/>
                <a:ea typeface="Microsoft YaHei" panose="020B0503020204020204" pitchFamily="34" charset="-122"/>
                <a:cs typeface="Microsoft YaHei"/>
              </a:rPr>
              <a:t>chunk，</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仍需继续拆分</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7" name="矩形 16">
            <a:extLst>
              <a:ext uri="{FF2B5EF4-FFF2-40B4-BE49-F238E27FC236}">
                <a16:creationId xmlns:a16="http://schemas.microsoft.com/office/drawing/2014/main" id="{B4D59768-2F59-49BB-99E6-9ADF5398A144}"/>
              </a:ext>
            </a:extLst>
          </p:cNvPr>
          <p:cNvSpPr>
            <a:spLocks noGrp="1"/>
          </p:cNvSpPr>
          <p:nvPr/>
        </p:nvSpPr>
        <p:spPr>
          <a:xfrm>
            <a:off x="6743700" y="2943225"/>
            <a:ext cx="76200" cy="7620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E26D5EA5-5324-44B7-B18D-4E1C4FDF1B5F}"/>
              </a:ext>
            </a:extLst>
          </p:cNvPr>
          <p:cNvSpPr>
            <a:spLocks noGrp="1"/>
          </p:cNvSpPr>
          <p:nvPr/>
        </p:nvSpPr>
        <p:spPr>
          <a:xfrm>
            <a:off x="6953250" y="28765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搜索当前使用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LIKE</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，全文索引作为升级预留</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9" name="矩形 18">
            <a:extLst>
              <a:ext uri="{FF2B5EF4-FFF2-40B4-BE49-F238E27FC236}">
                <a16:creationId xmlns:a16="http://schemas.microsoft.com/office/drawing/2014/main" id="{E0152FBE-CB41-4594-AA59-DE5F65C19C95}"/>
              </a:ext>
            </a:extLst>
          </p:cNvPr>
          <p:cNvSpPr>
            <a:spLocks noGrp="1"/>
          </p:cNvSpPr>
          <p:nvPr/>
        </p:nvSpPr>
        <p:spPr>
          <a:xfrm>
            <a:off x="6743700" y="3400425"/>
            <a:ext cx="76200" cy="7620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35014889-3933-4221-9989-DE8AA80E0E38}"/>
              </a:ext>
            </a:extLst>
          </p:cNvPr>
          <p:cNvSpPr>
            <a:spLocks noGrp="1"/>
          </p:cNvSpPr>
          <p:nvPr/>
        </p:nvSpPr>
        <p:spPr>
          <a:xfrm>
            <a:off x="6953250" y="33337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性能诊断工具已建立，真实设备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FPS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矩阵尚待补测</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99C924AC-CB55-4C1E-9BEE-8D08A08020B4}"/>
              </a:ext>
            </a:extLst>
          </p:cNvPr>
          <p:cNvSpPr>
            <a:spLocks noGrp="1"/>
          </p:cNvSpPr>
          <p:nvPr/>
        </p:nvSpPr>
        <p:spPr>
          <a:xfrm>
            <a:off x="6743700" y="3857625"/>
            <a:ext cx="76200" cy="76200"/>
          </a:xfrm>
          <a:prstGeom prst="rect">
            <a:avLst/>
          </a:prstGeom>
          <a:solidFill>
            <a:srgbClr val="2B45D8"/>
          </a:solidFill>
          <a:ln w="0">
            <a:noFill/>
            <a:prstDash val="solid"/>
          </a:ln>
        </p:spPr>
      </p:sp>
      <p:sp>
        <p:nvSpPr>
          <p:cNvPr id="22" name="矩形 21">
            <a:extLst>
              <a:ext uri="{FF2B5EF4-FFF2-40B4-BE49-F238E27FC236}">
                <a16:creationId xmlns:a16="http://schemas.microsoft.com/office/drawing/2014/main" id="{F6BFB7A6-BE9B-4509-87DE-7524DE130B2B}"/>
              </a:ext>
            </a:extLst>
          </p:cNvPr>
          <p:cNvSpPr>
            <a:spLocks noGrp="1"/>
          </p:cNvSpPr>
          <p:nvPr/>
        </p:nvSpPr>
        <p:spPr>
          <a:xfrm>
            <a:off x="6953250" y="37909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Git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记录主要集中在主分支，</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PR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协作证据仍偏弱</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A1778FFB-0FA6-4F2A-B06A-2DC7AEB9F4DB}"/>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7195473D-F6A9-40B4-AF58-8F6E7F5BDC20}"/>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18</a:t>
            </a:r>
          </a:p>
        </p:txBody>
      </p:sp>
    </p:spTree>
    <p:extLst>
      <p:ext uri="{BB962C8B-B14F-4D97-AF65-F5344CB8AC3E}">
        <p14:creationId xmlns:p14="http://schemas.microsoft.com/office/powerpoint/2010/main" val="1693601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DC293399-09F9-4F44-B885-2AA5F72E1031}"/>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TEAM &amp; AI WORKFLOW</a:t>
            </a:r>
          </a:p>
        </p:txBody>
      </p:sp>
      <p:sp>
        <p:nvSpPr>
          <p:cNvPr id="2" name="矩形 1">
            <a:extLst>
              <a:ext uri="{FF2B5EF4-FFF2-40B4-BE49-F238E27FC236}">
                <a16:creationId xmlns:a16="http://schemas.microsoft.com/office/drawing/2014/main" id="{E3D43D75-B3D9-430E-9D19-839FA61AB055}"/>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按工作包组织交付，</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AI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辅助过程也可核查</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2">
            <a:extLst>
              <a:ext uri="{FF2B5EF4-FFF2-40B4-BE49-F238E27FC236}">
                <a16:creationId xmlns:a16="http://schemas.microsoft.com/office/drawing/2014/main" id="{CE2439DB-97D5-4915-869B-5016203CEEFB}"/>
              </a:ext>
            </a:extLst>
          </p:cNvPr>
          <p:cNvSpPr>
            <a:spLocks noGrp="1"/>
          </p:cNvSpPr>
          <p:nvPr/>
        </p:nvSpPr>
        <p:spPr>
          <a:xfrm>
            <a:off x="819150" y="2038350"/>
            <a:ext cx="10001250" cy="9525"/>
          </a:xfrm>
          <a:prstGeom prst="rect">
            <a:avLst/>
          </a:prstGeom>
          <a:solidFill>
            <a:srgbClr val="E3E6EB"/>
          </a:solidFill>
          <a:ln w="0">
            <a:noFill/>
            <a:prstDash val="solid"/>
          </a:ln>
        </p:spPr>
      </p:sp>
      <p:sp>
        <p:nvSpPr>
          <p:cNvPr id="4" name="矩形 3">
            <a:extLst>
              <a:ext uri="{FF2B5EF4-FFF2-40B4-BE49-F238E27FC236}">
                <a16:creationId xmlns:a16="http://schemas.microsoft.com/office/drawing/2014/main" id="{F5F22476-935B-4990-AC26-1A2EA916FE9D}"/>
              </a:ext>
            </a:extLst>
          </p:cNvPr>
          <p:cNvSpPr>
            <a:spLocks noGrp="1"/>
          </p:cNvSpPr>
          <p:nvPr/>
        </p:nvSpPr>
        <p:spPr>
          <a:xfrm>
            <a:off x="1143000" y="15811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用户与认证</a:t>
            </a:r>
          </a:p>
        </p:txBody>
      </p:sp>
      <p:sp>
        <p:nvSpPr>
          <p:cNvPr id="5" name="矩形 4">
            <a:extLst>
              <a:ext uri="{FF2B5EF4-FFF2-40B4-BE49-F238E27FC236}">
                <a16:creationId xmlns:a16="http://schemas.microsoft.com/office/drawing/2014/main" id="{360421E1-1169-4385-BA7E-F95F59725893}"/>
              </a:ext>
            </a:extLst>
          </p:cNvPr>
          <p:cNvSpPr>
            <a:spLocks noGrp="1"/>
          </p:cNvSpPr>
          <p:nvPr/>
        </p:nvSpPr>
        <p:spPr>
          <a:xfrm>
            <a:off x="4000500" y="16192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注册登录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JWT / BCrypt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个人中心</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6" name="矩形 5">
            <a:extLst>
              <a:ext uri="{FF2B5EF4-FFF2-40B4-BE49-F238E27FC236}">
                <a16:creationId xmlns:a16="http://schemas.microsoft.com/office/drawing/2014/main" id="{23317046-CD46-4C68-B790-EB7B162D8CFD}"/>
              </a:ext>
            </a:extLst>
          </p:cNvPr>
          <p:cNvSpPr>
            <a:spLocks noGrp="1"/>
          </p:cNvSpPr>
          <p:nvPr/>
        </p:nvSpPr>
        <p:spPr>
          <a:xfrm>
            <a:off x="8896350" y="16192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测试可证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7" name="矩形 6">
            <a:extLst>
              <a:ext uri="{FF2B5EF4-FFF2-40B4-BE49-F238E27FC236}">
                <a16:creationId xmlns:a16="http://schemas.microsoft.com/office/drawing/2014/main" id="{A132874B-0D93-4BF0-AAB2-9042F6494960}"/>
              </a:ext>
            </a:extLst>
          </p:cNvPr>
          <p:cNvSpPr>
            <a:spLocks noGrp="1"/>
          </p:cNvSpPr>
          <p:nvPr/>
        </p:nvSpPr>
        <p:spPr>
          <a:xfrm>
            <a:off x="819150" y="2781300"/>
            <a:ext cx="10001250" cy="9525"/>
          </a:xfrm>
          <a:prstGeom prst="rect">
            <a:avLst/>
          </a:prstGeom>
          <a:solidFill>
            <a:srgbClr val="E3E6EB"/>
          </a:solidFill>
          <a:ln w="0">
            <a:noFill/>
            <a:prstDash val="solid"/>
          </a:ln>
        </p:spPr>
      </p:sp>
      <p:sp>
        <p:nvSpPr>
          <p:cNvPr id="8" name="矩形 7">
            <a:extLst>
              <a:ext uri="{FF2B5EF4-FFF2-40B4-BE49-F238E27FC236}">
                <a16:creationId xmlns:a16="http://schemas.microsoft.com/office/drawing/2014/main" id="{E314DD49-1C9A-426A-B8E3-E2BA62C91C7B}"/>
              </a:ext>
            </a:extLst>
          </p:cNvPr>
          <p:cNvSpPr>
            <a:spLocks noGrp="1"/>
          </p:cNvSpPr>
          <p:nvPr/>
        </p:nvSpPr>
        <p:spPr>
          <a:xfrm>
            <a:off x="1143000" y="232410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商品与搜索</a:t>
            </a:r>
          </a:p>
        </p:txBody>
      </p:sp>
      <p:sp>
        <p:nvSpPr>
          <p:cNvPr id="9" name="矩形 8">
            <a:extLst>
              <a:ext uri="{FF2B5EF4-FFF2-40B4-BE49-F238E27FC236}">
                <a16:creationId xmlns:a16="http://schemas.microsoft.com/office/drawing/2014/main" id="{28B374AA-F1CE-4BED-919B-E6A513ED9930}"/>
              </a:ext>
            </a:extLst>
          </p:cNvPr>
          <p:cNvSpPr>
            <a:spLocks noGrp="1"/>
          </p:cNvSpPr>
          <p:nvPr/>
        </p:nvSpPr>
        <p:spPr>
          <a:xfrm>
            <a:off x="4000500" y="236220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分类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CRUD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搜索分页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管理端</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0" name="矩形 9">
            <a:extLst>
              <a:ext uri="{FF2B5EF4-FFF2-40B4-BE49-F238E27FC236}">
                <a16:creationId xmlns:a16="http://schemas.microsoft.com/office/drawing/2014/main" id="{97233A7F-66B1-427F-828F-2C70CDAC6F4B}"/>
              </a:ext>
            </a:extLst>
          </p:cNvPr>
          <p:cNvSpPr>
            <a:spLocks noGrp="1"/>
          </p:cNvSpPr>
          <p:nvPr/>
        </p:nvSpPr>
        <p:spPr>
          <a:xfrm>
            <a:off x="8896350" y="236220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接口可证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1" name="矩形 10">
            <a:extLst>
              <a:ext uri="{FF2B5EF4-FFF2-40B4-BE49-F238E27FC236}">
                <a16:creationId xmlns:a16="http://schemas.microsoft.com/office/drawing/2014/main" id="{E59FE4FB-1278-4D98-89C2-28A7DB3D7E20}"/>
              </a:ext>
            </a:extLst>
          </p:cNvPr>
          <p:cNvSpPr>
            <a:spLocks noGrp="1"/>
          </p:cNvSpPr>
          <p:nvPr/>
        </p:nvSpPr>
        <p:spPr>
          <a:xfrm>
            <a:off x="819150" y="3524250"/>
            <a:ext cx="10001250" cy="9525"/>
          </a:xfrm>
          <a:prstGeom prst="rect">
            <a:avLst/>
          </a:prstGeom>
          <a:solidFill>
            <a:srgbClr val="E3E6EB"/>
          </a:solidFill>
          <a:ln w="0">
            <a:noFill/>
            <a:prstDash val="solid"/>
          </a:ln>
        </p:spPr>
      </p:sp>
      <p:sp>
        <p:nvSpPr>
          <p:cNvPr id="12" name="矩形 11">
            <a:extLst>
              <a:ext uri="{FF2B5EF4-FFF2-40B4-BE49-F238E27FC236}">
                <a16:creationId xmlns:a16="http://schemas.microsoft.com/office/drawing/2014/main" id="{F4302FB7-1A1E-4417-8B40-64759BE2A785}"/>
              </a:ext>
            </a:extLst>
          </p:cNvPr>
          <p:cNvSpPr>
            <a:spLocks noGrp="1"/>
          </p:cNvSpPr>
          <p:nvPr/>
        </p:nvSpPr>
        <p:spPr>
          <a:xfrm>
            <a:off x="1143000" y="30670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订单与库存</a:t>
            </a:r>
          </a:p>
        </p:txBody>
      </p:sp>
      <p:sp>
        <p:nvSpPr>
          <p:cNvPr id="13" name="矩形 12">
            <a:extLst>
              <a:ext uri="{FF2B5EF4-FFF2-40B4-BE49-F238E27FC236}">
                <a16:creationId xmlns:a16="http://schemas.microsoft.com/office/drawing/2014/main" id="{11FBA25A-7911-4146-8C33-1AE16A57AAF3}"/>
              </a:ext>
            </a:extLst>
          </p:cNvPr>
          <p:cNvSpPr>
            <a:spLocks noGrp="1"/>
          </p:cNvSpPr>
          <p:nvPr/>
        </p:nvSpPr>
        <p:spPr>
          <a:xfrm>
            <a:off x="4000500" y="31051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购物车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下单事务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状态机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回补</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E861A47D-B1C3-4241-A868-EB49365D5826}"/>
              </a:ext>
            </a:extLst>
          </p:cNvPr>
          <p:cNvSpPr>
            <a:spLocks noGrp="1"/>
          </p:cNvSpPr>
          <p:nvPr/>
        </p:nvSpPr>
        <p:spPr>
          <a:xfrm>
            <a:off x="8896350" y="31051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并发可证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D47C6C01-5A3E-42C4-886A-78082ADA2FF6}"/>
              </a:ext>
            </a:extLst>
          </p:cNvPr>
          <p:cNvSpPr>
            <a:spLocks noGrp="1"/>
          </p:cNvSpPr>
          <p:nvPr/>
        </p:nvSpPr>
        <p:spPr>
          <a:xfrm>
            <a:off x="819150" y="4267200"/>
            <a:ext cx="10001250" cy="9525"/>
          </a:xfrm>
          <a:prstGeom prst="rect">
            <a:avLst/>
          </a:prstGeom>
          <a:solidFill>
            <a:srgbClr val="E3E6EB"/>
          </a:solidFill>
          <a:ln w="0">
            <a:noFill/>
            <a:prstDash val="solid"/>
          </a:ln>
        </p:spPr>
      </p:sp>
      <p:sp>
        <p:nvSpPr>
          <p:cNvPr id="16" name="矩形 15">
            <a:extLst>
              <a:ext uri="{FF2B5EF4-FFF2-40B4-BE49-F238E27FC236}">
                <a16:creationId xmlns:a16="http://schemas.microsoft.com/office/drawing/2014/main" id="{7338A7B1-4A10-4F3F-B0C2-8A8CFBC8C83D}"/>
              </a:ext>
            </a:extLst>
          </p:cNvPr>
          <p:cNvSpPr>
            <a:spLocks noGrp="1"/>
          </p:cNvSpPr>
          <p:nvPr/>
        </p:nvSpPr>
        <p:spPr>
          <a:xfrm>
            <a:off x="1143000" y="381000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AI 助手</a:t>
            </a:r>
          </a:p>
        </p:txBody>
      </p:sp>
      <p:sp>
        <p:nvSpPr>
          <p:cNvPr id="17" name="矩形 16">
            <a:extLst>
              <a:ext uri="{FF2B5EF4-FFF2-40B4-BE49-F238E27FC236}">
                <a16:creationId xmlns:a16="http://schemas.microsoft.com/office/drawing/2014/main" id="{D9613BFB-C6BC-4B75-B45D-A2652414B265}"/>
              </a:ext>
            </a:extLst>
          </p:cNvPr>
          <p:cNvSpPr>
            <a:spLocks noGrp="1"/>
          </p:cNvSpPr>
          <p:nvPr/>
        </p:nvSpPr>
        <p:spPr>
          <a:xfrm>
            <a:off x="4000500" y="384810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8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工具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双层记忆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RAG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购买方案</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8" name="矩形 17">
            <a:extLst>
              <a:ext uri="{FF2B5EF4-FFF2-40B4-BE49-F238E27FC236}">
                <a16:creationId xmlns:a16="http://schemas.microsoft.com/office/drawing/2014/main" id="{6ED25AF8-C1C0-4E88-86CB-A420980D31CF}"/>
              </a:ext>
            </a:extLst>
          </p:cNvPr>
          <p:cNvSpPr>
            <a:spLocks noGrp="1"/>
          </p:cNvSpPr>
          <p:nvPr/>
        </p:nvSpPr>
        <p:spPr>
          <a:xfrm>
            <a:off x="8896350" y="3848100"/>
            <a:ext cx="1428750" cy="228600"/>
          </a:xfrm>
          <a:prstGeom prst="rect">
            <a:avLst/>
          </a:prstGeom>
          <a:noFill/>
          <a:ln w="0">
            <a:noFill/>
            <a:prstDash val="solid"/>
          </a:ln>
        </p:spPr>
        <p:txBody>
          <a:bodyPr/>
          <a:lstStyle/>
          <a:p>
            <a:pPr algn="r">
              <a:defRPr sz="1125" b="1">
                <a:solidFill>
                  <a:srgbClr val="2B45D8"/>
                </a:solidFill>
                <a:latin typeface="Microsoft YaHei"/>
                <a:ea typeface="Microsoft YaHei"/>
                <a:cs typeface="Microsoft YaHei"/>
              </a:defRPr>
            </a:pPr>
            <a:r>
              <a:rPr lang="zh-CN" altLang="en-US" sz="1200" b="1">
                <a:solidFill>
                  <a:srgbClr val="2B45D8"/>
                </a:solidFill>
                <a:latin typeface="Microsoft YaHei" panose="020B0503020204020204" pitchFamily="34" charset="-122"/>
                <a:ea typeface="Microsoft YaHei" panose="020B0503020204020204" pitchFamily="34" charset="-122"/>
                <a:cs typeface="Microsoft YaHei"/>
              </a:rPr>
              <a:t>烟测可证</a:t>
            </a:r>
            <a:endParaRPr sz="12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19" name="矩形 18">
            <a:extLst>
              <a:ext uri="{FF2B5EF4-FFF2-40B4-BE49-F238E27FC236}">
                <a16:creationId xmlns:a16="http://schemas.microsoft.com/office/drawing/2014/main" id="{08EE775B-8A64-4D40-9B7E-68B8FF1F0CE6}"/>
              </a:ext>
            </a:extLst>
          </p:cNvPr>
          <p:cNvSpPr>
            <a:spLocks noGrp="1"/>
          </p:cNvSpPr>
          <p:nvPr/>
        </p:nvSpPr>
        <p:spPr>
          <a:xfrm>
            <a:off x="819150" y="5010150"/>
            <a:ext cx="10001250" cy="9525"/>
          </a:xfrm>
          <a:prstGeom prst="rect">
            <a:avLst/>
          </a:prstGeom>
          <a:solidFill>
            <a:srgbClr val="E3E6EB"/>
          </a:solidFill>
          <a:ln w="0">
            <a:noFill/>
            <a:prstDash val="solid"/>
          </a:ln>
        </p:spPr>
      </p:sp>
      <p:sp>
        <p:nvSpPr>
          <p:cNvPr id="20" name="矩形 19">
            <a:extLst>
              <a:ext uri="{FF2B5EF4-FFF2-40B4-BE49-F238E27FC236}">
                <a16:creationId xmlns:a16="http://schemas.microsoft.com/office/drawing/2014/main" id="{B6D638DD-A71D-4DCD-AB90-36EEF139ADF6}"/>
              </a:ext>
            </a:extLst>
          </p:cNvPr>
          <p:cNvSpPr>
            <a:spLocks noGrp="1"/>
          </p:cNvSpPr>
          <p:nvPr/>
        </p:nvSpPr>
        <p:spPr>
          <a:xfrm>
            <a:off x="1143000" y="45529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文档与答辩</a:t>
            </a:r>
          </a:p>
        </p:txBody>
      </p:sp>
      <p:sp>
        <p:nvSpPr>
          <p:cNvPr id="21" name="矩形 20">
            <a:extLst>
              <a:ext uri="{FF2B5EF4-FFF2-40B4-BE49-F238E27FC236}">
                <a16:creationId xmlns:a16="http://schemas.microsoft.com/office/drawing/2014/main" id="{BDBD6AA0-08EA-474A-A88E-D4B46CB9DE77}"/>
              </a:ext>
            </a:extLst>
          </p:cNvPr>
          <p:cNvSpPr>
            <a:spLocks noGrp="1"/>
          </p:cNvSpPr>
          <p:nvPr/>
        </p:nvSpPr>
        <p:spPr>
          <a:xfrm>
            <a:off x="4000500" y="45910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en-US" sz="1400" b="0">
                <a:solidFill>
                  <a:srgbClr val="6B7280"/>
                </a:solidFill>
                <a:latin typeface="Microsoft YaHei" panose="020B0503020204020204" pitchFamily="34" charset="-122"/>
                <a:ea typeface="Microsoft YaHei" panose="020B0503020204020204" pitchFamily="34" charset="-122"/>
                <a:cs typeface="Microsoft YaHei"/>
              </a:rPr>
              <a:t>ER / API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架构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报告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en-US" sz="1400" b="0">
                <a:solidFill>
                  <a:srgbClr val="6B7280"/>
                </a:solidFill>
                <a:latin typeface="Microsoft YaHei" panose="020B0503020204020204" pitchFamily="34" charset="-122"/>
                <a:ea typeface="Microsoft YaHei" panose="020B0503020204020204" pitchFamily="34" charset="-122"/>
                <a:cs typeface="Microsoft YaHei"/>
              </a:rPr>
              <a:t>PPT / QA</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55BCF617-C6EE-4545-8A86-0C6D14D5AC3B}"/>
              </a:ext>
            </a:extLst>
          </p:cNvPr>
          <p:cNvSpPr>
            <a:spLocks noGrp="1"/>
          </p:cNvSpPr>
          <p:nvPr/>
        </p:nvSpPr>
        <p:spPr>
          <a:xfrm>
            <a:off x="8896350" y="45910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材料可证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7861C09C-3601-48AD-ABCE-E65D531A6DBB}"/>
              </a:ext>
            </a:extLst>
          </p:cNvPr>
          <p:cNvSpPr>
            <a:spLocks noGrp="1"/>
          </p:cNvSpPr>
          <p:nvPr/>
        </p:nvSpPr>
        <p:spPr>
          <a:xfrm>
            <a:off x="1219200" y="5676900"/>
            <a:ext cx="9334500" cy="28575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lang="en-US" altLang="zh-CN" sz="1250" b="0">
                <a:solidFill>
                  <a:srgbClr val="111318"/>
                </a:solidFill>
                <a:latin typeface="Microsoft YaHei" panose="020B0503020204020204" pitchFamily="34" charset="-122"/>
                <a:ea typeface="Microsoft YaHei" panose="020B0503020204020204" pitchFamily="34" charset="-122"/>
                <a:cs typeface="Microsoft YaHei"/>
              </a:rPr>
              <a:t>Claude Code/Codex </a:t>
            </a:r>
            <a:r>
              <a:rPr lang="zh-CN" altLang="en-US" sz="1250" b="0">
                <a:solidFill>
                  <a:srgbClr val="111318"/>
                </a:solidFill>
                <a:latin typeface="Microsoft YaHei" panose="020B0503020204020204" pitchFamily="34" charset="-122"/>
                <a:ea typeface="Microsoft YaHei" panose="020B0503020204020204" pitchFamily="34" charset="-122"/>
                <a:cs typeface="Microsoft YaHei"/>
              </a:rPr>
              <a:t>参与需求拆解、代码生成、缺陷排查和文档审计；最终以提交记录、源码、测试与日志验收，过程记录见 </a:t>
            </a:r>
            <a:r>
              <a:rPr lang="en-US" altLang="zh-CN" sz="1250" b="0">
                <a:solidFill>
                  <a:srgbClr val="111318"/>
                </a:solidFill>
                <a:latin typeface="Microsoft YaHei" panose="020B0503020204020204" pitchFamily="34" charset="-122"/>
                <a:ea typeface="Microsoft YaHei" panose="020B0503020204020204" pitchFamily="34" charset="-122"/>
                <a:cs typeface="Microsoft YaHei"/>
              </a:rPr>
              <a:t>CODEX_DEFENSE_PREP.md</a:t>
            </a:r>
            <a:r>
              <a:rPr lang="zh-CN" altLang="en-US" sz="1250" b="0">
                <a:solidFill>
                  <a:srgbClr val="111318"/>
                </a:solidFill>
                <a:latin typeface="Microsoft YaHei" panose="020B0503020204020204" pitchFamily="34" charset="-122"/>
                <a:ea typeface="Microsoft YaHei" panose="020B0503020204020204" pitchFamily="34" charset="-122"/>
                <a:cs typeface="Microsoft YaHei"/>
              </a:rPr>
              <a:t>。</a:t>
            </a:r>
            <a:endParaRPr sz="125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4" name="矩形 23">
            <a:extLst>
              <a:ext uri="{FF2B5EF4-FFF2-40B4-BE49-F238E27FC236}">
                <a16:creationId xmlns:a16="http://schemas.microsoft.com/office/drawing/2014/main" id="{FEE46127-B02B-418C-BCCC-3924BA540144}"/>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5" name="矩形 24">
            <a:extLst>
              <a:ext uri="{FF2B5EF4-FFF2-40B4-BE49-F238E27FC236}">
                <a16:creationId xmlns:a16="http://schemas.microsoft.com/office/drawing/2014/main" id="{57827B6B-BE86-4567-A60C-F1ACD0FE256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19</a:t>
            </a:r>
          </a:p>
        </p:txBody>
      </p:sp>
    </p:spTree>
    <p:extLst>
      <p:ext uri="{BB962C8B-B14F-4D97-AF65-F5344CB8AC3E}">
        <p14:creationId xmlns:p14="http://schemas.microsoft.com/office/powerpoint/2010/main" val="231220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954E6F-B1CB-44A2-A461-1A993C9D7074}"/>
              </a:ext>
            </a:extLst>
          </p:cNvPr>
          <p:cNvSpPr>
            <a:spLocks noGrp="1"/>
          </p:cNvSpPr>
          <p:nvPr/>
        </p:nvSpPr>
        <p:spPr>
          <a:xfrm>
            <a:off x="685800" y="914400"/>
            <a:ext cx="2476500" cy="228600"/>
          </a:xfrm>
          <a:prstGeom prst="rect">
            <a:avLst/>
          </a:prstGeom>
          <a:noFill/>
          <a:ln w="0">
            <a:noFill/>
            <a:prstDash val="solid"/>
          </a:ln>
        </p:spPr>
        <p:txBody>
          <a:bodyPr/>
          <a:lstStyle/>
          <a:p>
            <a:pPr algn="l">
              <a:defRPr sz="1200" b="1">
                <a:solidFill>
                  <a:srgbClr val="A9B4D8"/>
                </a:solidFill>
                <a:latin typeface="Consolas"/>
                <a:ea typeface="Consolas"/>
                <a:cs typeface="Consolas"/>
              </a:defRPr>
            </a:pPr>
            <a:r>
              <a:rPr sz="1200" b="1">
                <a:solidFill>
                  <a:srgbClr val="A9B4D8"/>
                </a:solidFill>
                <a:latin typeface="Consolas"/>
                <a:ea typeface="Consolas"/>
                <a:cs typeface="Consolas"/>
              </a:rPr>
              <a:t>CLOSING</a:t>
            </a:r>
          </a:p>
        </p:txBody>
      </p:sp>
      <p:sp>
        <p:nvSpPr>
          <p:cNvPr id="2" name="矩形 1">
            <a:extLst>
              <a:ext uri="{FF2B5EF4-FFF2-40B4-BE49-F238E27FC236}">
                <a16:creationId xmlns:a16="http://schemas.microsoft.com/office/drawing/2014/main" id="{BACBF9CE-814C-4FC2-81C0-B2B973975CAF}"/>
              </a:ext>
            </a:extLst>
          </p:cNvPr>
          <p:cNvSpPr>
            <a:spLocks noGrp="1"/>
          </p:cNvSpPr>
          <p:nvPr/>
        </p:nvSpPr>
        <p:spPr>
          <a:xfrm>
            <a:off x="685800" y="1466850"/>
            <a:ext cx="9906000" cy="1238250"/>
          </a:xfrm>
          <a:prstGeom prst="rect">
            <a:avLst/>
          </a:prstGeom>
          <a:noFill/>
          <a:ln w="0">
            <a:noFill/>
            <a:prstDash val="solid"/>
          </a:ln>
        </p:spPr>
        <p:txBody>
          <a:bodyPr/>
          <a:lstStyle/>
          <a:p>
            <a:pPr algn="l">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我们交付的是一个能讲清楚、跑得起来、</a:t>
            </a:r>
          </a:p>
          <a:p>
            <a:pPr algn="l">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查得到证据的智能商城闭环</a:t>
            </a:r>
          </a:p>
        </p:txBody>
      </p:sp>
      <p:sp>
        <p:nvSpPr>
          <p:cNvPr id="3" name="矩形 2">
            <a:extLst>
              <a:ext uri="{FF2B5EF4-FFF2-40B4-BE49-F238E27FC236}">
                <a16:creationId xmlns:a16="http://schemas.microsoft.com/office/drawing/2014/main" id="{59D60048-06F4-47BA-854B-A8FC937A6134}"/>
              </a:ext>
            </a:extLst>
          </p:cNvPr>
          <p:cNvSpPr>
            <a:spLocks noGrp="1"/>
          </p:cNvSpPr>
          <p:nvPr/>
        </p:nvSpPr>
        <p:spPr>
          <a:xfrm>
            <a:off x="742950" y="3238500"/>
            <a:ext cx="9334500" cy="323850"/>
          </a:xfrm>
          <a:prstGeom prst="rect">
            <a:avLst/>
          </a:prstGeom>
          <a:noFill/>
          <a:ln w="0">
            <a:noFill/>
            <a:prstDash val="solid"/>
          </a:ln>
        </p:spPr>
        <p:txBody>
          <a:bodyPr/>
          <a:lstStyle/>
          <a:p>
            <a:pPr algn="l">
              <a:defRPr sz="1650" b="0">
                <a:solidFill>
                  <a:srgbClr val="D7DBE4"/>
                </a:solidFill>
                <a:latin typeface="Microsoft YaHei"/>
                <a:ea typeface="Microsoft YaHei"/>
                <a:cs typeface="Microsoft YaHei"/>
              </a:defRPr>
            </a:pP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核心演示顺序：登录 → 搜索商品 → 加购下单 → 订单状态 → </a:t>
            </a:r>
            <a:r>
              <a:rPr lang="en-US" altLang="zh-CN" sz="1600" b="0">
                <a:solidFill>
                  <a:srgbClr val="D7DBE4"/>
                </a:solidFill>
                <a:latin typeface="Microsoft YaHei" panose="020B0503020204020204" pitchFamily="34" charset="-122"/>
                <a:ea typeface="Microsoft YaHei" panose="020B0503020204020204" pitchFamily="34" charset="-122"/>
                <a:cs typeface="Microsoft YaHei"/>
              </a:rPr>
              <a:t>AI </a:t>
            </a: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购买方案</a:t>
            </a:r>
            <a:r>
              <a:rPr lang="en-US" altLang="zh-CN" sz="1600" b="0">
                <a:solidFill>
                  <a:srgbClr val="D7DBE4"/>
                </a:solidFill>
                <a:latin typeface="Microsoft YaHei" panose="020B0503020204020204" pitchFamily="34" charset="-122"/>
                <a:ea typeface="Microsoft YaHei" panose="020B0503020204020204" pitchFamily="34" charset="-122"/>
                <a:cs typeface="Microsoft YaHei"/>
              </a:rPr>
              <a:t>/</a:t>
            </a: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查单 → 后台运营 → 日志与验证。</a:t>
            </a:r>
            <a:endParaRPr sz="1600" b="0">
              <a:solidFill>
                <a:srgbClr val="D7DBE4"/>
              </a:solidFill>
              <a:latin typeface="Microsoft YaHei" panose="020B0503020204020204" pitchFamily="34" charset="-122"/>
              <a:ea typeface="Microsoft YaHei" panose="020B0503020204020204" pitchFamily="34" charset="-122"/>
              <a:cs typeface="Microsoft YaHei"/>
            </a:endParaRPr>
          </a:p>
        </p:txBody>
      </p:sp>
      <p:sp>
        <p:nvSpPr>
          <p:cNvPr id="4" name="矩形: 圆角 3">
            <a:extLst>
              <a:ext uri="{FF2B5EF4-FFF2-40B4-BE49-F238E27FC236}">
                <a16:creationId xmlns:a16="http://schemas.microsoft.com/office/drawing/2014/main" id="{9A6BD260-8232-4118-A3C8-BB914F885EA3}"/>
              </a:ext>
            </a:extLst>
          </p:cNvPr>
          <p:cNvSpPr>
            <a:spLocks noGrp="1"/>
          </p:cNvSpPr>
          <p:nvPr/>
        </p:nvSpPr>
        <p:spPr>
          <a:xfrm>
            <a:off x="723900" y="4343400"/>
            <a:ext cx="10001250" cy="838200"/>
          </a:xfrm>
          <a:prstGeom prst="roundRect">
            <a:avLst>
              <a:gd name="adj" fmla="val 2273"/>
            </a:avLst>
          </a:prstGeom>
          <a:solidFill>
            <a:srgbClr val="171A21"/>
          </a:solidFill>
          <a:ln w="9525">
            <a:solidFill>
              <a:srgbClr val="2A2E38"/>
            </a:solidFill>
            <a:prstDash val="solid"/>
          </a:ln>
        </p:spPr>
      </p:sp>
      <p:sp>
        <p:nvSpPr>
          <p:cNvPr id="5" name="矩形 4">
            <a:extLst>
              <a:ext uri="{FF2B5EF4-FFF2-40B4-BE49-F238E27FC236}">
                <a16:creationId xmlns:a16="http://schemas.microsoft.com/office/drawing/2014/main" id="{61896F0A-BCC6-4648-BE7F-DB84B5AD66BD}"/>
              </a:ext>
            </a:extLst>
          </p:cNvPr>
          <p:cNvSpPr>
            <a:spLocks noGrp="1"/>
          </p:cNvSpPr>
          <p:nvPr/>
        </p:nvSpPr>
        <p:spPr>
          <a:xfrm>
            <a:off x="1066800" y="4629150"/>
            <a:ext cx="9334500" cy="304800"/>
          </a:xfrm>
          <a:prstGeom prst="rect">
            <a:avLst/>
          </a:prstGeom>
          <a:noFill/>
          <a:ln w="0">
            <a:noFill/>
            <a:prstDash val="solid"/>
          </a:ln>
        </p:spPr>
        <p:txBody>
          <a:bodyPr/>
          <a:lstStyle/>
          <a:p>
            <a:pPr algn="ctr">
              <a:defRPr sz="1650" b="0">
                <a:solidFill>
                  <a:srgbClr val="FFFFFF"/>
                </a:solidFill>
                <a:latin typeface="Microsoft YaHei"/>
                <a:ea typeface="Microsoft YaHei"/>
                <a:cs typeface="Microsoft YaHei"/>
              </a:defRPr>
            </a:pPr>
            <a:r>
              <a:rPr sz="1650" b="0">
                <a:solidFill>
                  <a:srgbClr val="FFFFFF"/>
                </a:solidFill>
                <a:latin typeface="Microsoft YaHei"/>
                <a:ea typeface="Microsoft YaHei"/>
                <a:cs typeface="Microsoft YaHei"/>
              </a:rPr>
              <a:t>欢迎提问：架构边界、Agent 工具调用、并发事务、Docker 部署和测试证据都可以展开。</a:t>
            </a:r>
          </a:p>
        </p:txBody>
      </p:sp>
      <p:sp>
        <p:nvSpPr>
          <p:cNvPr id="6" name="矩形 5">
            <a:extLst>
              <a:ext uri="{FF2B5EF4-FFF2-40B4-BE49-F238E27FC236}">
                <a16:creationId xmlns:a16="http://schemas.microsoft.com/office/drawing/2014/main" id="{B3BEEF27-77C6-4107-9880-61642154AB6F}"/>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AEB4C0"/>
                </a:solidFill>
                <a:latin typeface="Microsoft YaHei"/>
                <a:ea typeface="Microsoft YaHei"/>
                <a:cs typeface="Microsoft YaHei"/>
              </a:defRPr>
            </a:pPr>
            <a:r>
              <a:rPr sz="900" b="0">
                <a:solidFill>
                  <a:srgbClr val="AEB4C0"/>
                </a:solidFill>
                <a:latin typeface="Microsoft YaHei"/>
                <a:ea typeface="Microsoft YaHei"/>
                <a:cs typeface="Microsoft YaHei"/>
              </a:rPr>
              <a:t>Smart Mall 智能商城答辩</a:t>
            </a:r>
          </a:p>
        </p:txBody>
      </p:sp>
      <p:sp>
        <p:nvSpPr>
          <p:cNvPr id="7" name="矩形 6">
            <a:extLst>
              <a:ext uri="{FF2B5EF4-FFF2-40B4-BE49-F238E27FC236}">
                <a16:creationId xmlns:a16="http://schemas.microsoft.com/office/drawing/2014/main" id="{99D39012-5B2D-4442-B4B8-25E0DCC3E34A}"/>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FFFFFF"/>
                </a:solidFill>
                <a:latin typeface="Consolas"/>
                <a:ea typeface="Consolas"/>
                <a:cs typeface="Consolas"/>
              </a:defRPr>
            </a:pPr>
            <a:r>
              <a:rPr sz="1125" b="0">
                <a:solidFill>
                  <a:srgbClr val="FFFFFF"/>
                </a:solidFill>
                <a:latin typeface="Consolas"/>
                <a:ea typeface="Consolas"/>
                <a:cs typeface="Consolas"/>
              </a:rPr>
              <a:t>20</a:t>
            </a:r>
          </a:p>
        </p:txBody>
      </p:sp>
    </p:spTree>
    <p:extLst>
      <p:ext uri="{BB962C8B-B14F-4D97-AF65-F5344CB8AC3E}">
        <p14:creationId xmlns:p14="http://schemas.microsoft.com/office/powerpoint/2010/main" val="97002768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2847</Words>
  <Application>Microsoft Office PowerPoint</Application>
  <DocSecurity>0</DocSecurity>
  <PresentationFormat>宽屏</PresentationFormat>
  <Paragraphs>405</Paragraphs>
  <Slides>20</Slides>
  <Notes>20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20</vt:i4>
      </vt:variant>
    </vt:vector>
  </HeadingPairs>
  <TitlesOfParts>
    <vt:vector size="24" baseType="lpstr">
      <vt:lpstr>Microsoft YaHei</vt:lpstr>
      <vt:lpstr>Calibri</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iojis slidfh</cp:lastModifiedBy>
  <cp:revision>2</cp:revision>
  <dcterms:created xsi:type="dcterms:W3CDTF">2026-07-09T10:07:23Z</dcterms:created>
  <dcterms:modified xsi:type="dcterms:W3CDTF">2026-07-10T11:37:00Z</dcterms:modified>
</cp:coreProperties>
</file>