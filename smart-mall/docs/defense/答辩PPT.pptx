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f931cc83264bc3" /><Relationship Type="http://schemas.openxmlformats.org/officeDocument/2006/relationships/extended-properties" Target="/docProps/app.xml" Id="R3470c48a398d4fe9" /><Relationship Type="http://schemas.openxmlformats.org/officeDocument/2006/relationships/officeDocument" Target="/ppt/presentation.xml" Id="Rb6c3e02eb94644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ae98484950547de"/>
  </p:sldMasterIdLst>
  <p:notesMasterIdLst>
    <p:notesMasterId xmlns:r="http://schemas.openxmlformats.org/officeDocument/2006/relationships" r:id="R411b9ed2d5d54d9c"/>
  </p:notesMasterIdLst>
  <p:sldIdLst>
    <p:sldId xmlns:r="http://schemas.openxmlformats.org/officeDocument/2006/relationships" id="256" r:id="Re840040ed7c24f8c"/>
    <p:sldId xmlns:r="http://schemas.openxmlformats.org/officeDocument/2006/relationships" id="257" r:id="R22b705c7eeb048ce"/>
    <p:sldId xmlns:r="http://schemas.openxmlformats.org/officeDocument/2006/relationships" id="258" r:id="Rc68e035715de477e"/>
    <p:sldId xmlns:r="http://schemas.openxmlformats.org/officeDocument/2006/relationships" id="259" r:id="Rad8e27cd299049cf"/>
    <p:sldId xmlns:r="http://schemas.openxmlformats.org/officeDocument/2006/relationships" id="260" r:id="Reb4127eee5f1417c"/>
    <p:sldId xmlns:r="http://schemas.openxmlformats.org/officeDocument/2006/relationships" id="261" r:id="R165b772f7345424d"/>
    <p:sldId xmlns:r="http://schemas.openxmlformats.org/officeDocument/2006/relationships" id="262" r:id="R6d059b9a979f42d8"/>
    <p:sldId xmlns:r="http://schemas.openxmlformats.org/officeDocument/2006/relationships" id="263" r:id="R12916a4027ee41a3"/>
    <p:sldId xmlns:r="http://schemas.openxmlformats.org/officeDocument/2006/relationships" id="264" r:id="R510ce99171d341e2"/>
    <p:sldId xmlns:r="http://schemas.openxmlformats.org/officeDocument/2006/relationships" id="265" r:id="Ra124e1e1de484a52"/>
    <p:sldId xmlns:r="http://schemas.openxmlformats.org/officeDocument/2006/relationships" id="266" r:id="Rbe192094b348490b"/>
    <p:sldId xmlns:r="http://schemas.openxmlformats.org/officeDocument/2006/relationships" id="267" r:id="R54145607dd0c4ed7"/>
    <p:sldId xmlns:r="http://schemas.openxmlformats.org/officeDocument/2006/relationships" id="268" r:id="R5c12943589424cd9"/>
    <p:sldId xmlns:r="http://schemas.openxmlformats.org/officeDocument/2006/relationships" id="269" r:id="R7ba216e5e4694ced"/>
    <p:sldId xmlns:r="http://schemas.openxmlformats.org/officeDocument/2006/relationships" id="270" r:id="Rc2320965658748a8"/>
    <p:sldId xmlns:r="http://schemas.openxmlformats.org/officeDocument/2006/relationships" id="271" r:id="R875a7ed7e811460d"/>
    <p:sldId xmlns:r="http://schemas.openxmlformats.org/officeDocument/2006/relationships" id="272" r:id="R19050ea4bfb048b8"/>
    <p:sldId xmlns:r="http://schemas.openxmlformats.org/officeDocument/2006/relationships" id="273" r:id="Rc0c7231c74dc41d0"/>
    <p:sldId xmlns:r="http://schemas.openxmlformats.org/officeDocument/2006/relationships" id="274" r:id="R05ec0b37fba84c62"/>
    <p:sldId xmlns:r="http://schemas.openxmlformats.org/officeDocument/2006/relationships" id="275" r:id="R1dc99e540d0b413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96fd7e2b3594bea" /><Relationship Type="http://schemas.openxmlformats.org/officeDocument/2006/relationships/slideMaster" Target="/ppt/slideMasters/slideMaster1.xml" Id="Raae98484950547de" /><Relationship Type="http://schemas.openxmlformats.org/officeDocument/2006/relationships/notesMaster" Target="/ppt/notesMasters/notesMaster1.xml" Id="R411b9ed2d5d54d9c" /><Relationship Type="http://schemas.openxmlformats.org/officeDocument/2006/relationships/presProps" Target="/ppt/presProps.xml" Id="R46b37c8986a6448f" /><Relationship Type="http://schemas.openxmlformats.org/officeDocument/2006/relationships/tableStyles" Target="/ppt/tableStyles.xml" Id="Rf94011f758a3473d" /><Relationship Type="http://schemas.openxmlformats.org/officeDocument/2006/relationships/slide" Target="/ppt/slides/slide1.xml" Id="Re840040ed7c24f8c" /><Relationship Type="http://schemas.openxmlformats.org/officeDocument/2006/relationships/slide" Target="/ppt/slides/slide2.xml" Id="R22b705c7eeb048ce" /><Relationship Type="http://schemas.openxmlformats.org/officeDocument/2006/relationships/slide" Target="/ppt/slides/slide3.xml" Id="Rc68e035715de477e" /><Relationship Type="http://schemas.openxmlformats.org/officeDocument/2006/relationships/slide" Target="/ppt/slides/slide4.xml" Id="Rad8e27cd299049cf" /><Relationship Type="http://schemas.openxmlformats.org/officeDocument/2006/relationships/slide" Target="/ppt/slides/slide5.xml" Id="Reb4127eee5f1417c" /><Relationship Type="http://schemas.openxmlformats.org/officeDocument/2006/relationships/slide" Target="/ppt/slides/slide6.xml" Id="R165b772f7345424d" /><Relationship Type="http://schemas.openxmlformats.org/officeDocument/2006/relationships/slide" Target="/ppt/slides/slide7.xml" Id="R6d059b9a979f42d8" /><Relationship Type="http://schemas.openxmlformats.org/officeDocument/2006/relationships/slide" Target="/ppt/slides/slide8.xml" Id="R12916a4027ee41a3" /><Relationship Type="http://schemas.openxmlformats.org/officeDocument/2006/relationships/slide" Target="/ppt/slides/slide9.xml" Id="R510ce99171d341e2" /><Relationship Type="http://schemas.openxmlformats.org/officeDocument/2006/relationships/slide" Target="/ppt/slides/slide10.xml" Id="Ra124e1e1de484a52" /><Relationship Type="http://schemas.openxmlformats.org/officeDocument/2006/relationships/slide" Target="/ppt/slides/slide11.xml" Id="Rbe192094b348490b" /><Relationship Type="http://schemas.openxmlformats.org/officeDocument/2006/relationships/slide" Target="/ppt/slides/slide12.xml" Id="R54145607dd0c4ed7" /><Relationship Type="http://schemas.openxmlformats.org/officeDocument/2006/relationships/slide" Target="/ppt/slides/slide13.xml" Id="R5c12943589424cd9" /><Relationship Type="http://schemas.openxmlformats.org/officeDocument/2006/relationships/slide" Target="/ppt/slides/slide14.xml" Id="R7ba216e5e4694ced" /><Relationship Type="http://schemas.openxmlformats.org/officeDocument/2006/relationships/slide" Target="/ppt/slides/slide15.xml" Id="Rc2320965658748a8" /><Relationship Type="http://schemas.openxmlformats.org/officeDocument/2006/relationships/slide" Target="/ppt/slides/slide16.xml" Id="R875a7ed7e811460d" /><Relationship Type="http://schemas.openxmlformats.org/officeDocument/2006/relationships/slide" Target="/ppt/slides/slide17.xml" Id="R19050ea4bfb048b8" /><Relationship Type="http://schemas.openxmlformats.org/officeDocument/2006/relationships/slide" Target="/ppt/slides/slide18.xml" Id="Rc0c7231c74dc41d0" /><Relationship Type="http://schemas.openxmlformats.org/officeDocument/2006/relationships/slide" Target="/ppt/slides/slide19.xml" Id="R05ec0b37fba84c62" /><Relationship Type="http://schemas.openxmlformats.org/officeDocument/2006/relationships/slide" Target="/ppt/slides/slide20.xml" Id="R1dc99e540d0b41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8ccc59353c44f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b96970eafd423b" /><Relationship Type="http://schemas.openxmlformats.org/officeDocument/2006/relationships/notesMaster" Target="/ppt/notesMasters/notesMaster1.xml" Id="R31370d85db354e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4562c573c442ed" /><Relationship Type="http://schemas.openxmlformats.org/officeDocument/2006/relationships/notesMaster" Target="/ppt/notesMasters/notesMaster1.xml" Id="R117bc90e0ba44e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157d39dee342d1" /><Relationship Type="http://schemas.openxmlformats.org/officeDocument/2006/relationships/notesMaster" Target="/ppt/notesMasters/notesMaster1.xml" Id="Rb4296b7bfc3144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6d692a27761444d" /><Relationship Type="http://schemas.openxmlformats.org/officeDocument/2006/relationships/notesMaster" Target="/ppt/notesMasters/notesMaster1.xml" Id="R1135dc1298a749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dee53ef54c45be" /><Relationship Type="http://schemas.openxmlformats.org/officeDocument/2006/relationships/notesMaster" Target="/ppt/notesMasters/notesMaster1.xml" Id="R274fb65b3b0e4c9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d0f2f724b342cf" /><Relationship Type="http://schemas.openxmlformats.org/officeDocument/2006/relationships/notesMaster" Target="/ppt/notesMasters/notesMaster1.xml" Id="R7e877e97edea468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535d208a5c44aa" /><Relationship Type="http://schemas.openxmlformats.org/officeDocument/2006/relationships/notesMaster" Target="/ppt/notesMasters/notesMaster1.xml" Id="Rb9421f927f2540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e26ac120e04f02" /><Relationship Type="http://schemas.openxmlformats.org/officeDocument/2006/relationships/notesMaster" Target="/ppt/notesMasters/notesMaster1.xml" Id="Rd8cfac24450b49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5f4a053e4a84868" /><Relationship Type="http://schemas.openxmlformats.org/officeDocument/2006/relationships/notesMaster" Target="/ppt/notesMasters/notesMaster1.xml" Id="R004dd142f210468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b1e34c5d017445d" /><Relationship Type="http://schemas.openxmlformats.org/officeDocument/2006/relationships/notesMaster" Target="/ppt/notesMasters/notesMaster1.xml" Id="R23e62b5886ef4bb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6c967f05c6647e2" /><Relationship Type="http://schemas.openxmlformats.org/officeDocument/2006/relationships/notesMaster" Target="/ppt/notesMasters/notesMaster1.xml" Id="R237eaa59d06e4d5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586863301f54c16" /><Relationship Type="http://schemas.openxmlformats.org/officeDocument/2006/relationships/notesMaster" Target="/ppt/notesMasters/notesMaster1.xml" Id="R48a938b327e34ac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1745c281e6a4797" /><Relationship Type="http://schemas.openxmlformats.org/officeDocument/2006/relationships/notesMaster" Target="/ppt/notesMasters/notesMaster1.xml" Id="Ra540ede8dc48433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66cf1800e03463e" /><Relationship Type="http://schemas.openxmlformats.org/officeDocument/2006/relationships/notesMaster" Target="/ppt/notesMasters/notesMaster1.xml" Id="R287e246d6f2f4f2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f2b34a10bfc4a42" /><Relationship Type="http://schemas.openxmlformats.org/officeDocument/2006/relationships/notesMaster" Target="/ppt/notesMasters/notesMaster1.xml" Id="R643de3d20c5b487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b12da8921b64f4f" /><Relationship Type="http://schemas.openxmlformats.org/officeDocument/2006/relationships/notesMaster" Target="/ppt/notesMasters/notesMaster1.xml" Id="Rcf55501c7aa043e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f1d3c67e30346e4" /><Relationship Type="http://schemas.openxmlformats.org/officeDocument/2006/relationships/notesMaster" Target="/ppt/notesMasters/notesMaster1.xml" Id="R637488027a7c4ca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5df2c9fc2a242d1" /><Relationship Type="http://schemas.openxmlformats.org/officeDocument/2006/relationships/notesMaster" Target="/ppt/notesMasters/notesMaster1.xml" Id="R35a8f4fb91ba40b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76a7caf65484eb6" /><Relationship Type="http://schemas.openxmlformats.org/officeDocument/2006/relationships/notesMaster" Target="/ppt/notesMasters/notesMaster1.xml" Id="R8acf58703d47414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5052018a06c43f0" /><Relationship Type="http://schemas.openxmlformats.org/officeDocument/2006/relationships/notesMaster" Target="/ppt/notesMasters/notesMaster1.xml" Id="R13dfd5fa7c3742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40e0245d214a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82807197a84874" /><Relationship Type="http://schemas.openxmlformats.org/officeDocument/2006/relationships/slideLayout" Target="/ppt/slideLayouts/slideLayout1.xml" Id="Raa190af484bb46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190af484bb46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a63bcd1fc40b0" /><Relationship Type="http://schemas.openxmlformats.org/officeDocument/2006/relationships/notesSlide" Target="/ppt/notesSlides/notesSlide1.xml" Id="Re5759db084ab40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80215150a14a90" /><Relationship Type="http://schemas.openxmlformats.org/officeDocument/2006/relationships/notesSlide" Target="/ppt/notesSlides/notesSlide2.xml" Id="Re4f3886784f34c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8865e6f0e0494d" /><Relationship Type="http://schemas.openxmlformats.org/officeDocument/2006/relationships/notesSlide" Target="/ppt/notesSlides/notesSlide3.xml" Id="R09023b319b114c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b7d1050dd8435f" /><Relationship Type="http://schemas.openxmlformats.org/officeDocument/2006/relationships/notesSlide" Target="/ppt/notesSlides/notesSlide4.xml" Id="Ra0f6fdcc32b449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287d65bc3a490c" /><Relationship Type="http://schemas.openxmlformats.org/officeDocument/2006/relationships/notesSlide" Target="/ppt/notesSlides/notesSlide5.xml" Id="Rc88e7809f4e840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935691a76b448e" /><Relationship Type="http://schemas.openxmlformats.org/officeDocument/2006/relationships/notesSlide" Target="/ppt/notesSlides/notesSlide6.xml" Id="R4fbd2d80748442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b8c70ae6fe4194" /><Relationship Type="http://schemas.openxmlformats.org/officeDocument/2006/relationships/notesSlide" Target="/ppt/notesSlides/notesSlide7.xml" Id="Rdc7eeadc84ae4a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e84d1d6ce340be" /><Relationship Type="http://schemas.openxmlformats.org/officeDocument/2006/relationships/notesSlide" Target="/ppt/notesSlides/notesSlide8.xml" Id="R4aa2696b16604d3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be5f4ccfcc445f" /><Relationship Type="http://schemas.openxmlformats.org/officeDocument/2006/relationships/notesSlide" Target="/ppt/notesSlides/notesSlide9.xml" Id="R904f21e619394df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63bd10e73840ec" /><Relationship Type="http://schemas.openxmlformats.org/officeDocument/2006/relationships/notesSlide" Target="/ppt/notesSlides/notesSlide10.xml" Id="R0091108f6a4d459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4d6512d1b4174" /><Relationship Type="http://schemas.openxmlformats.org/officeDocument/2006/relationships/notesSlide" Target="/ppt/notesSlides/notesSlide11.xml" Id="R11b19de8dd194a2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1133b8187f4300" /><Relationship Type="http://schemas.openxmlformats.org/officeDocument/2006/relationships/notesSlide" Target="/ppt/notesSlides/notesSlide12.xml" Id="R4be8391d02654d9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e1be36e93489f" /><Relationship Type="http://schemas.openxmlformats.org/officeDocument/2006/relationships/image" Target="/ppt/media/image.jpeg" Id="R90891df9a35247be" /><Relationship Type="http://schemas.openxmlformats.org/officeDocument/2006/relationships/image" Target="/ppt/media/image2.jpeg" Id="R2ba1ae5306234713" /><Relationship Type="http://schemas.openxmlformats.org/officeDocument/2006/relationships/notesSlide" Target="/ppt/notesSlides/notesSlide13.xml" Id="Rc7ee85ddb3bc489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520d00dec34047" /><Relationship Type="http://schemas.openxmlformats.org/officeDocument/2006/relationships/image" Target="/ppt/media/image3.jpeg" Id="R5d7e49f2d1e245b3" /><Relationship Type="http://schemas.openxmlformats.org/officeDocument/2006/relationships/image" Target="/ppt/media/image4.jpeg" Id="R40e9b02fbb0744e6" /><Relationship Type="http://schemas.openxmlformats.org/officeDocument/2006/relationships/notesSlide" Target="/ppt/notesSlides/notesSlide14.xml" Id="R69627daea43a408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2fd61b2627472e" /><Relationship Type="http://schemas.openxmlformats.org/officeDocument/2006/relationships/image" Target="/ppt/media/image5.jpeg" Id="Rd3dd9766c4bc46d8" /><Relationship Type="http://schemas.openxmlformats.org/officeDocument/2006/relationships/image" Target="/ppt/media/image6.jpeg" Id="R05db60ad54c14619" /><Relationship Type="http://schemas.openxmlformats.org/officeDocument/2006/relationships/notesSlide" Target="/ppt/notesSlides/notesSlide15.xml" Id="R61c945f6af964d1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ce348db40c4dc4" /><Relationship Type="http://schemas.openxmlformats.org/officeDocument/2006/relationships/notesSlide" Target="/ppt/notesSlides/notesSlide16.xml" Id="Rb5d7591953384b6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9044e2afd42c8" /><Relationship Type="http://schemas.openxmlformats.org/officeDocument/2006/relationships/notesSlide" Target="/ppt/notesSlides/notesSlide17.xml" Id="R54b641ba796c4c1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33fecef27b43fa" /><Relationship Type="http://schemas.openxmlformats.org/officeDocument/2006/relationships/notesSlide" Target="/ppt/notesSlides/notesSlide18.xml" Id="Rb60d0982dbb447d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349fabd7c44fe7" /><Relationship Type="http://schemas.openxmlformats.org/officeDocument/2006/relationships/notesSlide" Target="/ppt/notesSlides/notesSlide19.xml" Id="Rafb4678b8d3b48d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709e74e2cc4a4c" /><Relationship Type="http://schemas.openxmlformats.org/officeDocument/2006/relationships/notesSlide" Target="/ppt/notesSlides/notesSlide20.xml" Id="Rf38dd50a4858475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A461F3D-F280-42E6-B834-DFCE8B68B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6096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2317C4-F66B-425F-89F5-2086E184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SM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6E8221-0411-40DB-863D-6CA77F8D0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B4D8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A9B4D8"/>
                </a:solidFill>
                <a:latin typeface="Consolas"/>
                <a:ea typeface="Consolas"/>
                <a:cs typeface="Consolas"/>
              </a:rPr>
              <a:t>SMART MALL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14970E-A12C-4E96-BD3B-E02359E8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819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智能商城答辩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8BC503-7376-4C40-94D9-C0E35BF8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704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DB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7DBE4"/>
                </a:solidFill>
                <a:latin typeface="Microsoft YaHei"/>
                <a:ea typeface="Microsoft YaHei"/>
                <a:cs typeface="Microsoft YaHei"/>
              </a:rPr>
              <a:t>淘宝核心链路 + AI 导购助手，一个可演示的微型电商闭环。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8CC624-FD2E-4708-86BB-21BED3DD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504950"/>
            <a:ext cx="3371850" cy="3238500"/>
          </a:xfrm>
          <a:prstGeom xmlns:a="http://schemas.openxmlformats.org/drawingml/2006/main" prst="roundRect">
            <a:avLst>
              <a:gd name="adj" fmla="val 588"/>
            </a:avLst>
          </a:prstGeom>
          <a:solidFill xmlns:a="http://schemas.openxmlformats.org/drawingml/2006/main">
            <a:srgbClr val="171A21"/>
          </a:solidFill>
          <a:ln xmlns:a="http://schemas.openxmlformats.org/drawingml/2006/main" w="9525">
            <a:solidFill>
              <a:srgbClr val="2A2E3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C277A7-195F-4E2F-9569-7344CC406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885950"/>
            <a:ext cx="2724150" cy="112395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7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F03C40-923A-4B5E-AD32-DEDF3601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76450"/>
            <a:ext cx="2305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后端测试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1FC2E0-0E25-4231-AFE2-A3169618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43150"/>
            <a:ext cx="230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2325" b="1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20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1D84C2-0316-428F-A19D-7C91C321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24150"/>
            <a:ext cx="2305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JUnit / 集成测试全通过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850A73-747C-493C-ACD4-FE8F876A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19450"/>
            <a:ext cx="2724150" cy="112395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7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524A47-4D82-4B73-A4C9-123F886A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09950"/>
            <a:ext cx="2305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知识库块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CCC6F9-C700-4CBE-83D3-4BD0A53C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676650"/>
            <a:ext cx="2305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2325" b="1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88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9D995D-A619-46F1-BAE4-96D1478BF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57650"/>
            <a:ext cx="2305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product 60 / review 16 / faq 12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ED0989-41CE-4DAC-8AAC-9DF3F932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EB4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AEB4C0"/>
                </a:solidFill>
                <a:latin typeface="Microsoft YaHei"/>
                <a:ea typeface="Microsoft YaHei"/>
                <a:cs typeface="Microsoft YaHei"/>
              </a:rPr>
              <a:t>企业实训最终项目答辩 · 2026-07-09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19133E-CBF6-4A17-ADEF-67535DD1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4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EB4C0"/>
                </a:solidFill>
                <a:latin typeface="Microsoft YaHei"/>
                <a:ea typeface="Microsoft YaHei"/>
                <a:cs typeface="Microsoft YaHei"/>
              </a:rPr>
              <a:t>Smart Mall 智能商城答辩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7F9E71-CC5E-405A-9364-77D609B7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3343776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CA602CE-99E5-4EB9-AF2E-C7B956DB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rPr>
              <a:t>CONTENTS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6128B9-CE28-4DC6-9B2D-6896F3B6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今天讲清楚一个闭环，而不是一堆页面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5C935E-A31C-4246-9A2C-FB88562B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45D8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2B45D8"/>
                </a:solidFill>
                <a:latin typeface="Consolas"/>
                <a:ea typeface="Consolas"/>
                <a:cs typeface="Consolas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76E1A5-77B6-4143-A624-2AA63682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7049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项目定位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185FC9-CFD0-44CD-AFD1-604DF9AA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430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为什么是“淘宝 + AI 助手”的实训闭环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904D86-D783-42EA-94E8-95AA4689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2098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452081-9625-4A16-8FF5-3096178CF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1935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45D8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2B45D8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18C80A-FE6B-412F-A84E-5224048C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479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架构与数据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AEA573-A272-411F-94D1-2DD0230B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8602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前后端分离、独立 Agent、MySQL 边界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3069F1-EE09-4BC4-BE20-A3BBFB1C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527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9B4D16-CA67-40EA-80B4-89C475CA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6230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45D8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2B45D8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C961A5-0AD5-46E8-BE8C-850E6B77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1908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五个亮点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42A9E7-B2F0-4149-9973-BB1EFC1D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2289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推荐闭环、RAG、多步工具、动效工程、并发事务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6381E2-82C8-4B26-B0CD-D91A7DDE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6957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7E25C7-6D80-4FE7-9BB9-93E7E702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0525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45D8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2B45D8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ACE217-65FF-4F1C-9C06-4773594A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3382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真实界面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896513-E606-4412-9BC5-DEFF4F29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7192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商品、聊天、购物车、订单、运营后台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4BCA1C-56B0-47C4-82CF-06A2E646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386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C38B73-B1F8-4054-9116-C1345786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48200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45D8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2B45D8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DCA810-3083-42DC-8CE1-A13A1CDCD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6767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验证与复盘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8E1AF5-1FE5-4CEF-B15E-08D5652F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7148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测试、Docker、日志、已完成与待改进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9A9E13-684A-492E-9699-8DEE9820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18160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7A6E6A-0E66-4B7B-8887-3C80C2EE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Smart Mall 智能商城答辩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F35EA7-5E78-4121-973B-AE67528B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789405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132CA5-F1D1-45A1-B8EF-78CD0BDD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rPr>
              <a:t>PROJECT POSITIONING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0B7A06-EF58-4A6D-9FE0-C9B9CB15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项目目标是把电商主链路和 Agent 能力同时跑通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2BF671-D85C-4A45-903B-913B85B7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Smart Mall 面向企业实训答辩，不追求生产级大促架构，重点是五大模块可演示、技术栈落地、工程边界讲得清。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58E95C-B3E6-4D6D-9E34-BF801AB2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24100"/>
            <a:ext cx="3257550" cy="1162050"/>
          </a:xfrm>
          <a:prstGeom xmlns:a="http://schemas.openxmlformats.org/drawingml/2006/main" prst="roundRect">
            <a:avLst>
              <a:gd name="adj" fmla="val 1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39E193-DB65-42A4-8343-5EDC2F58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五大模块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E8AAC7-11B5-4258-869A-AA9815F8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81300"/>
            <a:ext cx="2876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2400" b="1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31245D-2D2C-4AF2-8DFF-20FD702F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00400"/>
            <a:ext cx="2876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用户 / 商品 / 订单 / 搜索 / AI 助手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51D6F7-8053-4588-9359-6985EECA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24100"/>
            <a:ext cx="3257550" cy="1162050"/>
          </a:xfrm>
          <a:prstGeom xmlns:a="http://schemas.openxmlformats.org/drawingml/2006/main" prst="roundRect">
            <a:avLst>
              <a:gd name="adj" fmla="val 1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808913-C156-4C12-8BFB-AC84C2A2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1460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可部署单元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7FC303-5DB0-41A3-91B7-80C71F836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81300"/>
            <a:ext cx="2876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2400" b="1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E4A402-555E-4F04-BF71-C0C070CD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00400"/>
            <a:ext cx="2876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frontend / backend / agent / mysql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C473A2-0D5E-4053-9DC8-334C34F4D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24100"/>
            <a:ext cx="3257550" cy="1162050"/>
          </a:xfrm>
          <a:prstGeom xmlns:a="http://schemas.openxmlformats.org/drawingml/2006/main" prst="roundRect">
            <a:avLst>
              <a:gd name="adj" fmla="val 1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0EC0A4-94A2-4A98-AFF9-DD50ADE9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14600"/>
            <a:ext cx="2876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验收主线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C15102-F2DE-44E6-889D-CF93AED1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781300"/>
            <a:ext cx="2876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2400" b="1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9FBEDD-B9A3-496B-971C-41AC77BC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00400"/>
            <a:ext cx="2876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注册登录到下单再到 AI 推荐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6B1906-A95A-4096-A7B1-982105C0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67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0E42DE-453E-48EB-BC83-B43DC5F86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商城是业务载体，真正考核点是需求、架构、开发、测试、部署和答辩表达。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723491-2FB6-4CBB-AFCA-6965355A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05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852D14-B241-4942-B30B-232529E7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43865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Agent 独立成 Python 微服务，避免把 LangChain 逻辑塞进主业务后端。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C9DBCD-B433-43D4-91F6-11FEF420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43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9EC91F-DBFD-4784-98C9-074B5318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768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所有演示都围绕真实商品、真实订单、真实数据库状态展开。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D861C7-229C-4B21-8185-C552FAEA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Smart Mall 智能商城答辩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6979D1-1BF1-49A5-B89A-0B3CA98A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653997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3E4766-7F0F-41E1-ADA2-908AD59A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AD63AE-1F78-47E4-9FBD-720035C2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四层架构让业务系统和智能体边界清晰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63C528-3704-4261-9839-A91A21FF8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2000250" cy="8763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89F447-1AFC-43A9-8DDC-43D9F203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479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Vue3 前端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46318A-86CD-4D0B-961F-C6D2C7067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Nginx 静态站点 / axios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291ADF-2DFF-4510-8A2C-760909C7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6702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2F41F1-700A-49E0-AF55-25675B44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622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45D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2B45D8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D8463E-402A-4631-B2AB-2B2E575CD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476500"/>
            <a:ext cx="2190750" cy="8763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2B45D8"/>
          </a:solidFill>
          <a:ln xmlns:a="http://schemas.openxmlformats.org/drawingml/2006/main" w="9525">
            <a:solidFill>
              <a:srgbClr val="2B45D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15BDB5-3740-4294-8E0E-6E3EFE9E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64795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Spring Boot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9170F7-2628-4A48-A699-8C353964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95275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CE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DCE3FF"/>
                </a:solidFill>
                <a:latin typeface="Microsoft YaHei"/>
                <a:ea typeface="Microsoft YaHei"/>
                <a:cs typeface="Microsoft YaHei"/>
              </a:rPr>
              <a:t>REST API / JWT / JPA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906D16-F899-4A5A-93F5-CB5137A79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6702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D15597-83CE-492E-8907-24EE3AD2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622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45D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2B45D8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CDD2E1-28C2-462F-8F1B-82C073C6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76500"/>
            <a:ext cx="2000250" cy="8763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4E8159-13D7-41BE-B7FA-52CD2AEE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6479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MySQL 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7A4D47-E74D-4F3A-9480-90FCFA58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5275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主业务唯一数据源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01FF70-FAA6-4DA4-ABD9-381BC666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095750"/>
            <a:ext cx="2190750" cy="8763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AE178C-4DAF-45D1-8B64-24BAFC76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2672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FastAPI Agent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955372-6F76-4396-9E52-3032933B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57200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LangChain / Tools / Memory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C5AE68-771A-4409-BC2E-A12EE34C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52800"/>
            <a:ext cx="190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CAB40B-ADC8-4A69-AB3A-825C6BCA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386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工具调用通过 REST 回访主后端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BC039A-6BAF-4657-BEC7-688BBF7A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340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Agent 只直连专属记忆表：agent_conversation / user_preference / knowledge_chunk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CDE427-5877-4615-8E4D-03BA6307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Smart Mall 智能商城答辩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BE4680-6347-401D-8B8B-CF404E91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881529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2A72F0-0E55-4828-9FF9-C66F7391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rPr>
              <a:t>TECH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978251-3237-47A4-BA8A-58F514D6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技术栈选择围绕课程要求收敛，没有引入重型治理组件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7908E8-C096-45DF-9E74-E18DB6E1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C33E1D-C138-46BB-AB4C-0DCF48553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rPr>
              <a:t>前端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1B2BE1-5BDB-4A46-BB28-E12E1AA1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5621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Vue3 + Vite + Vue Router + axios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99ECE4-F7C2-4A25-A9CA-F60234FC2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9067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组件化页面、路由守卫、统一请求拦截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C0F654-3D02-4370-82F6-5C93112E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1A7D34-BD04-4E84-BE70-AAC7E8ED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rPr>
              <a:t>后端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824D52-833E-458D-A129-C1FE8945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622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Spring Boot 3.3 + Security + JWT + JPA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4BE321-7C3E-40A7-82C0-1996C1608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9077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RESTful API、权限控制、事务与领域服务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5C1CB3-B3BC-4B28-B3F0-B0BDAC36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492C3D-9FE1-4F88-ABCB-CEC7F8050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rPr>
              <a:t>数据库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C5A5EF-2EDA-40A1-B2C2-3D4B235C6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623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MySQL 8.0 + InnoDB + utf8mb4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077327-86FF-4475-BE91-C13F120E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9087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三范式建模、索引、乐观锁库存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F596DD-BF2D-4B1E-B54C-74DD7B50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D55AC0-2404-4A7A-92B5-50B1497A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rPr>
              <a:t>AI 服务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821493-0DD3-4849-928E-00837327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624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FastAPI + LangChain + SQLAlchemy + httpx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524CD3-8990-4BC9-8F22-1C6712161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9097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工具调用、短期/长期记忆、服务间认证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1CDF74-5CC4-48D1-8B2B-0C2C4811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3033D1-64C4-45CF-993C-517E2696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rPr>
              <a:t>部署测试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998C50-E724-45BD-A1DD-96B16290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Docker Compose + JUnit5 + 并发脚本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1C8CBF-616C-46CA-BF97-A05293C0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791075"/>
            <a:ext cx="371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四服务一键启动、回归和验收脚本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B92C20-2BC4-4C68-BE34-5A3F2CB7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Smart Mall 智能商城答辩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4EACAC-DFC9-4924-9FCB-8C617387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090872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1380E1-E6A2-4E93-9E56-45A3CC76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rPr>
              <a:t>DATABASE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799E2B-C9CC-4074-84F2-F093FF75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数据库按业务事实拆表，订单快照只保存历史事实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92748B-05F7-424B-825D-D284B816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866900" cy="2247900"/>
          </a:xfrm>
          <a:prstGeom xmlns:a="http://schemas.openxmlformats.org/drawingml/2006/main" prst="roundRect">
            <a:avLst>
              <a:gd name="adj" fmla="val 10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1AD619-E9CF-4663-9328-9CD64E586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用户域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91FC19-DFE4-4A0D-9092-1F54042E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1409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user</a:t>
            </a:r>
          </a:p>
          <a:p xmlns:a="http://schemas.openxmlformats.org/drawingml/2006/main">
            <a:pPr algn="ctr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shipping_address</a:t>
            </a:r>
          </a:p>
          <a:p xmlns:a="http://schemas.openxmlformats.org/drawingml/2006/main">
            <a:pPr algn="ctr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user_preference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942E81-63F4-4DC9-A41A-445D4A3B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57350"/>
            <a:ext cx="1866900" cy="2247900"/>
          </a:xfrm>
          <a:prstGeom xmlns:a="http://schemas.openxmlformats.org/drawingml/2006/main" prst="roundRect">
            <a:avLst>
              <a:gd name="adj" fmla="val 10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89C6DE-3525-448C-833F-3760DA0F5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859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商品域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30E8AA-5E24-40F0-B8B8-C1DB139C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81250"/>
            <a:ext cx="1409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category</a:t>
            </a:r>
          </a:p>
          <a:p xmlns:a="http://schemas.openxmlformats.org/drawingml/2006/main">
            <a:pPr algn="ctr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product</a:t>
            </a:r>
          </a:p>
          <a:p xmlns:a="http://schemas.openxmlformats.org/drawingml/2006/main">
            <a:pPr algn="ctr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product_tag</a:t>
            </a:r>
          </a:p>
          <a:p xmlns:a="http://schemas.openxmlformats.org/drawingml/2006/main">
            <a:pPr algn="ctr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product_review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EB2C5B-8A1F-48AF-A16A-54F99B4B1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657350"/>
            <a:ext cx="1866900" cy="2247900"/>
          </a:xfrm>
          <a:prstGeom xmlns:a="http://schemas.openxmlformats.org/drawingml/2006/main" prst="roundRect">
            <a:avLst>
              <a:gd name="adj" fmla="val 10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EC22C8-E2E5-4C24-A58E-DB2FF92F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859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交易域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CE8087-F92C-4626-B83E-C0DB0F03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381250"/>
            <a:ext cx="1409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cart</a:t>
            </a:r>
          </a:p>
          <a:p xmlns:a="http://schemas.openxmlformats.org/drawingml/2006/main">
            <a:pPr algn="ctr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order</a:t>
            </a:r>
          </a:p>
          <a:p xmlns:a="http://schemas.openxmlformats.org/drawingml/2006/main">
            <a:pPr algn="ctr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order_item</a:t>
            </a:r>
          </a:p>
          <a:p xmlns:a="http://schemas.openxmlformats.org/drawingml/2006/main">
            <a:pPr algn="ctr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after_sale_request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844842-9B61-4F7E-AF92-EA488C58C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657350"/>
            <a:ext cx="1866900" cy="2247900"/>
          </a:xfrm>
          <a:prstGeom xmlns:a="http://schemas.openxmlformats.org/drawingml/2006/main" prst="roundRect">
            <a:avLst>
              <a:gd name="adj" fmla="val 102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D6F1F2-E196-4967-9B45-7A22FF0E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8859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运营与行为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BDFEF8-C3F3-4B46-AF97-2797BFFA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381250"/>
            <a:ext cx="1409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banner_slot</a:t>
            </a:r>
          </a:p>
          <a:p xmlns:a="http://schemas.openxmlformats.org/drawingml/2006/main">
            <a:pPr algn="ctr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search_keyword_log</a:t>
            </a:r>
          </a:p>
          <a:p xmlns:a="http://schemas.openxmlformats.org/drawingml/2006/main">
            <a:pPr algn="ctr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favorite / view log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5218B6-AA69-4503-809A-15E8BB03D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657350"/>
            <a:ext cx="1866900" cy="2247900"/>
          </a:xfrm>
          <a:prstGeom xmlns:a="http://schemas.openxmlformats.org/drawingml/2006/main" prst="roundRect">
            <a:avLst>
              <a:gd name="adj" fmla="val 1020"/>
            </a:avLst>
          </a:prstGeom>
          <a:solidFill xmlns:a="http://schemas.openxmlformats.org/drawingml/2006/main">
            <a:srgbClr val="EBEEFC"/>
          </a:solidFill>
          <a:ln xmlns:a="http://schemas.openxmlformats.org/drawingml/2006/main" w="9525">
            <a:solidFill>
              <a:srgbClr val="2B45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4E1C91-9A27-4FC0-B044-A5289BA8C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859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rPr>
              <a:t>Agent 记忆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DD4665-C27D-40A4-A5E5-DC2BCF9A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381250"/>
            <a:ext cx="1409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agent_conversation</a:t>
            </a:r>
          </a:p>
          <a:p xmlns:a="http://schemas.openxmlformats.org/drawingml/2006/main">
            <a:pPr algn="ctr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user_preference</a:t>
            </a:r>
          </a:p>
          <a:p xmlns:a="http://schemas.openxmlformats.org/drawingml/2006/main">
            <a:pPr algn="ctr">
              <a:def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knowledge_chunk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DFF893-0514-43B8-A39F-D1B20143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62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A4D370-63E2-4298-BC19-912F9039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49580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商品、购物车、订单主表、订单明细分离，避免展示字段在多个表里重复。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B71B25-4E79-470D-8721-04EDD7D0D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62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EEEDD8-0BE4-4D4F-82F5-793E33792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958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order_item 的商品名和价格是下单时刻快照，用于历史订单，不属于随商品表可推导的当前字段。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A5AF25-5DED-423F-88EA-55C90CE3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3625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2BA48E-7016-4905-A4EA-7E9405A01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29590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knowledge_chunk 是 Agent 轻量 RAG 的运行时知识表，当前共有 88 条块。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95939D-78D7-4D7D-A5AB-946FB127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Smart Mall 智能商城答辩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40FB82-5F1D-4581-B58D-58CF226A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30306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75817C-6A24-4B80-86BB-E4C8E2D6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rPr>
              <a:t>FUNCTION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65B831-EF4A-423D-B334-E158E74E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功能不是孤立堆叠，而是围绕购买链路组织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394C34-E844-4E83-87E3-B9AF1C1E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3028950" cy="8382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AC6100-26A9-460D-BB54-050EB801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669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C75C04-64C2-49F2-BC68-F1B4FF7E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8288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认证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69B16D-69D0-4836-8195-5D61D63A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1336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注册 / 登录 / 刷新 Token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978D47-F463-4AB7-98E9-1B252E4C5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57350"/>
            <a:ext cx="3028950" cy="8382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83C18F-32D3-4B33-AAA0-C8F53091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669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A0A092-302C-4FAD-B08A-71D19547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8288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商品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177F2F-7724-4290-971D-8666EF78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1336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分类 / CRUD / 标签 / 推荐位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006873-A362-4D94-B3D2-9E1497372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57350"/>
            <a:ext cx="3028950" cy="8382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A32AC3-6692-4653-87EC-4103AC6C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669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295E4B-EEE9-4FBF-AA98-0F54F6CC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288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搜索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0AB250-0AC1-453B-9248-3054534DC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336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关键词 / 排序 / 分页 / 热词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0C9566-3D09-4D5F-B0F2-9F8A7FAD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8450"/>
            <a:ext cx="3028950" cy="8382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07F6EA-5A7B-4849-A6FC-A64F91119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480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8933D8-C3FA-465B-A8C6-583852847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099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购物车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B1CD9C-3583-404B-9F14-4CD366B0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147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加购 / 数量校验 / 清空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954480-1007-49B4-9835-E41B78CD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38450"/>
            <a:ext cx="3028950" cy="8382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42D37B-9774-4DC2-8E31-500D3CB13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480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E9E095-2EC0-40A0-BDE4-3E6270A8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099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订单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F64314-E19C-4127-8C93-E17DAC23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3147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下单 / 支付 / 发货 / 确认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A17FB3-D1AB-475E-9823-09444568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38450"/>
            <a:ext cx="3028950" cy="8382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8174AA-80B9-45BD-919D-D73B8D25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480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DCED3E-FC55-4B4C-9E55-1F72F0835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099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售后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CB9A67-37CD-4511-AE62-5A3DE019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147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退款申请 / 审核 / 回补库存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B8D6F1-0E1B-43FF-9027-C7B8B086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3028950" cy="8382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10D3776-A675-4248-9BA0-4C572CA8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291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FDAAC4-1059-4CD0-8B66-56A1CEF8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910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用户体验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411A7A-C8D2-4D5C-8731-9ECB75562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958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收藏 / 足迹 / 评价 / 积分券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A3AF77-81FF-4EA6-9C7C-BF5732BA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019550"/>
            <a:ext cx="3028950" cy="8382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E6FBD4-6C59-4855-BDD1-4D069A46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2291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B81EE7-9933-4F19-BAA8-2E3068EC6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1910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AI 助手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950A74-7590-4A89-B75E-A0761ADF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4958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导购 / 查单 / 偏好记忆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6A7975-9CFE-41FB-B61F-590D37520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19550"/>
            <a:ext cx="3028950" cy="8382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AE13213-F9C7-45B0-A633-D07C365C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291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B2F66C-9B02-446F-82CF-08916151F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910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后台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FA25368-E6A1-4AB5-80FD-EB3192E5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4958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数据看板 / 商品 / 订单 / 日志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D76BF21-6D42-4C9B-A786-4D505761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Smart Mall 智能商城答辩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55CA287-6933-4E34-BDD3-ECE66AF1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18483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A7DB2B-12A3-449E-A864-2654205C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rPr>
              <a:t>HIGHLIGHT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DF7C2E-3E5A-4792-8D96-5DED0099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个性化推荐形成从对话到首页的闭环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C62249-6802-4D3C-BAEE-17CBC107C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2000250" cy="8763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E614D9-00E8-4BCD-AE90-C3CDA7B3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146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用户表达偏好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9A19F1-4AC6-40AF-A672-BE5D5C48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1940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“我喜欢机械键盘”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9F9C9F-3BD0-4DEC-88AF-6CCA0A47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432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5154DB-B9A0-4C0B-9394-E65CFCBB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6384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45D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2B45D8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23888D-1826-48CF-B22A-A4FBBDBF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43150"/>
            <a:ext cx="2190750" cy="8763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47AB5B-5488-4782-B2E4-DA36B09B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5146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Agent 提炼标签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7AE8C4-3C27-4242-845B-D9CE1DD6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81940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规则 + LLM JSON 提炼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C2193C-B122-4F20-9253-FD26FA599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432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470D1B-9788-4FF4-A9DB-63D3AF5D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384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45D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2B45D8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F52520-0FAB-419A-9A05-644985E2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43150"/>
            <a:ext cx="2190750" cy="8763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2B45D8"/>
          </a:solidFill>
          <a:ln xmlns:a="http://schemas.openxmlformats.org/drawingml/2006/main" w="9525">
            <a:solidFill>
              <a:srgbClr val="2B45D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4F166E-14B2-4FEF-A7E3-454AED03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51460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user_preference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A078BA-CC2F-4423-9467-49F6F7F2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19400"/>
            <a:ext cx="1847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CE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DCE3FF"/>
                </a:solidFill>
                <a:latin typeface="Microsoft YaHei"/>
                <a:ea typeface="Microsoft YaHei"/>
                <a:cs typeface="Microsoft YaHei"/>
              </a:rPr>
              <a:t>upsert 权重封顶 2.0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81FB0A-ACBE-4EC1-BAD1-4BE8FF86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43200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60A9AB-92C8-495B-8B33-B0CCA5CF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638425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45D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2B45D8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A4A3C0-AA4B-4DE8-A1D7-815FFBE5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43150"/>
            <a:ext cx="2000250" cy="8763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DC9115-742D-4185-A941-35145B37C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51460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推荐注入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FA807A-5D9B-4A05-8787-6AE7C9B0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81940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下次会话和首页优先考虑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E3F3AC-C907-4E99-BFE1-FB1111FB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095750"/>
            <a:ext cx="2667000" cy="112395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F88AE3-DFB3-488B-8243-CCE0FCAC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2862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长期偏好读取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8DC6DE-0DE5-462D-8FBF-7AE81D13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5529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2400" b="1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Top 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9240C0-DA62-432F-9B70-CDA037F6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9720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system prompt 注入最高权重标签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CBD7584-E0E2-43C2-BB62-3FEB45F4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95750"/>
            <a:ext cx="2667000" cy="112395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CDF4B2-A619-4ED8-B1BA-CB14EFB7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862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权重策略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467140-0F74-4886-8094-E9B5BE07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529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2400" b="1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+0.1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03113E-5BDD-418F-A189-8FA5003D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720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重复偏好递增，最高 2.0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9A3020-6716-49F2-86F5-6A80EFD7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095750"/>
            <a:ext cx="2667000" cy="112395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24F02B-F3B9-47D3-8684-C17F722C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862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演示用户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B725E2-B017-4408-B2D6-0D00DC412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529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alice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5AFF00-B6D5-421E-9B84-C907ABC8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9720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已存在机械键盘等偏好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1073A5-87D9-4406-92E5-83C9C610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Smart Mall 智能商城答辩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00349C-F617-4030-ADE6-F05CBC0F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605100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9706A2-FA3C-4B91-9F11-B0D6C1D1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rPr>
              <a:t>HIGHLIGHT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293E68-0808-4773-AFB4-852CC519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轻量 RAG 让回答受真实商品知识约束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47207A-151E-4B46-B8A2-8DE774E01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2324100" cy="112395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C66E2B-054F-4E5A-9F40-69F56F3CF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知识块总量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F06105-B8A0-4D17-A7FF-BD2FE30B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2400" b="1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88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3DB0F6-ACC6-4985-9CE7-74C5AA68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52700"/>
            <a:ext cx="1943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当前 MySQL knowledge_chunk 查询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96B133-A5DF-4EC9-BBCD-00EB48C0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676400"/>
            <a:ext cx="2324100" cy="112395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B3AC5C-315F-40F8-A0C4-3D150ABE2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866900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商品块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563117-07D6-4BB9-B66A-B711A0AE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133600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2400" b="1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60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675486-F0CE-4AFD-B580-73F586B9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52700"/>
            <a:ext cx="1943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product source_type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5CCE47-CFFD-4D75-9E7A-8B5986E0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676400"/>
            <a:ext cx="2324100" cy="112395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FFCC2C-A23B-422B-8217-3D2B1FE15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66900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评价块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1F929B-9B81-41C1-A7C5-62B88054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33600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2400" b="1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16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D370FF-2BF2-4517-999F-9A51C8C3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52700"/>
            <a:ext cx="1943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review source_type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05A3CF-7C8D-47B5-9270-72640D3F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76400"/>
            <a:ext cx="2324100" cy="112395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81E6A1-FB5A-4D15-8D0B-8F41D8BF9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866900"/>
            <a:ext cx="1943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FAQ 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D858AA-03DE-405A-8747-72C209499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33600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2400" b="1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1AC75A-6F4A-435F-BE5E-97AF9AF1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52700"/>
            <a:ext cx="1943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faq source_type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6E558E-2391-4BD5-B6BA-939CDEDC3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33800"/>
            <a:ext cx="1809750" cy="78105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0EF404-5D33-4081-9991-D826ACF7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052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商品描述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C65E0A-9EDC-4F5E-88A6-CB4B9732E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100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product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492F46-FAF9-4119-949B-1A9092174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04812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812213-4380-48B9-B957-991ECAB2D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9433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45D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2B45D8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4F7A8B-1195-4817-8FE1-8123437D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733800"/>
            <a:ext cx="1809750" cy="78105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6DF6D1-7A17-4598-9388-11CFB127B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052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评价与 FAQ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4751BE-5815-4C57-9582-77438E75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10050"/>
            <a:ext cx="1466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review / faq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515E19-3B4D-4121-A18E-DAB93DCCB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04812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AE5237A-9DC7-473C-98A8-DCEBF530D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433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45D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2B45D8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C9AAFB-0FFC-452B-A966-07567893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733800"/>
            <a:ext cx="2095500" cy="78105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2B45D8"/>
          </a:solidFill>
          <a:ln xmlns:a="http://schemas.openxmlformats.org/drawingml/2006/main" w="9525">
            <a:solidFill>
              <a:srgbClr val="2B45D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CA769D-49C8-48F0-9C3E-F566A178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9052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knowledge_chunk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2390C2-DCAE-4C86-9D2C-179A42EA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10050"/>
            <a:ext cx="1752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CE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DCE3FF"/>
                </a:solidFill>
                <a:latin typeface="Microsoft YaHei"/>
                <a:ea typeface="Microsoft YaHei"/>
                <a:cs typeface="Microsoft YaHei"/>
              </a:rPr>
              <a:t>轻量知识库表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97F219-B4E7-4FDB-ACA8-2EF6058E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048125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52638D-2AA9-45B4-B823-A97A0357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433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45D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2B45D8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578F97-6811-482F-8FA0-B2631B2B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33800"/>
            <a:ext cx="2286000" cy="78105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B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982BC1-66D4-41FE-A9CC-E898A511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9052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search_knowledge_base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537E8A-6669-41ED-88DE-9F4BB8B80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10050"/>
            <a:ext cx="1943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Agent 工具调用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D9DE24-AD05-40CE-98C0-4249849B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197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RAG 在这里不是向量数据库大工程，而是围绕商品、评价和 FAQ 的可演示轻量检索。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BA6338C-14B0-451B-B57D-922E5A3B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Smart Mall 智能商城答辩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89D1A20-C0E8-4CD0-A2C9-DC643B4E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363728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4B9C63-049E-493F-AD27-983789D33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rPr>
              <a:t>HIGHLIGHT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522CD1-0956-45DB-9EC5-38FC51DE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多步工具编排让导购从问答变成行动计划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9FE402-E728-4BC3-A201-E42B1146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5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7CBEF9-FB0B-4A06-8F1C-2C15FEB62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6858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2B45D8"/>
          </a:solidFill>
          <a:ln xmlns:a="http://schemas.openxmlformats.org/drawingml/2006/main" w="9525">
            <a:solidFill>
              <a:srgbClr val="2B45D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6A94AF-04AB-48DE-9279-59C87B94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CBB07-5DF0-496B-BF98-D170EDBE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识别场景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D72B72-63D9-41D8-8116-A42AA87E5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00400"/>
            <a:ext cx="1981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礼物、宿舍、预算、用途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96D736-C7ED-409B-94B0-AB671F71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219325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CBEE49-D437-4044-AEEF-BD228F0B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1145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45D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2B45D8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018E71-447A-42B8-9260-226D9556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431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5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21EF3A-86E8-4AD8-BC27-00F179EA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866900"/>
            <a:ext cx="6858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2B45D8"/>
          </a:solidFill>
          <a:ln xmlns:a="http://schemas.openxmlformats.org/drawingml/2006/main" w="9525">
            <a:solidFill>
              <a:srgbClr val="2B45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3C8284-71A4-442E-BA53-79939ADF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0002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1C1AD0-7FB1-4A01-9FE1-B47A190B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765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检索商品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2A6D44-DE23-4180-9ED0-024630761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00400"/>
            <a:ext cx="1981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search_products / recommend_by_preference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A8CAF4-C4C9-4797-A935-F06A6F07C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219325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B5F81B-56FB-4F45-B0CB-1E7C6B45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145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45D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2B45D8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2FFD04-63AE-4B1D-8EA3-7C9325C4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9431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5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765FAA-37C5-49E1-B66C-46A59EDB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866900"/>
            <a:ext cx="6858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2B45D8"/>
          </a:solidFill>
          <a:ln xmlns:a="http://schemas.openxmlformats.org/drawingml/2006/main" w="9525">
            <a:solidFill>
              <a:srgbClr val="2B45D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6C680A-065C-4076-A422-8DEABF07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0002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729927-8B95-40A1-8117-9632E558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8765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补充知识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D48AAB-8227-4208-BCD2-04B37F68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00400"/>
            <a:ext cx="1981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search_knowledge_base 读取评价和 FAQ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325E46-26C8-4190-9F4F-62BEAD39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219325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5D2DDA-F6FD-4546-8B31-C23D8F27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145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45D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2B45D8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FF104F-2798-4F66-93B3-A0292979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9431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5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A1B62F-3D61-44BD-8766-F85A2C53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866900"/>
            <a:ext cx="6858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2B45D8"/>
          </a:solidFill>
          <a:ln xmlns:a="http://schemas.openxmlformats.org/drawingml/2006/main" w="9525">
            <a:solidFill>
              <a:srgbClr val="2B45D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CCE589-8597-4C78-8FD8-F1E0770CC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002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CCE755-2311-4E0A-AE33-0A2016A3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765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生成方案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479ED4-5265-4E37-8CAB-1472A071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00400"/>
            <a:ext cx="1981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build_purchase_plan 输出清单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8A57B30-8DB5-4191-B941-4E385FEE0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19325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1831A7-5718-40E1-B7B8-35CFA18D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1455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45D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2B45D8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DF167D-E5B1-47C3-B0EF-0FF7B9477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943100"/>
            <a:ext cx="51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5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467FB8-0138-4A26-B071-4CE791D3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866900"/>
            <a:ext cx="685800" cy="6858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2B45D8"/>
          </a:solidFill>
          <a:ln xmlns:a="http://schemas.openxmlformats.org/drawingml/2006/main" w="9525">
            <a:solidFill>
              <a:srgbClr val="2B45D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82F9C16-4B37-4401-8300-5594CABE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000250"/>
            <a:ext cx="495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22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CF47B7-210E-446E-804C-4AC86A69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765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确认动作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B1219E-E6CB-4451-8E9B-5EEF475D0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00400"/>
            <a:ext cx="1981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用户确认后 add_to_cart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0ECF69-9808-40B8-848C-18671F34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95800"/>
            <a:ext cx="8572500" cy="781050"/>
          </a:xfrm>
          <a:prstGeom xmlns:a="http://schemas.openxmlformats.org/drawingml/2006/main" prst="roundRect">
            <a:avLst>
              <a:gd name="adj" fmla="val 24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B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0B08ED8-0667-45B3-ACE4-9BD1C8E7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7053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rPr>
              <a:t>答辩话术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89EF26-EE0E-466B-87DA-A2C5FDD9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9582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这不是一次“调用模型生成文案”，而是单 Agent 根据意图选择工具、读取真实数据，再把结果组织成购物建议。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897314-B8D8-412A-B6CD-688859E9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Smart Mall 智能商城答辩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12AD52A-5176-4EB5-9FF4-8FA03C6A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696652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6D01A5-6D39-4CFC-9351-4AA3226F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rPr>
              <a:t>HIGHLIGHT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3EF390-A35D-4C19-BFC4-9430E404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动效工程留下了可隔离、可复测的诊断入口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E14688-542C-4AAD-B929-258BB6F4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2857500" cy="1219200"/>
          </a:xfrm>
          <a:prstGeom xmlns:a="http://schemas.openxmlformats.org/drawingml/2006/main" prst="roundRect">
            <a:avLst>
              <a:gd name="adj" fmla="val 15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3970CC-D435-45A5-8D8B-D4AA7609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90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诊断开关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387339-0D4B-49BF-8CE3-60CDCD96F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574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2400" b="1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42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520FBB-E04E-4EAF-A7BE-738F3226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765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knownFx 效果项可单独开关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439DFF-B589-4332-978B-531C00E8F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00250"/>
            <a:ext cx="2857500" cy="1219200"/>
          </a:xfrm>
          <a:prstGeom xmlns:a="http://schemas.openxmlformats.org/drawingml/2006/main" prst="roundRect">
            <a:avLst>
              <a:gd name="adj" fmla="val 15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ACAB50-B05E-4479-8FB8-A54EBE371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190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构建校验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044BBA-B283-44DB-9708-3D51137E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574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2400" b="1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072522-BD68-4669-B8E8-72FD3C81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765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普通构建与 VITE_PERF_HUD 构建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F09D3B-A703-4A38-A9B1-09B65F4F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00250"/>
            <a:ext cx="2857500" cy="1219200"/>
          </a:xfrm>
          <a:prstGeom xmlns:a="http://schemas.openxmlformats.org/drawingml/2006/main" prst="roundRect">
            <a:avLst>
              <a:gd name="adj" fmla="val 15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8AC8C2-57A2-4142-9F97-1513F3BC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907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真实测量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6B6DB8-CB35-4171-8D53-A8698669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574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CDP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D92D00-731F-4691-BC08-75AE64E56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765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perf-real-browser.mjs 连接 Chrome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6DEE21-2504-4268-97A1-C910CC54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671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F9A6A4-4328-4EA5-8C4A-8CFB39DE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005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性能页不把“好看”当结论，而是把每个动画拆成可关闭、可单测的开关。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75C3C2-4FED-43D7-BF54-780BA33B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862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8A0DA6-681C-40E4-AE51-7266FC40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196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当前文档明确记录：本次未连接到 localhost:9222，因此不伪造 FPS 数字。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58CDFA-E01D-4587-9F14-B9059A2D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05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2798B7-3154-43A5-9C02-4C91AF43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8387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这页重点展示工程方法：有诊断入口、有普通构建隔离、有人工复测步骤。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12F35B-11AF-4C85-AF9D-54461AC00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Smart Mall 智能商城答辩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873511-94FA-420A-9FE9-7D539A92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5015440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B79292-53C5-4955-92D0-B6D42D16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rPr>
              <a:t>HIGHLIGHT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5A7641-2FE4-4D5C-805C-533ACB45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下单事务用乐观锁把 100 个请求压回 80 个成功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EF12DA-6D3D-4784-A840-F5A2C9184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5162550" cy="2019300"/>
          </a:xfrm>
          <a:prstGeom xmlns:a="http://schemas.openxmlformats.org/drawingml/2006/main" prst="roundRect">
            <a:avLst>
              <a:gd name="adj" fmla="val 9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54541A-9E94-4AC2-BD91-3C69A8EC3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81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rPr>
              <a:t>核心 SQL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15E615-19F6-4641-AA92-64AE3B9D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81250"/>
            <a:ext cx="4476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UPDATE product</a:t>
            </a:r>
          </a:p>
          <a:p xmlns:a="http://schemas.openxmlformats.org/drawingml/2006/main">
            <a:pPr algn="l">
              <a:defRPr sz="1275" b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SET stock = stock - ?,</a:t>
            </a:r>
          </a:p>
          <a:p xmlns:a="http://schemas.openxmlformats.org/drawingml/2006/main">
            <a:pPr algn="l">
              <a:defRPr sz="1275" b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    version = version + 1</a:t>
            </a:r>
          </a:p>
          <a:p xmlns:a="http://schemas.openxmlformats.org/drawingml/2006/main">
            <a:pPr algn="l">
              <a:defRPr sz="1275" b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WHERE id = ?</a:t>
            </a:r>
          </a:p>
          <a:p xmlns:a="http://schemas.openxmlformats.org/drawingml/2006/main">
            <a:pPr algn="l">
              <a:defRPr sz="1275" b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  AND stock &gt;= ?</a:t>
            </a:r>
          </a:p>
          <a:p xmlns:a="http://schemas.openxmlformats.org/drawingml/2006/main">
            <a:pPr algn="l">
              <a:defRPr sz="1275" b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  AND version = 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B08CB-5C60-4801-86F0-62D3D1281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95450"/>
            <a:ext cx="2000250" cy="112395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4A2F07-52FD-41D6-A129-09F6E046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859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并发请求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4A2A2B-276E-4586-B35E-B807684E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526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2400" b="1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100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80653C-5BFB-407A-9707-85F18F65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717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PowerShell 并发脚本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F56156-AEFB-4FC7-A5B7-B1CEEFE4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95450"/>
            <a:ext cx="2000250" cy="112395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561B0C-5250-4C75-A604-00C912EA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8859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成功订单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88B254-816D-4563-93D8-7B6AAC6F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5265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2400" b="1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80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0C33F8-38A5-4606-B674-E224D85A1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717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库存 80 件刚好售完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AF0DAD-AEA5-4496-A070-48B37596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86100"/>
            <a:ext cx="2000250" cy="112395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39D1F3-02AA-4733-B334-C3A5DD2E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766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失败请求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C18949-3E0A-48FF-B4B6-B6CAD4D9E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4330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2400" b="1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D44C86-CF76-469D-BCE2-A5C239DC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624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库存不足或版本冲突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08CE68-9F56-44C7-BCCD-B423AC46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86100"/>
            <a:ext cx="2000250" cy="112395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CF3FF6-15A5-432A-8EA7-AA7906274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766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最终库存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00DB4A-6E40-49E6-9D03-446E568DF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543300"/>
            <a:ext cx="161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2400" b="1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1ECD0D-CFA5-4C24-9E90-09DBE00D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96240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stock=0, version=80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1B94F9-E7C6-49E1-9DD5-2A127955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57750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验证结果: success=80 failed=20；数据库最终 stock=0、sales_count=80、version=80。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1820A6-6AD2-4448-9D89-16B718E9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Smart Mall 智能商城答辩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EEC0A3-ACAC-42FC-98E4-F75C9682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7927545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581323-01F2-4040-9CA4-2BFE43C5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rPr>
              <a:t>REAL UI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4689F6-1DA6-4403-BB89-1A01437A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商品中心和 AI 聊天窗共用真实商品、订单数据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2CF22A-ACE0-4A4D-8EB3-151F5766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5295900" cy="3067050"/>
          </a:xfrm>
          <a:prstGeom xmlns:a="http://schemas.openxmlformats.org/drawingml/2006/main" prst="roundRect">
            <a:avLst>
              <a:gd name="adj" fmla="val 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B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891df9a35247be"/>
          <a:srcRect xmlns:a="http://schemas.openxmlformats.org/drawingml/2006/main" l="52" t="0" r="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524000"/>
            <a:ext cx="5105400" cy="2876550"/>
          </a:xfrm>
          <a:prstGeom xmlns:a="http://schemas.openxmlformats.org/drawingml/2006/main" prst="roundRect">
            <a:avLst>
              <a:gd name="adj" fmla="val 662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D75AB5-4D1C-4403-A90E-220B94AE5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28750"/>
            <a:ext cx="5295900" cy="3067050"/>
          </a:xfrm>
          <a:prstGeom xmlns:a="http://schemas.openxmlformats.org/drawingml/2006/main" prst="roundRect">
            <a:avLst>
              <a:gd name="adj" fmla="val 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B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a1ae5306234713"/>
          <a:srcRect xmlns:a="http://schemas.openxmlformats.org/drawingml/2006/main" l="52" t="0" r="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43650" y="1524000"/>
            <a:ext cx="5105400" cy="2876550"/>
          </a:xfrm>
          <a:prstGeom xmlns:a="http://schemas.openxmlformats.org/drawingml/2006/main" prst="roundRect">
            <a:avLst>
              <a:gd name="adj" fmla="val 66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D0BCE9-D004-485B-A47E-9FE8A865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1015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左侧是首页商品推荐和分类入口；右侧聊天窗展示了 query_order_status 工具调用后的真实订单状态。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6D03CE-344A-4886-A8FF-1D74940F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Smart Mall 智能商城答辩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CA92AF-7964-4544-95D3-2689F11F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3170497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036F4D-C958-4AA7-B64E-B89D94E9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rPr>
              <a:t>REAL UI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B7045-A521-4EA7-937A-8F779C8C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购物车和订单页展示了交易链路的前台闭环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B9BBED-E1AF-4824-874C-14FADDD0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90650"/>
            <a:ext cx="5295900" cy="3067050"/>
          </a:xfrm>
          <a:prstGeom xmlns:a="http://schemas.openxmlformats.org/drawingml/2006/main" prst="roundRect">
            <a:avLst>
              <a:gd name="adj" fmla="val 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B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7e49f2d1e245b3"/>
          <a:srcRect xmlns:a="http://schemas.openxmlformats.org/drawingml/2006/main" l="52" t="0" r="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485900"/>
            <a:ext cx="5105400" cy="2876550"/>
          </a:xfrm>
          <a:prstGeom xmlns:a="http://schemas.openxmlformats.org/drawingml/2006/main" prst="roundRect">
            <a:avLst>
              <a:gd name="adj" fmla="val 662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43538E-1235-4439-BB47-B01FF1889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90650"/>
            <a:ext cx="5295900" cy="3067050"/>
          </a:xfrm>
          <a:prstGeom xmlns:a="http://schemas.openxmlformats.org/drawingml/2006/main" prst="roundRect">
            <a:avLst>
              <a:gd name="adj" fmla="val 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B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e9b02fbb0744e6"/>
          <a:srcRect xmlns:a="http://schemas.openxmlformats.org/drawingml/2006/main" l="52" t="0" r="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43650" y="1485900"/>
            <a:ext cx="5105400" cy="2876550"/>
          </a:xfrm>
          <a:prstGeom xmlns:a="http://schemas.openxmlformats.org/drawingml/2006/main" prst="roundRect">
            <a:avLst>
              <a:gd name="adj" fmla="val 66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48D9E4-1216-43BA-9C29-E10B6073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19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754379-50AE-4D5E-AA02-B3F637A1E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95300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购物车实时计算已选商品金额，并在数量变更时校验库存。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4A971A-2002-450C-AFB6-0FFA2436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19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578E90-8638-4F6B-81C0-FDC1F04B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530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订单页支持按状态筛选、模拟支付、取消、再次购买和详情入口。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EF37ED-7A5B-42C0-9C62-60AA81245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Smart Mall 智能商城答辩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3BF4B6-4741-44B2-927B-77877771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2066508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B9AB62-BBBA-4440-BB84-F127D1AF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rPr>
              <a:t>REAL UI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7D802B-99BA-4B0C-AAC6-6F306AFE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管理后台把运营数据、订单和售后放在同一工作台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A0995C-03A6-4CB4-AB26-F612D1A9E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90650"/>
            <a:ext cx="5295900" cy="3067050"/>
          </a:xfrm>
          <a:prstGeom xmlns:a="http://schemas.openxmlformats.org/drawingml/2006/main" prst="roundRect">
            <a:avLst>
              <a:gd name="adj" fmla="val 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B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dd9766c4bc46d8"/>
          <a:srcRect xmlns:a="http://schemas.openxmlformats.org/drawingml/2006/main" l="52" t="0" r="5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485900"/>
            <a:ext cx="5105400" cy="2876550"/>
          </a:xfrm>
          <a:prstGeom xmlns:a="http://schemas.openxmlformats.org/drawingml/2006/main" prst="roundRect">
            <a:avLst>
              <a:gd name="adj" fmla="val 662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D6B871-50A9-4429-8D43-DA862EFA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390650"/>
            <a:ext cx="5295900" cy="3067050"/>
          </a:xfrm>
          <a:prstGeom xmlns:a="http://schemas.openxmlformats.org/drawingml/2006/main" prst="roundRect">
            <a:avLst>
              <a:gd name="adj" fmla="val 6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B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db60ad54c14619"/>
          <a:srcRect xmlns:a="http://schemas.openxmlformats.org/drawingml/2006/main" l="83" t="0" r="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43650" y="1485900"/>
            <a:ext cx="5105400" cy="2876550"/>
          </a:xfrm>
          <a:prstGeom xmlns:a="http://schemas.openxmlformats.org/drawingml/2006/main" prst="roundRect">
            <a:avLst>
              <a:gd name="adj" fmla="val 662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C2677C-E76C-4961-8638-638C98F8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后台不是单独做一个 CRUD 表格，而是把低库存、热销、最近订单、售后、日志等答辩可讲的运营闭环集中展示。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17D32C-B71B-4E1B-8E4B-7611B8AC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Smart Mall 智能商城答辩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9AFD8C-D810-430C-B44C-607E1AFA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57998903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B6631D-F575-4194-9FE8-DA997E76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rPr>
              <a:t>VALIDATION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EFFAA8-62D3-4B39-831F-F7815300F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验证结果能支持现场演示，也暴露了需要收口的测试断言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576689-C9D3-48C1-9CA8-1EDB847EB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2476500" cy="112395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D2A307-F05C-4CB9-84DF-622745B05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47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后端测试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06B1C3-B7A8-4B03-B574-F12140C4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2400" b="1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20/20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80D818-B07D-47AC-8B15-78E35B8E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mvn.cmd test BUILD SUCCESS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7B4725-D0A6-428A-9056-284225756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57350"/>
            <a:ext cx="2476500" cy="112395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D70597-38A0-46D3-A355-21C79C60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847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并发库存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8ED7B6-0B13-4764-A9CB-D2E874DB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145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2400" b="1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80/100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EB641C-56F4-4DB2-8F13-4CEB46E03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336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库存 80 件，成功 80 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B19FCC-D30E-4698-9BAE-F840379C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657350"/>
            <a:ext cx="2476500" cy="112395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78F9A9-0DFB-478F-8440-000B8A4B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47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知识库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7E50C9-9687-4173-9D05-D02042CF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145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2400" b="1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88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79158A-21EB-426C-A50F-458FBEA68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336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product/review/faq 运行态统计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737B5C-CCDD-4426-92E3-3F7EBE3D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657350"/>
            <a:ext cx="2286000" cy="1123950"/>
          </a:xfrm>
          <a:prstGeom xmlns:a="http://schemas.openxmlformats.org/drawingml/2006/main" prst="roundRect">
            <a:avLst>
              <a:gd name="adj" fmla="val 16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B66239-BA54-4CC5-9059-0628D6DE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8478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Docker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C228F2-16CD-46FD-A723-46B0DBEAB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14550"/>
            <a:ext cx="190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OK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ACE31E-43AF-4128-B892-2A3F0FAC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336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compose up -d --build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4E3E04-7585-43AB-BF4A-4E2A2485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9810750" cy="1181100"/>
          </a:xfrm>
          <a:prstGeom xmlns:a="http://schemas.openxmlformats.org/drawingml/2006/main" prst="roundRect">
            <a:avLst>
              <a:gd name="adj" fmla="val 16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2F9332-91FE-48D5-B1BD-AC3F80B0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52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rPr>
              <a:t>Agent 烟测的真实状态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857F52-E8F1-4717-A356-95D47E41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148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健康检查通过且 UI 实测 query_order_status 成功；严格脚本当前失败在 compare_products 断言，实际返回使用 get_product_detail + search_knowledge_base 完成对比。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9FC86E-4714-4E5B-B43F-578B062D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Smart Mall 智能商城答辩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A342D5-69F4-4042-BC6A-01DB1C94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12055567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47D8FD-0AAA-440E-B5F3-95F3F8F9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rPr>
              <a:t>DEPLOYMENT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3EA0A4-4B49-41EC-9F22-781F1E24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Docker Compose 让四个服务按同一套环境启动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2A245F-0300-4225-AFD2-E76DC314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2000250" cy="990600"/>
          </a:xfrm>
          <a:prstGeom xmlns:a="http://schemas.openxmlformats.org/drawingml/2006/main" prst="roundRect">
            <a:avLst>
              <a:gd name="adj" fmla="val 1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87A42B-6A20-4C59-B8CE-F1961D01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193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mysql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6589C3-57EC-403F-8756-3FE75E70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2415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3307 -&gt; 3306</a:t>
            </a:r>
          </a:p>
          <a:p xmlns:a="http://schemas.openxmlformats.org/drawingml/2006/main">
            <a:pPr algn="ctr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seed.sql 初始化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8F01A0-2B0A-4BFB-A74B-1937B723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247900"/>
            <a:ext cx="2000250" cy="990600"/>
          </a:xfrm>
          <a:prstGeom xmlns:a="http://schemas.openxmlformats.org/drawingml/2006/main" prst="roundRect">
            <a:avLst>
              <a:gd name="adj" fmla="val 1923"/>
            </a:avLst>
          </a:prstGeom>
          <a:solidFill xmlns:a="http://schemas.openxmlformats.org/drawingml/2006/main">
            <a:srgbClr val="2B45D8"/>
          </a:solidFill>
          <a:ln xmlns:a="http://schemas.openxmlformats.org/drawingml/2006/main" w="9525">
            <a:solidFill>
              <a:srgbClr val="2B45D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664ABC-BC6C-40C1-A7CC-878A505DC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4193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backend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D84C17-70FF-45CB-97A7-75F82BCEE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2415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DCE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DCE3FF"/>
                </a:solidFill>
                <a:latin typeface="Microsoft YaHei"/>
                <a:ea typeface="Microsoft YaHei"/>
                <a:cs typeface="Microsoft YaHei"/>
              </a:rPr>
              <a:t>8081 -&gt; 8080</a:t>
            </a:r>
          </a:p>
          <a:p xmlns:a="http://schemas.openxmlformats.org/drawingml/2006/main">
            <a:pPr algn="ctr">
              <a:defRPr sz="975" b="0">
                <a:solidFill>
                  <a:srgbClr val="DCE3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DCE3FF"/>
                </a:solidFill>
                <a:latin typeface="Microsoft YaHei"/>
                <a:ea typeface="Microsoft YaHei"/>
                <a:cs typeface="Microsoft YaHei"/>
              </a:rPr>
              <a:t>Spring Boot 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2D924D-A1CE-49F4-BA5C-03725126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247900"/>
            <a:ext cx="2000250" cy="990600"/>
          </a:xfrm>
          <a:prstGeom xmlns:a="http://schemas.openxmlformats.org/drawingml/2006/main" prst="roundRect">
            <a:avLst>
              <a:gd name="adj" fmla="val 1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F5D595-0A15-44D9-B684-C341A783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4193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agent-service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03E165-231F-4414-A1A3-961F8C72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2415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8000</a:t>
            </a:r>
          </a:p>
          <a:p xmlns:a="http://schemas.openxmlformats.org/drawingml/2006/main">
            <a:pPr algn="ctr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FastAPI / LangChain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3FF566-C9E2-436D-AF83-71FBBD23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47900"/>
            <a:ext cx="2000250" cy="990600"/>
          </a:xfrm>
          <a:prstGeom xmlns:a="http://schemas.openxmlformats.org/drawingml/2006/main" prst="roundRect">
            <a:avLst>
              <a:gd name="adj" fmla="val 1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64FD20-4030-4061-AB56-8DAC8AFC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4193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frontend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638756-27FB-42B3-9309-B7BC446F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24150"/>
            <a:ext cx="1657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80</a:t>
            </a:r>
          </a:p>
          <a:p xmlns:a="http://schemas.openxmlformats.org/drawingml/2006/main">
            <a:pPr algn="ctr">
              <a:def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Nginx 静态站点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8FDDD1-71A1-49BF-844F-996A062D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73367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42C281-6196-4C94-95B6-D4F804A6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289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45D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2B45D8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45193B-1A2C-42FF-9494-CFA39E79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73367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23470D-9E00-4C7C-BA8F-BC2D9630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6289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45D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2B45D8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9F73D6-F202-4E69-A324-3B3E74CE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33675"/>
            <a:ext cx="4000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1779C7-CE98-464D-9029-01F91406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28900"/>
            <a:ext cx="171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45D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2B45D8"/>
                </a:solidFill>
                <a:latin typeface="Consolas"/>
                <a:ea typeface="Consolas"/>
                <a:cs typeface="Consolas"/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3D8AE2-681D-445A-940E-C859DF45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62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73BF4B-32B1-4612-829C-BE560BA7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0957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后端日志持久化到 backend_logs volume，关键下单和状态流转使用 INFO 日志。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FEFCA5-F2E8-4B43-994C-C1072CE7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62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01F31D-15F3-4936-8AEC-3BE1F11B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49580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Agent 日志记录工具调用、LLM 状态和 timing breakdown，现场可配合 docker compose logs 展示。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CA9E72-A28D-49F7-83BC-BF798D50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625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ABE5B0-6FA7-4729-AA02-4EFE7708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8958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本次 docker compose up -d --build 已成功重建并启动四个服务。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DC1385-BDF1-4277-AB52-47409202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Smart Mall 智能商城答辩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DBF2970-646A-4946-A932-FF2B64BD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6394483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174CD5-F1D4-468C-B50D-71291A5E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rPr>
              <a:t>CURRENT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6CFF99-0B39-4CA1-BC98-E6D264CA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已完成的主链路足够演示，待改进项也要讲诚实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B5D207-DF53-4AA0-AC9D-87FA1A30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00200"/>
            <a:ext cx="4953000" cy="3714750"/>
          </a:xfrm>
          <a:prstGeom xmlns:a="http://schemas.openxmlformats.org/drawingml/2006/main" prst="roundRect">
            <a:avLst>
              <a:gd name="adj" fmla="val 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C377BE-AFC9-4F52-B3DF-A135E26E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00200"/>
            <a:ext cx="4953000" cy="3714750"/>
          </a:xfrm>
          <a:prstGeom xmlns:a="http://schemas.openxmlformats.org/drawingml/2006/main" prst="roundRect">
            <a:avLst>
              <a:gd name="adj" fmla="val 5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E6E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2CE65F-6E59-4FB3-B919-C7F2D7CF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8859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rPr>
              <a:t>已完成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2BE86D-1269-40B7-8686-8410009D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8859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B42318"/>
                </a:solidFill>
                <a:latin typeface="Microsoft YaHei"/>
                <a:ea typeface="Microsoft YaHei"/>
                <a:cs typeface="Microsoft YaHei"/>
              </a:rPr>
              <a:t>待改进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5C98CC-8013-43F4-9486-72038406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86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A5964C-8EC9-44AF-9D8B-6E621BFC1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193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五大模块主链路可演示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1ABB96-0267-446B-BB0A-D74422DB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43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8641DA-0EB8-4E94-A37C-DACAE91A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765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Agent 工具、记忆、RAG 知识库已接入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8A8399-BAF1-4ABD-BAF7-DA60B1A9F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00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84047F-465C-47F6-AAFF-2A88DC8B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337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Docker Compose 四服务启动成功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3E2E20-5C31-4124-B642-1FF008D20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57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F821E2-D090-4D5F-8A30-2DBC8558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909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后端 20 个测试全通过，并发扣库存通过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283E6C-FE70-4CF1-8158-73E06F89D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860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00F944-DE80-4F2C-BA7D-4A477D42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193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Agent 工具路由仍需让脚本断言更稳定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D59768-2F59-49BB-99E6-9ADF5398A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43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6D5EA5-5324-44B7-B18D-4E1C4FDF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765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搜索当前代码使用 LIKE，全文索引是升级预留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152FBE-CB41-4594-AA59-DE5F65C1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00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014889-3933-4221-9989-DE8AA80E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337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前端性能已有诊断脚本，FPS 数字仍需人工 CDP 实测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C924AC-CB55-4C1E-9BEE-8D08A080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576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45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BFB7A6-BE9B-4509-87DE-7524DE130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90950"/>
            <a:ext cx="3905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Git 分支/PR 协作证据较弱，需答辩时如实说明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778FFB-0FA6-4F2A-B06A-2DC7AEB9F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Smart Mall 智能商城答辩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95473D-F6A9-40B4-AF58-8F6E7F5B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69360106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5F6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293399-09F9-4F44-B885-2AA5F72E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rPr>
              <a:t>TEAM &amp; AI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43D75-B3D9-430E-9D19-839FA61A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分工按模块拆解，集成按演示链路收束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2439DB-97D5-4915-869B-5016203C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F22476-935B-4990-AC26-1A2EA916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811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用户与认证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0421E1-1169-4385-BA7E-F95F5972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6192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注册登录 / JWT / 个人中心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317046-CD46-4C68-B790-EB7B162D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619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模块职责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32874B-0D93-4BF0-AAB2-9042F6494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14DD49-1C9A-426A-B8E3-E2BA62C9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241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商品与搜索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B374AA-F1CE-4BED-919B-E6A513ED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622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分类 / 商品 CRUD / 搜索分页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233A7F-66B1-427F-828F-2C70CDAC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622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模块职责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9FE4FB-1278-4D98-89C2-28A7DB3D7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242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302FB7-1A1E-4417-8B40-64759BE2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订单与库存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FBA25A-7911-4146-8C33-1AE16A57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051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购物车 / 下单事务 / 状态机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61A47D-B1C3-4241-A868-EB49365D5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051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模块职责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7C6C01-5A3E-42C4-886A-78082ADA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672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38A7B1-4A10-4F3F-B0C2-8A8CFBC8C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100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AI 助手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613BFB-C6BC-4B75-B45D-A2652414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4810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LangChain 工具 / 记忆 / RAG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D25AF8-C1C0-4E88-86CB-A420980D3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8481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B45D8"/>
                </a:solidFill>
                <a:latin typeface="Microsoft YaHei"/>
                <a:ea typeface="Microsoft YaHei"/>
                <a:cs typeface="Microsoft YaHei"/>
              </a:rPr>
              <a:t>答辩重点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EE775B-8A64-4D40-9B7E-68B8FF1F0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D638DD-A71D-4DCD-AB90-36EEF139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52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文档与答辩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BD6AA0-08EA-474A-A88E-D4B46CB9D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910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ER / API / 架构 / PPT / QA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BCF617-C6EE-4545-8A86-0C6D14D5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5910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模块职责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61C09C-3601-48AD-ABCE-E65D531A6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76900"/>
            <a:ext cx="933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318"/>
                </a:solidFill>
                <a:latin typeface="Microsoft YaHei"/>
                <a:ea typeface="Microsoft YaHei"/>
                <a:cs typeface="Microsoft YaHei"/>
              </a:rPr>
              <a:t>AI 辅助开发的价值在于加速产出，但最终用测试、日志和源码审计兜底，而不是相信生成结果天然正确。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E46127-B02B-418C-BCCC-3924BA54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B7280"/>
                </a:solidFill>
                <a:latin typeface="Microsoft YaHei"/>
                <a:ea typeface="Microsoft YaHei"/>
                <a:cs typeface="Microsoft YaHei"/>
              </a:rPr>
              <a:t>Smart Mall 智能商城答辩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827B6B-BE86-4567-A60C-F1ACD0FE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111318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111318"/>
                </a:solidFill>
                <a:latin typeface="Consolas"/>
                <a:ea typeface="Consolas"/>
                <a:cs typeface="Consola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3122042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1113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6954E6F-B1CB-44A2-A461-1A993C9D7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B4D8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A9B4D8"/>
                </a:solidFill>
                <a:latin typeface="Consolas"/>
                <a:ea typeface="Consolas"/>
                <a:cs typeface="Consolas"/>
              </a:rPr>
              <a:t>CLOSING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CBF9CE-814C-4FC2-81C0-B2B97397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9906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我们交付的是一个能讲清楚、跑得起来、</a:t>
            </a:r>
          </a:p>
          <a:p xmlns:a="http://schemas.openxmlformats.org/drawingml/2006/main">
            <a:pPr algn="l">
              <a:defRPr sz="33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查得到证据的智能商城闭环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D60048-06F4-47BA-854B-A8FC937A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DBE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D7DBE4"/>
                </a:solidFill>
                <a:latin typeface="Microsoft YaHei"/>
                <a:ea typeface="Microsoft YaHei"/>
                <a:cs typeface="Microsoft YaHei"/>
              </a:rPr>
              <a:t>核心演示顺序：登录 -&gt; 搜索商品 -&gt; 加购下单 -&gt; 订单状态 -&gt; AI 查单/推荐 -&gt; 后台运营 -&gt; 日志与验证。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6BD260-8232-4118-A3C8-BB914F885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10001250" cy="838200"/>
          </a:xfrm>
          <a:prstGeom xmlns:a="http://schemas.openxmlformats.org/drawingml/2006/main" prst="roundRect">
            <a:avLst>
              <a:gd name="adj" fmla="val 2273"/>
            </a:avLst>
          </a:prstGeom>
          <a:solidFill xmlns:a="http://schemas.openxmlformats.org/drawingml/2006/main">
            <a:srgbClr val="171A21"/>
          </a:solidFill>
          <a:ln xmlns:a="http://schemas.openxmlformats.org/drawingml/2006/main" w="9525">
            <a:solidFill>
              <a:srgbClr val="2A2E3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896F0A-BCC6-4648-BE7F-DB84B5AD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291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欢迎提问：架构边界、Agent 工具调用、并发事务、Docker 部署和测试证据都可以展开。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BEEF27-77C6-4107-9880-61642154A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4C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AEB4C0"/>
                </a:solidFill>
                <a:latin typeface="Microsoft YaHei"/>
                <a:ea typeface="Microsoft YaHei"/>
                <a:cs typeface="Microsoft YaHei"/>
              </a:rPr>
              <a:t>Smart Mall 智能商城答辩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D39012-5B2D-4442-B4B8-25E0DCC3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9700276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2026-07-09T10:07:23.7440000Z</dcterms:created>
  <dcterms:modified xsi:type="dcterms:W3CDTF">2026-07-09T10:07:23.7440000Z</dcterms:modified>
</coreProperties>
</file>